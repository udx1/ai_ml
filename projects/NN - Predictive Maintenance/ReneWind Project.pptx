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Nunito SemiBold"/>
      <p:regular r:id="rId31"/>
      <p:bold r:id="rId32"/>
      <p:italic r:id="rId33"/>
      <p:boldItalic r:id="rId34"/>
    </p:embeddedFont>
    <p:embeddedFont>
      <p:font typeface="Nunito"/>
      <p:regular r:id="rId35"/>
      <p:bold r:id="rId36"/>
      <p:italic r:id="rId37"/>
      <p:boldItalic r:id="rId38"/>
    </p:embeddedFont>
    <p:embeddedFont>
      <p:font typeface="Nunito ExtraBold"/>
      <p:bold r:id="rId39"/>
      <p:boldItalic r:id="rId40"/>
    </p:embeddedFont>
    <p:embeddedFont>
      <p:font typeface="Nunito Light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45" roundtripDataSignature="AMtx7mi3wudynuNVs/uNOUYdU8eEcXLT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FDACD9D-CECB-4F30-BC67-0D21AEE1EAC8}">
  <a:tblStyle styleId="{FFDACD9D-CECB-4F30-BC67-0D21AEE1EAC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  <a:tblStyle styleId="{053E84B8-A2E8-425D-A416-EBBD39CC20D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ExtraBold-boldItalic.fntdata"/><Relationship Id="rId20" Type="http://schemas.openxmlformats.org/officeDocument/2006/relationships/slide" Target="slides/slide14.xml"/><Relationship Id="rId42" Type="http://schemas.openxmlformats.org/officeDocument/2006/relationships/font" Target="fonts/NunitoLight-bold.fntdata"/><Relationship Id="rId41" Type="http://schemas.openxmlformats.org/officeDocument/2006/relationships/font" Target="fonts/NunitoLight-regular.fntdata"/><Relationship Id="rId22" Type="http://schemas.openxmlformats.org/officeDocument/2006/relationships/slide" Target="slides/slide16.xml"/><Relationship Id="rId44" Type="http://schemas.openxmlformats.org/officeDocument/2006/relationships/font" Target="fonts/NunitoLight-boldItalic.fntdata"/><Relationship Id="rId21" Type="http://schemas.openxmlformats.org/officeDocument/2006/relationships/slide" Target="slides/slide15.xml"/><Relationship Id="rId43" Type="http://schemas.openxmlformats.org/officeDocument/2006/relationships/font" Target="fonts/NunitoLight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45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SemiBold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NunitoSemiBold-italic.fntdata"/><Relationship Id="rId10" Type="http://schemas.openxmlformats.org/officeDocument/2006/relationships/slide" Target="slides/slide4.xml"/><Relationship Id="rId32" Type="http://schemas.openxmlformats.org/officeDocument/2006/relationships/font" Target="fonts/NunitoSemiBold-bold.fntdata"/><Relationship Id="rId13" Type="http://schemas.openxmlformats.org/officeDocument/2006/relationships/slide" Target="slides/slide7.xml"/><Relationship Id="rId35" Type="http://schemas.openxmlformats.org/officeDocument/2006/relationships/font" Target="fonts/Nunito-regular.fntdata"/><Relationship Id="rId12" Type="http://schemas.openxmlformats.org/officeDocument/2006/relationships/slide" Target="slides/slide6.xml"/><Relationship Id="rId34" Type="http://schemas.openxmlformats.org/officeDocument/2006/relationships/font" Target="fonts/NunitoSemiBold-boldItalic.fntdata"/><Relationship Id="rId15" Type="http://schemas.openxmlformats.org/officeDocument/2006/relationships/slide" Target="slides/slide9.xml"/><Relationship Id="rId37" Type="http://schemas.openxmlformats.org/officeDocument/2006/relationships/font" Target="fonts/Nunito-italic.fntdata"/><Relationship Id="rId14" Type="http://schemas.openxmlformats.org/officeDocument/2006/relationships/slide" Target="slides/slide8.xml"/><Relationship Id="rId36" Type="http://schemas.openxmlformats.org/officeDocument/2006/relationships/font" Target="fonts/Nunito-bold.fntdata"/><Relationship Id="rId17" Type="http://schemas.openxmlformats.org/officeDocument/2006/relationships/slide" Target="slides/slide11.xml"/><Relationship Id="rId39" Type="http://schemas.openxmlformats.org/officeDocument/2006/relationships/font" Target="fonts/NunitoExtraBold-bold.fntdata"/><Relationship Id="rId16" Type="http://schemas.openxmlformats.org/officeDocument/2006/relationships/slide" Target="slides/slide10.xml"/><Relationship Id="rId38" Type="http://schemas.openxmlformats.org/officeDocument/2006/relationships/font" Target="fonts/Nunito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2508d39905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g12508d39905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0e9006cb6c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g10e9006cb6c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f657916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g3bf657916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f65791624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3bf6579162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308e30167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308e30167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2508d39905_0_1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g12508d39905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308e30167_0_1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g39308e3016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685eae676_1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2685eae67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308e30167_0_1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g39308e30167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c1f91bb54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c1f91bb5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323cc316b_0_6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39323cc316b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323cc316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9323cc316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933d8000ae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933d8000a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26869b8a7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g326869b8a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10e9006cb6c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10e9006cb6c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c1f91bb547_0_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c1f91bb547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c1f91bb547_0_3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g3c1f91bb547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c1f91bb547_0_3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c1f91bb547_0_3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c1f91bb547_0_39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g3c1f91bb547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c1f91bb547_0_4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g3c1f91bb547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c1f91bb547_0_5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g3c1f91bb547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c1f91bb547_0_57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g3c1f91bb547_0_5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933d8000a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933d8000a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e1a9588eba_0_9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6" name="Google Shape;16;ge1a9588eba_0_9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e1a9588eba_0_1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9" name="Google Shape;19;ge1a9588eba_0_1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ge1a9588eba_0_1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e1a9588eba_0_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ge1a9588eba_0_1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e1a9588eba_0_19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ge1a9588eba_0_19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{FFDACD9D-CECB-4F30-BC67-0D21AEE1EAC8}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ge1a9588eba_0_1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e1a9588eba_0_23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ge1a9588eba_0_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ge1a9588eba_0_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ge1a9588eba_0_2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e1a9588eba_0_28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ge1a9588eba_0_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e1a9588eba_0_3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ge1a9588eba_0_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e1a9588eba_0_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e1a9588eba_0_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ge1a9588eba_0_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ge1a9588eba_0_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ge1a9588eba_0_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e1a9588eba_0_4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9588eba_0_42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ge1a9588eba_0_42"/>
          <p:cNvPicPr preferRelativeResize="0"/>
          <p:nvPr/>
        </p:nvPicPr>
        <p:blipFill rotWithShape="1">
          <a:blip r:embed="rId2">
            <a:alphaModFix/>
          </a:blip>
          <a:srcRect b="19149" l="42816" r="37293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ge1a9588eba_0_42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ge1a9588eba_0_42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ge1a9588eba_0_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e1a9588eba_0_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ge1a9588eba_0_0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ge1a9588eba_0_0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ge1a9588eba_0_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ge1a9588eba_0_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ge1a9588eba_0_0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ge1a9588eba_0_0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e1a9588eba_0_0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508d39905_0_224"/>
          <p:cNvSpPr txBox="1"/>
          <p:nvPr>
            <p:ph type="ctrTitle"/>
          </p:nvPr>
        </p:nvSpPr>
        <p:spPr>
          <a:xfrm>
            <a:off x="1158150" y="1412050"/>
            <a:ext cx="6827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600">
                <a:solidFill>
                  <a:srgbClr val="1974D2"/>
                </a:solidFill>
              </a:rPr>
              <a:t>ReneWind</a:t>
            </a:r>
            <a:endParaRPr sz="3600">
              <a:solidFill>
                <a:srgbClr val="1974D2"/>
              </a:solidFill>
            </a:endParaRPr>
          </a:p>
        </p:txBody>
      </p:sp>
      <p:sp>
        <p:nvSpPr>
          <p:cNvPr id="58" name="Google Shape;58;g12508d39905_0_224"/>
          <p:cNvSpPr txBox="1"/>
          <p:nvPr>
            <p:ph type="ctrTitle"/>
          </p:nvPr>
        </p:nvSpPr>
        <p:spPr>
          <a:xfrm>
            <a:off x="1153000" y="2038575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2300">
                <a:solidFill>
                  <a:srgbClr val="1974D2"/>
                </a:solidFill>
              </a:rPr>
              <a:t>Predictive </a:t>
            </a:r>
            <a:r>
              <a:rPr b="0" lang="en" sz="2300">
                <a:solidFill>
                  <a:srgbClr val="1974D2"/>
                </a:solidFill>
              </a:rPr>
              <a:t>Maintenance</a:t>
            </a:r>
            <a:r>
              <a:rPr b="0" lang="en" sz="2300">
                <a:solidFill>
                  <a:srgbClr val="1974D2"/>
                </a:solidFill>
              </a:rPr>
              <a:t>: A Classification problem</a:t>
            </a:r>
            <a:endParaRPr b="0" sz="2300">
              <a:solidFill>
                <a:srgbClr val="1974D2"/>
              </a:solidFill>
            </a:endParaRPr>
          </a:p>
        </p:txBody>
      </p:sp>
      <p:sp>
        <p:nvSpPr>
          <p:cNvPr id="59" name="Google Shape;59;g12508d39905_0_224"/>
          <p:cNvSpPr txBox="1"/>
          <p:nvPr>
            <p:ph type="ctrTitle"/>
          </p:nvPr>
        </p:nvSpPr>
        <p:spPr>
          <a:xfrm>
            <a:off x="1153000" y="2429300"/>
            <a:ext cx="6827700" cy="4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0" lang="en" sz="1600">
                <a:solidFill>
                  <a:srgbClr val="1974D2"/>
                </a:solidFill>
              </a:rPr>
              <a:t>Uday Poluri | 26-Jan-2026</a:t>
            </a:r>
            <a:endParaRPr b="0" sz="1600">
              <a:solidFill>
                <a:srgbClr val="1974D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Contents / Agenda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65" name="Google Shape;65;p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Executive Summary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Business Problem Overview and Solution Approach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Data Overview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Data Preprocessing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Evaluation Criterion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Methodology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Model Performance Summary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Test Performance of Best Model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Appendix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0e9006cb6c_1_2"/>
          <p:cNvSpPr txBox="1"/>
          <p:nvPr>
            <p:ph type="title"/>
          </p:nvPr>
        </p:nvSpPr>
        <p:spPr>
          <a:xfrm>
            <a:off x="202550" y="10935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Executive Summary 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71" name="Google Shape;71;g10e9006cb6c_1_2"/>
          <p:cNvSpPr txBox="1"/>
          <p:nvPr>
            <p:ph idx="1" type="body"/>
          </p:nvPr>
        </p:nvSpPr>
        <p:spPr>
          <a:xfrm>
            <a:off x="202550" y="682050"/>
            <a:ext cx="8629800" cy="44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b="1" lang="en" sz="1300">
                <a:solidFill>
                  <a:srgbClr val="000000"/>
                </a:solidFill>
              </a:rPr>
              <a:t>The Goal:</a:t>
            </a:r>
            <a:r>
              <a:rPr lang="en" sz="1300">
                <a:solidFill>
                  <a:srgbClr val="000000"/>
                </a:solidFill>
              </a:rPr>
              <a:t> The project aims to predict generator failures, before they occur. By identifying these issues early, we can repair generators proactively, avoiding unplanned downtimes and maintenance costs. </a:t>
            </a:r>
            <a:endParaRPr sz="13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" sz="1400">
                <a:solidFill>
                  <a:srgbClr val="000000"/>
                </a:solidFill>
              </a:rPr>
              <a:t>Methodology and Development</a:t>
            </a:r>
            <a:endParaRPr b="1" sz="1400">
              <a:solidFill>
                <a:srgbClr val="000000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 sz="1400">
                <a:solidFill>
                  <a:srgbClr val="000000"/>
                </a:solidFill>
              </a:rPr>
              <a:t>Data Exploration &amp; Cleaning: </a:t>
            </a:r>
            <a:r>
              <a:rPr lang="en" sz="1400">
                <a:solidFill>
                  <a:srgbClr val="000000"/>
                </a:solidFill>
              </a:rPr>
              <a:t> We analyzed historical data to uncover hidden patterns and correlations. We also cleaned data (handling missing </a:t>
            </a:r>
            <a:r>
              <a:rPr lang="en" sz="1400">
                <a:solidFill>
                  <a:srgbClr val="000000"/>
                </a:solidFill>
              </a:rPr>
              <a:t>values</a:t>
            </a:r>
            <a:r>
              <a:rPr lang="en" sz="1400">
                <a:solidFill>
                  <a:srgbClr val="000000"/>
                </a:solidFill>
              </a:rPr>
              <a:t> or unusual readings) to ensure the model is making decisions based on high-quality, reliable information.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 sz="1400">
                <a:solidFill>
                  <a:srgbClr val="000000"/>
                </a:solidFill>
              </a:rPr>
              <a:t>Establishing a Baseline</a:t>
            </a:r>
            <a:r>
              <a:rPr b="1" lang="en" sz="1400">
                <a:solidFill>
                  <a:srgbClr val="000000"/>
                </a:solidFill>
              </a:rPr>
              <a:t>: </a:t>
            </a:r>
            <a:r>
              <a:rPr lang="en" sz="1400">
                <a:solidFill>
                  <a:srgbClr val="000000"/>
                </a:solidFill>
              </a:rPr>
              <a:t> We started with a standard model to set a performance benchmark. This gave us a clear starting point to measure all future improvements against.</a:t>
            </a:r>
            <a:endParaRPr sz="1400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b="1" lang="en" sz="1400">
                <a:solidFill>
                  <a:srgbClr val="000000"/>
                </a:solidFill>
              </a:rPr>
              <a:t>Model Optimization: </a:t>
            </a:r>
            <a:r>
              <a:rPr lang="en" sz="1400">
                <a:solidFill>
                  <a:srgbClr val="000000"/>
                </a:solidFill>
              </a:rPr>
              <a:t>We used advanced tuning techniques to refine the model performance. This step ensured we identified the most accurate model.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" sz="1400">
                <a:solidFill>
                  <a:srgbClr val="000000"/>
                </a:solidFill>
              </a:rPr>
              <a:t>Model Evaluation and Performance</a:t>
            </a:r>
            <a:endParaRPr b="1" sz="1400">
              <a:solidFill>
                <a:srgbClr val="000000"/>
              </a:solidFill>
            </a:endParaRPr>
          </a:p>
          <a:p>
            <a:pPr indent="-311150" lvl="1" marL="914400" rtl="0" algn="l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300"/>
              <a:buChar char="○"/>
            </a:pPr>
            <a:r>
              <a:rPr lang="en">
                <a:solidFill>
                  <a:srgbClr val="000000"/>
                </a:solidFill>
              </a:rPr>
              <a:t>Our primary objective is</a:t>
            </a:r>
            <a:r>
              <a:rPr b="1" lang="en">
                <a:solidFill>
                  <a:srgbClr val="000000"/>
                </a:solidFill>
              </a:rPr>
              <a:t> </a:t>
            </a:r>
            <a:r>
              <a:rPr lang="en">
                <a:solidFill>
                  <a:srgbClr val="000000"/>
                </a:solidFill>
              </a:rPr>
              <a:t>to minimize False Negatives - cases where the model fails to detect a breakdown, so that we can eliminate unplanned outages, prevent high maintenance costs, and ensure operational reliability.</a:t>
            </a:r>
            <a:endParaRPr b="1"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f65791624_0_0"/>
          <p:cNvSpPr txBox="1"/>
          <p:nvPr>
            <p:ph type="title"/>
          </p:nvPr>
        </p:nvSpPr>
        <p:spPr>
          <a:xfrm>
            <a:off x="202550" y="10935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Executive Summary 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77" name="Google Shape;77;g3bf65791624_0_0"/>
          <p:cNvSpPr txBox="1"/>
          <p:nvPr>
            <p:ph idx="1" type="body"/>
          </p:nvPr>
        </p:nvSpPr>
        <p:spPr>
          <a:xfrm>
            <a:off x="202550" y="682050"/>
            <a:ext cx="8629800" cy="44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Model Evaluation &amp; Performance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We have developed a neural network (Model 4) that identifies generator failures with 99% accuracy.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</a:rPr>
              <a:t>The model successfully balances the need to catch the potential failures before they occur to avoid expensive replacements and unplanned production outages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Key Outcomes</a:t>
            </a:r>
            <a:endParaRPr b="1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High Detection Rates (Recall): </a:t>
            </a:r>
            <a:r>
              <a:rPr lang="en" sz="1200">
                <a:solidFill>
                  <a:schemeClr val="dk1"/>
                </a:solidFill>
              </a:rPr>
              <a:t>The model identifies 93% of failures across the dataset. This ensures majority of the generator issues are flagged for inspection before a breakdown occurs.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Low False Alarm Rate (Precision): </a:t>
            </a:r>
            <a:r>
              <a:rPr lang="en" sz="1200">
                <a:solidFill>
                  <a:schemeClr val="dk1"/>
                </a:solidFill>
              </a:rPr>
              <a:t>When model predicts a failure, its correct 98% of the time. This ensure </a:t>
            </a:r>
            <a:r>
              <a:rPr lang="en" sz="1200">
                <a:solidFill>
                  <a:schemeClr val="dk1"/>
                </a:solidFill>
              </a:rPr>
              <a:t>maintenance</a:t>
            </a:r>
            <a:r>
              <a:rPr lang="en" sz="1200">
                <a:solidFill>
                  <a:schemeClr val="dk1"/>
                </a:solidFill>
              </a:rPr>
              <a:t> inspection is performed only when there is a genuine need.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" sz="1200">
                <a:solidFill>
                  <a:schemeClr val="dk1"/>
                </a:solidFill>
              </a:rPr>
              <a:t>Reliability (F1 Score): </a:t>
            </a:r>
            <a:r>
              <a:rPr lang="en" sz="1200">
                <a:solidFill>
                  <a:schemeClr val="dk1"/>
                </a:solidFill>
              </a:rPr>
              <a:t>Model is achieved 95% of F1 score on unseen data, proving its robust and ready for production deployment.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f65791624_0_5"/>
          <p:cNvSpPr txBox="1"/>
          <p:nvPr>
            <p:ph type="title"/>
          </p:nvPr>
        </p:nvSpPr>
        <p:spPr>
          <a:xfrm>
            <a:off x="202550" y="15520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000000"/>
                </a:solidFill>
              </a:rPr>
              <a:t>Business Problem Overview and Solution Approach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83" name="Google Shape;83;g3bf65791624_0_5"/>
          <p:cNvSpPr txBox="1"/>
          <p:nvPr>
            <p:ph idx="1" type="body"/>
          </p:nvPr>
        </p:nvSpPr>
        <p:spPr>
          <a:xfrm>
            <a:off x="202550" y="3187400"/>
            <a:ext cx="952500" cy="31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" sz="1200">
                <a:solidFill>
                  <a:srgbClr val="000000"/>
                </a:solidFill>
              </a:rPr>
              <a:t>Solution Approach</a:t>
            </a:r>
            <a:endParaRPr b="1" sz="1200">
              <a:solidFill>
                <a:srgbClr val="000000"/>
              </a:solidFill>
            </a:endParaRPr>
          </a:p>
        </p:txBody>
      </p:sp>
      <p:sp>
        <p:nvSpPr>
          <p:cNvPr id="84" name="Google Shape;84;g3bf65791624_0_5"/>
          <p:cNvSpPr/>
          <p:nvPr/>
        </p:nvSpPr>
        <p:spPr>
          <a:xfrm>
            <a:off x="1106557" y="3265855"/>
            <a:ext cx="1922100" cy="365700"/>
          </a:xfrm>
          <a:prstGeom prst="homePlate">
            <a:avLst>
              <a:gd fmla="val 50000" name="adj"/>
            </a:avLst>
          </a:prstGeom>
          <a:solidFill>
            <a:srgbClr val="CFE2F3"/>
          </a:solidFill>
          <a:ln>
            <a:noFill/>
          </a:ln>
          <a:effectLst>
            <a:outerShdw blurRad="57150" rotWithShape="0" algn="bl" dir="3600000" dist="19050">
              <a:srgbClr val="000000">
                <a:alpha val="3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Exploratory 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Data Analysis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5" name="Google Shape;85;g3bf65791624_0_5"/>
          <p:cNvSpPr/>
          <p:nvPr/>
        </p:nvSpPr>
        <p:spPr>
          <a:xfrm>
            <a:off x="2892998" y="3265855"/>
            <a:ext cx="1922100" cy="365700"/>
          </a:xfrm>
          <a:prstGeom prst="chevron">
            <a:avLst>
              <a:gd fmla="val 50000" name="adj"/>
            </a:avLst>
          </a:prstGeom>
          <a:solidFill>
            <a:srgbClr val="9FC5E8"/>
          </a:solidFill>
          <a:ln>
            <a:noFill/>
          </a:ln>
          <a:effectLst>
            <a:outerShdw blurRad="57150" rotWithShape="0" algn="bl" dir="3600000" dist="19050">
              <a:srgbClr val="000000">
                <a:alpha val="3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Data Modeling 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&amp; Fine tuning</a:t>
            </a:r>
            <a:endParaRPr sz="9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6" name="Google Shape;86;g3bf65791624_0_5"/>
          <p:cNvSpPr/>
          <p:nvPr/>
        </p:nvSpPr>
        <p:spPr>
          <a:xfrm>
            <a:off x="4685222" y="3265855"/>
            <a:ext cx="1922100" cy="365700"/>
          </a:xfrm>
          <a:prstGeom prst="chevron">
            <a:avLst>
              <a:gd fmla="val 50000" name="adj"/>
            </a:avLst>
          </a:prstGeom>
          <a:solidFill>
            <a:srgbClr val="6FA8DC"/>
          </a:solidFill>
          <a:ln>
            <a:noFill/>
          </a:ln>
          <a:effectLst>
            <a:outerShdw blurRad="57150" rotWithShape="0" algn="bl" dir="3600000" dist="19050">
              <a:srgbClr val="000000">
                <a:alpha val="3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Actionable </a:t>
            </a:r>
            <a:endParaRPr sz="9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Insights</a:t>
            </a:r>
            <a:endParaRPr sz="900">
              <a:solidFill>
                <a:schemeClr val="lt1"/>
              </a:solidFill>
              <a:latin typeface="Nunito Light"/>
              <a:ea typeface="Nunito Light"/>
              <a:cs typeface="Nunito Light"/>
              <a:sym typeface="Nunito Light"/>
            </a:endParaRPr>
          </a:p>
        </p:txBody>
      </p:sp>
      <p:sp>
        <p:nvSpPr>
          <p:cNvPr id="87" name="Google Shape;87;g3bf65791624_0_5"/>
          <p:cNvSpPr/>
          <p:nvPr/>
        </p:nvSpPr>
        <p:spPr>
          <a:xfrm>
            <a:off x="6477446" y="3265855"/>
            <a:ext cx="2092500" cy="365700"/>
          </a:xfrm>
          <a:prstGeom prst="chevron">
            <a:avLst>
              <a:gd fmla="val 50000" name="adj"/>
            </a:avLst>
          </a:prstGeom>
          <a:solidFill>
            <a:srgbClr val="3D85C6"/>
          </a:solidFill>
          <a:ln>
            <a:noFill/>
          </a:ln>
          <a:effectLst>
            <a:outerShdw blurRad="57150" rotWithShape="0" algn="bl" dir="3600000" dist="19050">
              <a:srgbClr val="000000">
                <a:alpha val="3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Monitoring &amp; </a:t>
            </a:r>
            <a:endParaRPr sz="9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Value assessment</a:t>
            </a:r>
            <a:endParaRPr sz="9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8" name="Google Shape;88;g3bf65791624_0_5"/>
          <p:cNvSpPr txBox="1"/>
          <p:nvPr/>
        </p:nvSpPr>
        <p:spPr>
          <a:xfrm>
            <a:off x="1155050" y="3657600"/>
            <a:ext cx="1629900" cy="14160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"/>
              <a:buChar char="●"/>
            </a:pP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Data gathering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794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"/>
              <a:buChar char="●"/>
            </a:pP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Cleaning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794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"/>
              <a:buChar char="●"/>
            </a:pP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Feature engineering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794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"/>
              <a:buChar char="●"/>
            </a:pP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Understanding patterns and insights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9" name="Google Shape;89;g3bf65791624_0_5"/>
          <p:cNvSpPr txBox="1"/>
          <p:nvPr/>
        </p:nvSpPr>
        <p:spPr>
          <a:xfrm>
            <a:off x="3055325" y="3657600"/>
            <a:ext cx="1629900" cy="12468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"/>
              <a:buChar char="●"/>
            </a:pP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Machine Learning modeling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794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"/>
              <a:buChar char="●"/>
            </a:pP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Data validation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794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"/>
              <a:buChar char="●"/>
            </a:pP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Optimize model for better performance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0" name="Google Shape;90;g3bf65791624_0_5"/>
          <p:cNvSpPr txBox="1"/>
          <p:nvPr/>
        </p:nvSpPr>
        <p:spPr>
          <a:xfrm>
            <a:off x="4757600" y="3657600"/>
            <a:ext cx="1629900" cy="14160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"/>
              <a:buChar char="●"/>
            </a:pP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Process improvements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1" name="Google Shape;91;g3bf65791624_0_5"/>
          <p:cNvSpPr txBox="1"/>
          <p:nvPr/>
        </p:nvSpPr>
        <p:spPr>
          <a:xfrm>
            <a:off x="6657875" y="3657600"/>
            <a:ext cx="1629900" cy="124680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794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"/>
              <a:buChar char="●"/>
            </a:pP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Monitor model  performance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794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"/>
              <a:buChar char="●"/>
            </a:pP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ROI measurement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79400" lvl="0" marL="27432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unito"/>
              <a:buChar char="●"/>
            </a:pP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Improve and iterate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2" name="Google Shape;92;g3bf65791624_0_5"/>
          <p:cNvSpPr txBox="1"/>
          <p:nvPr/>
        </p:nvSpPr>
        <p:spPr>
          <a:xfrm>
            <a:off x="340200" y="722825"/>
            <a:ext cx="4890900" cy="23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82880" marR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Business Problem</a:t>
            </a:r>
            <a:endParaRPr b="1"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182880" marR="18288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Wind energy is an important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renewable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energy alternative, however the sector faces high operating expenditures and unplanned outages due to generator failures. 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182880" marR="18288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182880" marR="18288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The cost of replacing a generator is significantly higher than the cost of proactive repair or a routine inspection, therefore predicting the  machinery failures is critical to minimize the operating costs.</a:t>
            </a:r>
            <a:endParaRPr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3" name="Google Shape;93;g3bf65791624_0_5"/>
          <p:cNvSpPr txBox="1"/>
          <p:nvPr/>
        </p:nvSpPr>
        <p:spPr>
          <a:xfrm>
            <a:off x="5109386" y="727900"/>
            <a:ext cx="3620100" cy="21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82880" marR="18288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Objective</a:t>
            </a:r>
            <a:endParaRPr b="1"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182880" marR="18288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To develop a predictive classification model that identifies the early signs of failures. Success is defined by minimizing the false 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negatives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and capturing potential failures accurately.</a:t>
            </a:r>
            <a:endParaRPr sz="13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308e30167_0_1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</a:t>
            </a:r>
            <a:endParaRPr/>
          </a:p>
        </p:txBody>
      </p:sp>
      <p:sp>
        <p:nvSpPr>
          <p:cNvPr id="99" name="Google Shape;99;g39308e30167_0_15"/>
          <p:cNvSpPr txBox="1"/>
          <p:nvPr/>
        </p:nvSpPr>
        <p:spPr>
          <a:xfrm>
            <a:off x="872724" y="903684"/>
            <a:ext cx="1938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Data Source</a:t>
            </a:r>
            <a:endParaRPr b="1"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Train</a:t>
            </a: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.csv;  Test.csv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0" name="Google Shape;100;g39308e30167_0_15"/>
          <p:cNvSpPr/>
          <p:nvPr/>
        </p:nvSpPr>
        <p:spPr>
          <a:xfrm>
            <a:off x="470425" y="1012324"/>
            <a:ext cx="402300" cy="329100"/>
          </a:xfrm>
          <a:prstGeom prst="can">
            <a:avLst>
              <a:gd fmla="val 25000" name="adj"/>
            </a:avLst>
          </a:prstGeom>
          <a:solidFill>
            <a:schemeClr val="accent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1" name="Google Shape;101;g39308e30167_0_15"/>
          <p:cNvSpPr/>
          <p:nvPr/>
        </p:nvSpPr>
        <p:spPr>
          <a:xfrm>
            <a:off x="2468025" y="888350"/>
            <a:ext cx="2963400" cy="709200"/>
          </a:xfrm>
          <a:prstGeom prst="bracketPair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Size of the Data</a:t>
            </a:r>
            <a:endParaRPr b="1" sz="12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9144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Train: 20,000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Observation and 40 Predictors</a:t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9144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Test</a:t>
            </a:r>
            <a:r>
              <a:rPr lang="en" sz="11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: 5,000</a:t>
            </a:r>
            <a:r>
              <a:rPr lang="en" sz="10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Observations and 40 Predictors</a:t>
            </a:r>
            <a:endParaRPr sz="11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9144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2" name="Google Shape;102;g39308e30167_0_15"/>
          <p:cNvSpPr txBox="1"/>
          <p:nvPr/>
        </p:nvSpPr>
        <p:spPr>
          <a:xfrm>
            <a:off x="5822950" y="475950"/>
            <a:ext cx="2836200" cy="12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➔"/>
            </a:pPr>
            <a:r>
              <a:rPr lang="en"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Data is Ciphered version of sensor readings.</a:t>
            </a:r>
            <a:endParaRPr sz="1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➔"/>
            </a:pPr>
            <a:r>
              <a:rPr lang="en"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Environmental data (temperature, humidity, wind speed, etc.</a:t>
            </a:r>
            <a:r>
              <a:rPr lang="en" sz="1200">
                <a:solidFill>
                  <a:srgbClr val="1F1F1F"/>
                </a:solidFill>
                <a:highlight>
                  <a:srgbClr val="FFFFFF"/>
                </a:highlight>
              </a:rPr>
              <a:t>)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Char char="➔"/>
            </a:pPr>
            <a:r>
              <a:rPr lang="en"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Various parts of the wind turbine (gearbox, tower, blades, break, etc.).</a:t>
            </a:r>
            <a:endParaRPr sz="1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3" name="Google Shape;103;g39308e30167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50" y="1762460"/>
            <a:ext cx="8839204" cy="1514922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g39308e30167_0_15"/>
          <p:cNvSpPr txBox="1"/>
          <p:nvPr/>
        </p:nvSpPr>
        <p:spPr>
          <a:xfrm>
            <a:off x="78925" y="1662950"/>
            <a:ext cx="1185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Training Data</a:t>
            </a:r>
            <a:endParaRPr sz="1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5" name="Google Shape;105;g39308e30167_0_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535615"/>
            <a:ext cx="8839204" cy="128617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9308e30167_0_15"/>
          <p:cNvSpPr txBox="1"/>
          <p:nvPr/>
        </p:nvSpPr>
        <p:spPr>
          <a:xfrm>
            <a:off x="152400" y="3277375"/>
            <a:ext cx="1185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Test </a:t>
            </a:r>
            <a:r>
              <a:rPr lang="en"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Data</a:t>
            </a:r>
            <a:endParaRPr sz="10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2508d39905_0_10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Data Preprocessing 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12" name="Google Shape;112;g12508d39905_0_10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b="1" lang="en" sz="1400">
                <a:solidFill>
                  <a:srgbClr val="2D3B45"/>
                </a:solidFill>
                <a:highlight>
                  <a:srgbClr val="FFFFFF"/>
                </a:highlight>
              </a:rPr>
              <a:t>Duplicate value check</a:t>
            </a: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 - Training and Test data sets have no duplicate records.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b="1" lang="en" sz="1400">
                <a:solidFill>
                  <a:srgbClr val="2D3B45"/>
                </a:solidFill>
                <a:highlight>
                  <a:srgbClr val="FFFFFF"/>
                </a:highlight>
              </a:rPr>
              <a:t>Missing value treatment - </a:t>
            </a:r>
            <a:endParaRPr b="1"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○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Training and Test data have few missing v1 and v2 attributes data.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○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Missing values were treated by imputing them with median values.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b="1" lang="en" sz="1400">
                <a:solidFill>
                  <a:srgbClr val="2D3B45"/>
                </a:solidFill>
                <a:highlight>
                  <a:srgbClr val="FFFFFF"/>
                </a:highlight>
              </a:rPr>
              <a:t>Feature engineering 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○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The data is a Ciphered version to maintain the confidentiality of sensor data; Its already transformed and scaled.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○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No new features were created. 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308e30167_0_13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Data Preprocessing 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18" name="Google Shape;118;g39308e30167_0_135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●"/>
            </a:pPr>
            <a:r>
              <a:rPr b="1" lang="en" sz="1400">
                <a:solidFill>
                  <a:srgbClr val="2D3B45"/>
                </a:solidFill>
                <a:highlight>
                  <a:srgbClr val="FFFFFF"/>
                </a:highlight>
              </a:rPr>
              <a:t>Data preparation for modeling</a:t>
            </a:r>
            <a:endParaRPr b="1"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○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Training data was split into </a:t>
            </a:r>
            <a:r>
              <a:rPr b="1" lang="en" sz="1400">
                <a:solidFill>
                  <a:srgbClr val="2D3B45"/>
                </a:solidFill>
                <a:highlight>
                  <a:srgbClr val="FFFFFF"/>
                </a:highlight>
              </a:rPr>
              <a:t>Train (80%)</a:t>
            </a: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  and </a:t>
            </a:r>
            <a:r>
              <a:rPr b="1" lang="en" sz="1400">
                <a:solidFill>
                  <a:srgbClr val="2D3B45"/>
                </a:solidFill>
                <a:highlight>
                  <a:srgbClr val="FFFFFF"/>
                </a:highlight>
              </a:rPr>
              <a:t>Validation (20%)</a:t>
            </a: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 sets using stratified split to maintain consistent class distribution across both subsets.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○"/>
            </a:pPr>
            <a:r>
              <a:rPr b="1" lang="en" sz="1400">
                <a:solidFill>
                  <a:srgbClr val="2D3B45"/>
                </a:solidFill>
                <a:highlight>
                  <a:srgbClr val="FFFFFF"/>
                </a:highlight>
              </a:rPr>
              <a:t>After split:</a:t>
            </a:r>
            <a:endParaRPr b="1"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■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Training data: 16,000 Observations and 40 Predictors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■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Validation data: 4,000 Observations and 40 Predictors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2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■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Test data: 5,000 Observations and 40 Predictors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400"/>
              <a:buChar char="○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We performed Model training using Training set, Hyperparameter tuning using Validation set and finally benchmark tested against the Test set.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2685eae676_1_1"/>
          <p:cNvSpPr txBox="1"/>
          <p:nvPr>
            <p:ph type="title"/>
          </p:nvPr>
        </p:nvSpPr>
        <p:spPr>
          <a:xfrm>
            <a:off x="202550" y="2257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Model Evaluation Criterion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24" name="Google Shape;124;g32685eae676_1_1"/>
          <p:cNvSpPr txBox="1"/>
          <p:nvPr>
            <p:ph idx="1" type="body"/>
          </p:nvPr>
        </p:nvSpPr>
        <p:spPr>
          <a:xfrm>
            <a:off x="202550" y="754333"/>
            <a:ext cx="8629800" cy="40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600"/>
              </a:spcAft>
              <a:buNone/>
            </a:pPr>
            <a:r>
              <a:rPr b="1" lang="en" sz="1400">
                <a:solidFill>
                  <a:srgbClr val="2D3B45"/>
                </a:solidFill>
                <a:highlight>
                  <a:srgbClr val="FFFFFF"/>
                </a:highlight>
              </a:rPr>
              <a:t>Strategy: </a:t>
            </a: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The model performance is evaluated based on the following classification outcomes: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</p:txBody>
      </p:sp>
      <p:sp>
        <p:nvSpPr>
          <p:cNvPr id="125" name="Google Shape;125;g32685eae676_1_1"/>
          <p:cNvSpPr txBox="1"/>
          <p:nvPr/>
        </p:nvSpPr>
        <p:spPr>
          <a:xfrm>
            <a:off x="531300" y="1435108"/>
            <a:ext cx="2194500" cy="3423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True Positives</a:t>
            </a:r>
            <a:endParaRPr b="1"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6" name="Google Shape;126;g32685eae676_1_1"/>
          <p:cNvSpPr txBox="1"/>
          <p:nvPr/>
        </p:nvSpPr>
        <p:spPr>
          <a:xfrm>
            <a:off x="534145" y="1794933"/>
            <a:ext cx="21945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7009" lvl="0" marL="914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D3B45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rgbClr val="2D3B45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Successful prediction of a generator failure.</a:t>
            </a:r>
            <a:endParaRPr sz="1100">
              <a:solidFill>
                <a:srgbClr val="2D3B45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207009" lvl="0" marL="9144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rgbClr val="2D3B45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Proactive repairs and minimal downtime.</a:t>
            </a:r>
            <a:endParaRPr sz="1100">
              <a:solidFill>
                <a:srgbClr val="2D3B45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7" name="Google Shape;127;g32685eae676_1_1"/>
          <p:cNvSpPr txBox="1"/>
          <p:nvPr/>
        </p:nvSpPr>
        <p:spPr>
          <a:xfrm>
            <a:off x="3308383" y="1435108"/>
            <a:ext cx="2194500" cy="342300"/>
          </a:xfrm>
          <a:prstGeom prst="rect">
            <a:avLst/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False </a:t>
            </a: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Positives</a:t>
            </a:r>
            <a:endParaRPr b="1"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8" name="Google Shape;128;g32685eae676_1_1"/>
          <p:cNvSpPr txBox="1"/>
          <p:nvPr/>
        </p:nvSpPr>
        <p:spPr>
          <a:xfrm>
            <a:off x="3311228" y="1794933"/>
            <a:ext cx="21945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7009" lvl="0" marL="914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D3B45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rgbClr val="2D3B45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Incorrectly predicting a failure for a functional generator.</a:t>
            </a:r>
            <a:endParaRPr sz="1100">
              <a:solidFill>
                <a:srgbClr val="2D3B45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207009" lvl="0" marL="91440" rtl="0" algn="l">
              <a:lnSpc>
                <a:spcPct val="115000"/>
              </a:lnSpc>
              <a:spcBef>
                <a:spcPts val="1000"/>
              </a:spcBef>
              <a:spcAft>
                <a:spcPts val="600"/>
              </a:spcAft>
              <a:buClr>
                <a:srgbClr val="2D3B45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rgbClr val="2D3B45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Unnecessary inspection and labor costs, though there is no downtime.</a:t>
            </a:r>
            <a:endParaRPr sz="1100">
              <a:solidFill>
                <a:srgbClr val="2D3B45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29" name="Google Shape;129;g32685eae676_1_1"/>
          <p:cNvSpPr txBox="1"/>
          <p:nvPr/>
        </p:nvSpPr>
        <p:spPr>
          <a:xfrm>
            <a:off x="6085450" y="1435108"/>
            <a:ext cx="2194500" cy="342300"/>
          </a:xfrm>
          <a:prstGeom prst="rect">
            <a:avLst/>
          </a:prstGeom>
          <a:solidFill>
            <a:srgbClr val="76A5A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False Negatives</a:t>
            </a:r>
            <a:endParaRPr b="1" sz="15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0" name="Google Shape;130;g32685eae676_1_1"/>
          <p:cNvSpPr txBox="1"/>
          <p:nvPr/>
        </p:nvSpPr>
        <p:spPr>
          <a:xfrm>
            <a:off x="6088295" y="1794933"/>
            <a:ext cx="21945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7009" lvl="0" marL="9144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2D3B45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rgbClr val="2D3B45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Failure to predict a generator failure</a:t>
            </a:r>
            <a:endParaRPr sz="1100">
              <a:solidFill>
                <a:srgbClr val="2D3B45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207009" lvl="0" marL="9144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100"/>
              <a:buFont typeface="Nunito"/>
              <a:buChar char="●"/>
            </a:pPr>
            <a:r>
              <a:rPr lang="en" sz="1100">
                <a:solidFill>
                  <a:srgbClr val="2D3B45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Costly replacement and an unplanned outage.</a:t>
            </a:r>
            <a:endParaRPr sz="1100">
              <a:solidFill>
                <a:srgbClr val="2D3B45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1" name="Google Shape;131;g32685eae676_1_1"/>
          <p:cNvSpPr txBox="1"/>
          <p:nvPr/>
        </p:nvSpPr>
        <p:spPr>
          <a:xfrm>
            <a:off x="277275" y="3200392"/>
            <a:ext cx="8520600" cy="89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D3B45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Evaluation Criteria: </a:t>
            </a:r>
            <a:r>
              <a:rPr lang="en">
                <a:solidFill>
                  <a:srgbClr val="2D3B45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The selection of the primary metric is driven by the hierarchy of costs associated with each error type:</a:t>
            </a:r>
            <a:endParaRPr>
              <a:solidFill>
                <a:srgbClr val="2D3B45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">
                <a:solidFill>
                  <a:srgbClr val="2D3B45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                         </a:t>
            </a:r>
            <a:r>
              <a:rPr b="1" lang="en">
                <a:solidFill>
                  <a:srgbClr val="2D3B45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Replacement Costs </a:t>
            </a:r>
            <a:r>
              <a:rPr lang="en">
                <a:solidFill>
                  <a:srgbClr val="2D3B45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&gt;    </a:t>
            </a:r>
            <a:r>
              <a:rPr b="1" lang="en">
                <a:solidFill>
                  <a:srgbClr val="2D3B45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Repair Costs  </a:t>
            </a:r>
            <a:r>
              <a:rPr lang="en">
                <a:solidFill>
                  <a:srgbClr val="2D3B45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&gt;   </a:t>
            </a:r>
            <a:r>
              <a:rPr b="1" lang="en">
                <a:solidFill>
                  <a:srgbClr val="2D3B45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Inspection Costs</a:t>
            </a:r>
            <a:endParaRPr>
              <a:solidFill>
                <a:srgbClr val="2D3B45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9308e30167_0_163"/>
          <p:cNvSpPr txBox="1"/>
          <p:nvPr>
            <p:ph type="title"/>
          </p:nvPr>
        </p:nvSpPr>
        <p:spPr>
          <a:xfrm>
            <a:off x="202550" y="2257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Model Evaluation Criterion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37" name="Google Shape;137;g39308e30167_0_163"/>
          <p:cNvSpPr txBox="1"/>
          <p:nvPr/>
        </p:nvSpPr>
        <p:spPr>
          <a:xfrm>
            <a:off x="277275" y="903825"/>
            <a:ext cx="8520600" cy="28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2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>
                <a:solidFill>
                  <a:srgbClr val="2D3B45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Because the financial impact of a replacement (False Negative) is far higher than an inspection (False Positive), our primary objective is to maximize the detection rate of actual failures.</a:t>
            </a:r>
            <a:endParaRPr>
              <a:solidFill>
                <a:srgbClr val="2D3B45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>
                <a:solidFill>
                  <a:srgbClr val="2D3B45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Based on these risks and costs, we used Recall as our primary metric for evaluating model performance.</a:t>
            </a:r>
            <a:br>
              <a:rPr lang="en">
                <a:solidFill>
                  <a:srgbClr val="2D3B45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</a:br>
            <a:r>
              <a:rPr lang="en">
                <a:solidFill>
                  <a:srgbClr val="2D3B45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    		</a:t>
            </a:r>
            <a:r>
              <a:rPr b="1" lang="en">
                <a:solidFill>
                  <a:srgbClr val="2D3B45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Recall = True Positives / (True Positives + False Negatives)</a:t>
            </a:r>
            <a:endParaRPr b="1">
              <a:solidFill>
                <a:srgbClr val="2D3B45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-3048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200"/>
              <a:buChar char="●"/>
            </a:pPr>
            <a:r>
              <a:rPr lang="en">
                <a:solidFill>
                  <a:srgbClr val="2D3B45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By optimizing the model for </a:t>
            </a:r>
            <a:r>
              <a:rPr b="1" lang="en">
                <a:solidFill>
                  <a:srgbClr val="2D3B45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Recall</a:t>
            </a:r>
            <a:r>
              <a:rPr lang="en">
                <a:solidFill>
                  <a:srgbClr val="2D3B45"/>
                </a:solidFill>
                <a:highlight>
                  <a:srgbClr val="FFFFFF"/>
                </a:highlight>
                <a:latin typeface="Nunito"/>
                <a:ea typeface="Nunito"/>
                <a:cs typeface="Nunito"/>
                <a:sym typeface="Nunito"/>
              </a:rPr>
              <a:t>, the occurrences of False Negatives can be minimized and potential failures accurately captured.</a:t>
            </a:r>
            <a:endParaRPr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76200" marR="76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2D3B45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2D3B45"/>
              </a:solidFill>
              <a:highlight>
                <a:srgbClr val="FFFFFF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1f91bb547_0_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Methodology: Modeling, Optimization, and Evaluation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43" name="Google Shape;143;g3c1f91bb547_0_0"/>
          <p:cNvSpPr txBox="1"/>
          <p:nvPr/>
        </p:nvSpPr>
        <p:spPr>
          <a:xfrm>
            <a:off x="3898565" y="4128689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4" name="Google Shape;144;g3c1f91bb547_0_0"/>
          <p:cNvSpPr/>
          <p:nvPr/>
        </p:nvSpPr>
        <p:spPr>
          <a:xfrm>
            <a:off x="291568" y="1050715"/>
            <a:ext cx="1870200" cy="866400"/>
          </a:xfrm>
          <a:prstGeom prst="homePlate">
            <a:avLst>
              <a:gd fmla="val 50000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Evaluation</a:t>
            </a: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Criteria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5" name="Google Shape;145;g3c1f91bb547_0_0"/>
          <p:cNvSpPr/>
          <p:nvPr/>
        </p:nvSpPr>
        <p:spPr>
          <a:xfrm>
            <a:off x="1759670" y="1050665"/>
            <a:ext cx="2039400" cy="866400"/>
          </a:xfrm>
          <a:prstGeom prst="chevron">
            <a:avLst>
              <a:gd fmla="val 50000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Data Preparation</a:t>
            </a:r>
            <a:endParaRPr sz="9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6" name="Google Shape;146;g3c1f91bb547_0_0"/>
          <p:cNvSpPr/>
          <p:nvPr/>
        </p:nvSpPr>
        <p:spPr>
          <a:xfrm>
            <a:off x="3401885" y="1051560"/>
            <a:ext cx="2039400" cy="866400"/>
          </a:xfrm>
          <a:prstGeom prst="chevron">
            <a:avLst>
              <a:gd fmla="val 50000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Baseline Modeling </a:t>
            </a:r>
            <a:r>
              <a:rPr lang="en" sz="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(Default Parameters)</a:t>
            </a:r>
            <a:endParaRPr sz="8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7" name="Google Shape;147;g3c1f91bb547_0_0"/>
          <p:cNvSpPr/>
          <p:nvPr/>
        </p:nvSpPr>
        <p:spPr>
          <a:xfrm>
            <a:off x="1424175" y="1953608"/>
            <a:ext cx="2359200" cy="866400"/>
          </a:xfrm>
          <a:prstGeom prst="chevron">
            <a:avLst>
              <a:gd fmla="val 50000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Hyperparameter Tuning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8" name="Google Shape;148;g3c1f91bb547_0_0"/>
          <p:cNvSpPr/>
          <p:nvPr/>
        </p:nvSpPr>
        <p:spPr>
          <a:xfrm>
            <a:off x="3396602" y="1953600"/>
            <a:ext cx="2101800" cy="866400"/>
          </a:xfrm>
          <a:prstGeom prst="chevron">
            <a:avLst>
              <a:gd fmla="val 50000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Model Performance Evaluation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9" name="Google Shape;149;g3c1f91bb547_0_0"/>
          <p:cNvSpPr/>
          <p:nvPr/>
        </p:nvSpPr>
        <p:spPr>
          <a:xfrm>
            <a:off x="5114235" y="1953583"/>
            <a:ext cx="2231700" cy="866400"/>
          </a:xfrm>
          <a:prstGeom prst="chevron">
            <a:avLst>
              <a:gd fmla="val 50000" name="adj"/>
            </a:avLst>
          </a:prstGeom>
          <a:solidFill>
            <a:srgbClr val="3D85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Final Model</a:t>
            </a:r>
            <a:endParaRPr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323cc316b_0_69"/>
          <p:cNvSpPr txBox="1"/>
          <p:nvPr>
            <p:ph type="title"/>
          </p:nvPr>
        </p:nvSpPr>
        <p:spPr>
          <a:xfrm>
            <a:off x="202550" y="162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Model Performance Summary</a:t>
            </a:r>
            <a:endParaRPr>
              <a:solidFill>
                <a:srgbClr val="1974D2"/>
              </a:solidFill>
            </a:endParaRPr>
          </a:p>
        </p:txBody>
      </p:sp>
      <p:graphicFrame>
        <p:nvGraphicFramePr>
          <p:cNvPr id="155" name="Google Shape;155;g39323cc316b_0_69"/>
          <p:cNvGraphicFramePr/>
          <p:nvPr/>
        </p:nvGraphicFramePr>
        <p:xfrm>
          <a:off x="141975" y="734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{053E84B8-A2E8-425D-A416-EBBD39CC20DB}</a:tableStyleId>
              </a:tblPr>
              <a:tblGrid>
                <a:gridCol w="745950"/>
                <a:gridCol w="2728100"/>
                <a:gridCol w="1036325"/>
                <a:gridCol w="950975"/>
                <a:gridCol w="936875"/>
                <a:gridCol w="2415800"/>
              </a:tblGrid>
              <a:tr h="331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Model</a:t>
                      </a:r>
                      <a:endParaRPr sz="11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Architectural Highlights</a:t>
                      </a:r>
                      <a:endParaRPr sz="11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Accuracy</a:t>
                      </a:r>
                      <a:endParaRPr sz="11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Recall</a:t>
                      </a:r>
                      <a:endParaRPr sz="11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Precision</a:t>
                      </a:r>
                      <a:endParaRPr sz="11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l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Key Takeaways</a:t>
                      </a:r>
                      <a:endParaRPr sz="11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5B9BD5"/>
                    </a:solidFill>
                  </a:tcPr>
                </a:tc>
              </a:tr>
              <a:tr h="482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Baseline</a:t>
                      </a:r>
                      <a:endParaRPr sz="10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974D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Single Hidden Layer; RELU, Sigmoid, SGD, Binary Cross Entropy </a:t>
                      </a:r>
                      <a:endParaRPr sz="10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T: 0.987</a:t>
                      </a:r>
                      <a:endParaRPr sz="10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V: 0.987</a:t>
                      </a:r>
                      <a:endParaRPr sz="10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T: 0.903</a:t>
                      </a:r>
                      <a:endParaRPr sz="10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V: 0.899</a:t>
                      </a:r>
                      <a:endParaRPr sz="10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T: 0.977</a:t>
                      </a:r>
                      <a:endParaRPr sz="10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accen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V: 0.972</a:t>
                      </a:r>
                      <a:endParaRPr sz="10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Established baseline;</a:t>
                      </a:r>
                      <a:endParaRPr sz="10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False Negatives</a:t>
                      </a:r>
                      <a:endParaRPr sz="1000">
                        <a:solidFill>
                          <a:schemeClr val="lt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51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Model 1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974D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 Hidden Layers;  RELU, Sigmoid, SGD, Binary Cross Entropy </a:t>
                      </a:r>
                      <a:endParaRPr sz="900">
                        <a:solidFill>
                          <a:srgbClr val="1974D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T: 0.987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V: 0.984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T: 0.898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V: 0.879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T: 0.978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V: 0.970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Not much improvement with Depth.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51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Model 2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974D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 Hidden Layers; 40% Dropout RELU, Sigmoid, SGD, Binary Cross Entropy</a:t>
                      </a:r>
                      <a:endParaRPr sz="900">
                        <a:solidFill>
                          <a:srgbClr val="1974D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T: 0.979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V: 0.978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T: 0.830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V: 0.833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T: 0.965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V: 0.953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Performance drop; Information loss due to dropout.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51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Model 3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974D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 Hidden Layers; 45% Dropout; Class weights; RELU, Sigmoid, SGD, Binary Cross Entropy </a:t>
                      </a:r>
                      <a:endParaRPr sz="900">
                        <a:solidFill>
                          <a:srgbClr val="1974D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T: 0.980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V: 0.978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T: 0.929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V: 0.918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T: 0.896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V: 0.886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Improved Recall; effective at capturing minority class, but suffered on majority.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1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Model 4</a:t>
                      </a:r>
                      <a:endParaRPr b="1"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974D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 Hidden Layers; Epochs:50, Batch: 64; </a:t>
                      </a:r>
                      <a:endParaRPr b="1" sz="900">
                        <a:solidFill>
                          <a:srgbClr val="1974D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974D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RELU, Sigmoid, Adam, Binary Cross Entropy </a:t>
                      </a:r>
                      <a:endParaRPr b="1" sz="900">
                        <a:solidFill>
                          <a:srgbClr val="1974D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T: 0.993</a:t>
                      </a:r>
                      <a:endParaRPr b="1"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accen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V: 0.991</a:t>
                      </a:r>
                      <a:endParaRPr b="1"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T: 0.947</a:t>
                      </a:r>
                      <a:endParaRPr b="1"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accen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V: 0.934</a:t>
                      </a:r>
                      <a:endParaRPr b="1"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T: 0.968</a:t>
                      </a:r>
                      <a:endParaRPr b="1"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chemeClr val="accen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V: 0.958</a:t>
                      </a:r>
                      <a:endParaRPr b="1"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Best Accuracy, Recall and Precision; Optimal performance.</a:t>
                      </a:r>
                      <a:endParaRPr b="1"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1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Model 5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974D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 Hidden Layers; Epochs: 50, 50% Dropout RELU, Sigmoid, Adam, Binary Cross Entropy </a:t>
                      </a:r>
                      <a:endParaRPr sz="900">
                        <a:solidFill>
                          <a:srgbClr val="1974D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T: 0.981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V: 0.982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T: 0.832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V: 0.842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T: 0.987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V: 0.984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Dropout continues to degrade the performance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FFFFFF"/>
                    </a:solidFill>
                  </a:tcPr>
                </a:tc>
              </a:tr>
              <a:tr h="451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Model 6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1974D2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3 Hidden Layers; 50% Dropout; Class weights; RELU, Sigmoid, Adam, Binary Cross Entropy </a:t>
                      </a:r>
                      <a:endParaRPr sz="900">
                        <a:solidFill>
                          <a:srgbClr val="1974D2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T: 0.07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V: 0.069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T: 0.481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V: 0.484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T: 0.069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accent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V: 0.068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5B9BD5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Overregularization led to poor performance.</a:t>
                      </a:r>
                      <a:endParaRPr sz="900">
                        <a:solidFill>
                          <a:srgbClr val="5B9BD5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323cc316b_0_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Model Performance Summary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61" name="Google Shape;161;g39323cc316b_0_0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After iterating through six neural network configurations, Model 4 (Dual-layer, Adam optimizer) emerged as the most robust solution.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Arial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We observed that while Class Weighting (Model 3) helped prioritize failures, the combination of Adam's adaptive learning rate and increased depth in Model 4 yielded the best balance, achieving a 93.5% Recall. </a:t>
            </a:r>
            <a:endParaRPr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100"/>
              <a:buFont typeface="Arial"/>
              <a:buChar char="●"/>
            </a:pPr>
            <a:r>
              <a:rPr lang="en" sz="1400">
                <a:solidFill>
                  <a:srgbClr val="2D3B45"/>
                </a:solidFill>
                <a:highlight>
                  <a:srgbClr val="FFFFFF"/>
                </a:highlight>
              </a:rPr>
              <a:t>Dropout consistently degraded performance across all tests, suggesting that the model requires all available feature signals to distinguish failure patterns in this specific dataset.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162" name="Google Shape;162;g39323cc316b_0_0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sng" cap="none" strike="noStrike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</a:rPr>
              <a:t>Link to Appendix slide on model assumptions</a:t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933d8000ae_0_6"/>
          <p:cNvSpPr txBox="1"/>
          <p:nvPr>
            <p:ph type="title"/>
          </p:nvPr>
        </p:nvSpPr>
        <p:spPr>
          <a:xfrm>
            <a:off x="202550" y="14110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Best Model “Model 4” - Test Performance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168" name="Google Shape;168;g3933d8000ae_0_6"/>
          <p:cNvSpPr txBox="1"/>
          <p:nvPr>
            <p:ph idx="1" type="body"/>
          </p:nvPr>
        </p:nvSpPr>
        <p:spPr>
          <a:xfrm>
            <a:off x="202550" y="713800"/>
            <a:ext cx="8629800" cy="13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" sz="1400">
                <a:solidFill>
                  <a:srgbClr val="2D3B45"/>
                </a:solidFill>
                <a:highlight>
                  <a:srgbClr val="FFFFFF"/>
                </a:highlight>
              </a:rPr>
              <a:t>Architecture</a:t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D3B4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graphicFrame>
        <p:nvGraphicFramePr>
          <p:cNvPr id="169" name="Google Shape;169;g3933d8000ae_0_6"/>
          <p:cNvGraphicFramePr/>
          <p:nvPr/>
        </p:nvGraphicFramePr>
        <p:xfrm>
          <a:off x="666750" y="1118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{053E84B8-A2E8-425D-A416-EBBD39CC20DB}</a:tableStyleId>
              </a:tblPr>
              <a:tblGrid>
                <a:gridCol w="3619500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unito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Epochs:50   Batch: 64; </a:t>
                      </a:r>
                      <a:endParaRPr sz="12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unito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2 Hidden Layers; </a:t>
                      </a:r>
                      <a:endParaRPr sz="12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-213359" lvl="1" marL="73152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unito"/>
                        <a:buChar char="○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Hidden Layer 1 : 14 neurons; RELU</a:t>
                      </a:r>
                      <a:endParaRPr sz="12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-213359" lvl="1" marL="73152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unito"/>
                        <a:buChar char="○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Hidden Layer 2: 7 neurons; RELU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unito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Output Layer: 1 Neuron;  Sigmoid</a:t>
                      </a:r>
                      <a:endParaRPr sz="12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unito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Optimization: Adam</a:t>
                      </a:r>
                      <a:endParaRPr sz="1200">
                        <a:solidFill>
                          <a:schemeClr val="dk1"/>
                        </a:solidFill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  <a:p>
                      <a:pPr indent="-3048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unito"/>
                        <a:buChar char="●"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Nunito"/>
                          <a:ea typeface="Nunito"/>
                          <a:cs typeface="Nunito"/>
                          <a:sym typeface="Nunito"/>
                        </a:rPr>
                        <a:t>Loss function: Binary Cross Entropy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70" name="Google Shape;170;g3933d8000ae_0_6"/>
          <p:cNvGrpSpPr/>
          <p:nvPr/>
        </p:nvGrpSpPr>
        <p:grpSpPr>
          <a:xfrm>
            <a:off x="1228090" y="2405380"/>
            <a:ext cx="4081662" cy="2479597"/>
            <a:chOff x="908050" y="2405380"/>
            <a:chExt cx="4081662" cy="2479597"/>
          </a:xfrm>
        </p:grpSpPr>
        <p:grpSp>
          <p:nvGrpSpPr>
            <p:cNvPr id="171" name="Google Shape;171;g3933d8000ae_0_6"/>
            <p:cNvGrpSpPr/>
            <p:nvPr/>
          </p:nvGrpSpPr>
          <p:grpSpPr>
            <a:xfrm>
              <a:off x="1005840" y="2429925"/>
              <a:ext cx="467335" cy="211800"/>
              <a:chOff x="1005840" y="2639475"/>
              <a:chExt cx="467335" cy="211800"/>
            </a:xfrm>
          </p:grpSpPr>
          <p:sp>
            <p:nvSpPr>
              <p:cNvPr id="172" name="Google Shape;172;g3933d8000ae_0_6"/>
              <p:cNvSpPr/>
              <p:nvPr/>
            </p:nvSpPr>
            <p:spPr>
              <a:xfrm>
                <a:off x="1240375" y="2639475"/>
                <a:ext cx="232800" cy="211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173" name="Google Shape;173;g3933d8000ae_0_6"/>
              <p:cNvSpPr txBox="1"/>
              <p:nvPr/>
            </p:nvSpPr>
            <p:spPr>
              <a:xfrm>
                <a:off x="1005840" y="2696625"/>
                <a:ext cx="365700" cy="1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2"/>
                    </a:solidFill>
                    <a:latin typeface="Nunito"/>
                    <a:ea typeface="Nunito"/>
                    <a:cs typeface="Nunito"/>
                    <a:sym typeface="Nunito"/>
                  </a:rPr>
                  <a:t>v1</a:t>
                </a:r>
                <a:endParaRPr sz="8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174" name="Google Shape;174;g3933d8000ae_0_6"/>
            <p:cNvGrpSpPr/>
            <p:nvPr/>
          </p:nvGrpSpPr>
          <p:grpSpPr>
            <a:xfrm>
              <a:off x="1005840" y="2709325"/>
              <a:ext cx="467335" cy="211800"/>
              <a:chOff x="1005840" y="2639475"/>
              <a:chExt cx="467335" cy="211800"/>
            </a:xfrm>
          </p:grpSpPr>
          <p:sp>
            <p:nvSpPr>
              <p:cNvPr id="175" name="Google Shape;175;g3933d8000ae_0_6"/>
              <p:cNvSpPr/>
              <p:nvPr/>
            </p:nvSpPr>
            <p:spPr>
              <a:xfrm>
                <a:off x="1240375" y="2639475"/>
                <a:ext cx="232800" cy="211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176" name="Google Shape;176;g3933d8000ae_0_6"/>
              <p:cNvSpPr txBox="1"/>
              <p:nvPr/>
            </p:nvSpPr>
            <p:spPr>
              <a:xfrm>
                <a:off x="1005840" y="2696625"/>
                <a:ext cx="365700" cy="1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2"/>
                    </a:solidFill>
                    <a:latin typeface="Nunito"/>
                    <a:ea typeface="Nunito"/>
                    <a:cs typeface="Nunito"/>
                    <a:sym typeface="Nunito"/>
                  </a:rPr>
                  <a:t>v2</a:t>
                </a:r>
                <a:endParaRPr sz="8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177" name="Google Shape;177;g3933d8000ae_0_6"/>
            <p:cNvGrpSpPr/>
            <p:nvPr/>
          </p:nvGrpSpPr>
          <p:grpSpPr>
            <a:xfrm>
              <a:off x="1005840" y="2990850"/>
              <a:ext cx="467335" cy="211800"/>
              <a:chOff x="1005840" y="2639475"/>
              <a:chExt cx="467335" cy="211800"/>
            </a:xfrm>
          </p:grpSpPr>
          <p:sp>
            <p:nvSpPr>
              <p:cNvPr id="178" name="Google Shape;178;g3933d8000ae_0_6"/>
              <p:cNvSpPr/>
              <p:nvPr/>
            </p:nvSpPr>
            <p:spPr>
              <a:xfrm>
                <a:off x="1240375" y="2639475"/>
                <a:ext cx="232800" cy="211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179" name="Google Shape;179;g3933d8000ae_0_6"/>
              <p:cNvSpPr txBox="1"/>
              <p:nvPr/>
            </p:nvSpPr>
            <p:spPr>
              <a:xfrm>
                <a:off x="1005840" y="2696625"/>
                <a:ext cx="365700" cy="1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2"/>
                    </a:solidFill>
                    <a:latin typeface="Nunito"/>
                    <a:ea typeface="Nunito"/>
                    <a:cs typeface="Nunito"/>
                    <a:sym typeface="Nunito"/>
                  </a:rPr>
                  <a:t>v3</a:t>
                </a:r>
                <a:endParaRPr sz="8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180" name="Google Shape;180;g3933d8000ae_0_6"/>
            <p:cNvGrpSpPr/>
            <p:nvPr/>
          </p:nvGrpSpPr>
          <p:grpSpPr>
            <a:xfrm>
              <a:off x="914400" y="4118187"/>
              <a:ext cx="567919" cy="211800"/>
              <a:chOff x="905256" y="2639475"/>
              <a:chExt cx="567919" cy="211800"/>
            </a:xfrm>
          </p:grpSpPr>
          <p:sp>
            <p:nvSpPr>
              <p:cNvPr id="181" name="Google Shape;181;g3933d8000ae_0_6"/>
              <p:cNvSpPr/>
              <p:nvPr/>
            </p:nvSpPr>
            <p:spPr>
              <a:xfrm>
                <a:off x="1240375" y="2639475"/>
                <a:ext cx="232800" cy="211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182" name="Google Shape;182;g3933d8000ae_0_6"/>
              <p:cNvSpPr txBox="1"/>
              <p:nvPr/>
            </p:nvSpPr>
            <p:spPr>
              <a:xfrm>
                <a:off x="905256" y="2696625"/>
                <a:ext cx="457200" cy="1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2"/>
                    </a:solidFill>
                    <a:latin typeface="Nunito"/>
                    <a:ea typeface="Nunito"/>
                    <a:cs typeface="Nunito"/>
                    <a:sym typeface="Nunito"/>
                  </a:rPr>
                  <a:t>V</a:t>
                </a:r>
                <a:r>
                  <a:rPr lang="en" sz="800">
                    <a:solidFill>
                      <a:schemeClr val="dk2"/>
                    </a:solidFill>
                    <a:latin typeface="Nunito"/>
                    <a:ea typeface="Nunito"/>
                    <a:cs typeface="Nunito"/>
                    <a:sym typeface="Nunito"/>
                  </a:rPr>
                  <a:t> 38</a:t>
                </a:r>
                <a:endParaRPr sz="8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183" name="Google Shape;183;g3933d8000ae_0_6"/>
            <p:cNvGrpSpPr/>
            <p:nvPr/>
          </p:nvGrpSpPr>
          <p:grpSpPr>
            <a:xfrm>
              <a:off x="914400" y="4391152"/>
              <a:ext cx="567919" cy="211800"/>
              <a:chOff x="905256" y="2639475"/>
              <a:chExt cx="567919" cy="211800"/>
            </a:xfrm>
          </p:grpSpPr>
          <p:sp>
            <p:nvSpPr>
              <p:cNvPr id="184" name="Google Shape;184;g3933d8000ae_0_6"/>
              <p:cNvSpPr/>
              <p:nvPr/>
            </p:nvSpPr>
            <p:spPr>
              <a:xfrm>
                <a:off x="1240375" y="2639475"/>
                <a:ext cx="232800" cy="211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185" name="Google Shape;185;g3933d8000ae_0_6"/>
              <p:cNvSpPr txBox="1"/>
              <p:nvPr/>
            </p:nvSpPr>
            <p:spPr>
              <a:xfrm>
                <a:off x="905256" y="2696625"/>
                <a:ext cx="457200" cy="1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2"/>
                    </a:solidFill>
                    <a:latin typeface="Nunito"/>
                    <a:ea typeface="Nunito"/>
                    <a:cs typeface="Nunito"/>
                    <a:sym typeface="Nunito"/>
                  </a:rPr>
                  <a:t>V 39</a:t>
                </a:r>
                <a:endParaRPr sz="8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186" name="Google Shape;186;g3933d8000ae_0_6"/>
            <p:cNvGrpSpPr/>
            <p:nvPr/>
          </p:nvGrpSpPr>
          <p:grpSpPr>
            <a:xfrm>
              <a:off x="914400" y="4673177"/>
              <a:ext cx="567919" cy="211800"/>
              <a:chOff x="905256" y="2639475"/>
              <a:chExt cx="567919" cy="211800"/>
            </a:xfrm>
          </p:grpSpPr>
          <p:sp>
            <p:nvSpPr>
              <p:cNvPr id="187" name="Google Shape;187;g3933d8000ae_0_6"/>
              <p:cNvSpPr/>
              <p:nvPr/>
            </p:nvSpPr>
            <p:spPr>
              <a:xfrm>
                <a:off x="1240375" y="2639475"/>
                <a:ext cx="232800" cy="211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188" name="Google Shape;188;g3933d8000ae_0_6"/>
              <p:cNvSpPr txBox="1"/>
              <p:nvPr/>
            </p:nvSpPr>
            <p:spPr>
              <a:xfrm>
                <a:off x="905256" y="2696625"/>
                <a:ext cx="457200" cy="1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2"/>
                    </a:solidFill>
                    <a:latin typeface="Nunito"/>
                    <a:ea typeface="Nunito"/>
                    <a:cs typeface="Nunito"/>
                    <a:sym typeface="Nunito"/>
                  </a:rPr>
                  <a:t>V 40</a:t>
                </a:r>
                <a:endParaRPr sz="8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189" name="Google Shape;189;g3933d8000ae_0_6"/>
            <p:cNvGrpSpPr/>
            <p:nvPr/>
          </p:nvGrpSpPr>
          <p:grpSpPr>
            <a:xfrm>
              <a:off x="2441448" y="2405380"/>
              <a:ext cx="365700" cy="365595"/>
              <a:chOff x="1188373" y="2485680"/>
              <a:chExt cx="365700" cy="365595"/>
            </a:xfrm>
          </p:grpSpPr>
          <p:sp>
            <p:nvSpPr>
              <p:cNvPr id="190" name="Google Shape;190;g3933d8000ae_0_6"/>
              <p:cNvSpPr/>
              <p:nvPr/>
            </p:nvSpPr>
            <p:spPr>
              <a:xfrm>
                <a:off x="1240375" y="2639475"/>
                <a:ext cx="232800" cy="211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191" name="Google Shape;191;g3933d8000ae_0_6"/>
              <p:cNvSpPr txBox="1"/>
              <p:nvPr/>
            </p:nvSpPr>
            <p:spPr>
              <a:xfrm>
                <a:off x="1188373" y="2485680"/>
                <a:ext cx="365700" cy="1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2"/>
                    </a:solidFill>
                    <a:latin typeface="Nunito"/>
                    <a:ea typeface="Nunito"/>
                    <a:cs typeface="Nunito"/>
                    <a:sym typeface="Nunito"/>
                  </a:rPr>
                  <a:t>a11</a:t>
                </a:r>
                <a:endParaRPr sz="8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sp>
          <p:nvSpPr>
            <p:cNvPr id="192" name="Google Shape;192;g3933d8000ae_0_6"/>
            <p:cNvSpPr txBox="1"/>
            <p:nvPr/>
          </p:nvSpPr>
          <p:spPr>
            <a:xfrm>
              <a:off x="2468880" y="2780284"/>
              <a:ext cx="3657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rPr>
                <a:t>a12</a:t>
              </a:r>
              <a:endParaRPr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grpSp>
          <p:nvGrpSpPr>
            <p:cNvPr id="193" name="Google Shape;193;g3933d8000ae_0_6"/>
            <p:cNvGrpSpPr/>
            <p:nvPr/>
          </p:nvGrpSpPr>
          <p:grpSpPr>
            <a:xfrm>
              <a:off x="2450592" y="3634740"/>
              <a:ext cx="420600" cy="348960"/>
              <a:chOff x="1194655" y="2502315"/>
              <a:chExt cx="420600" cy="348960"/>
            </a:xfrm>
          </p:grpSpPr>
          <p:sp>
            <p:nvSpPr>
              <p:cNvPr id="194" name="Google Shape;194;g3933d8000ae_0_6"/>
              <p:cNvSpPr/>
              <p:nvPr/>
            </p:nvSpPr>
            <p:spPr>
              <a:xfrm>
                <a:off x="1240375" y="2639475"/>
                <a:ext cx="232800" cy="211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195" name="Google Shape;195;g3933d8000ae_0_6"/>
              <p:cNvSpPr txBox="1"/>
              <p:nvPr/>
            </p:nvSpPr>
            <p:spPr>
              <a:xfrm>
                <a:off x="1194655" y="2502315"/>
                <a:ext cx="420600" cy="1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2"/>
                    </a:solidFill>
                    <a:latin typeface="Nunito"/>
                    <a:ea typeface="Nunito"/>
                    <a:cs typeface="Nunito"/>
                    <a:sym typeface="Nunito"/>
                  </a:rPr>
                  <a:t>a112</a:t>
                </a:r>
                <a:endParaRPr sz="8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196" name="Google Shape;196;g3933d8000ae_0_6"/>
            <p:cNvGrpSpPr/>
            <p:nvPr/>
          </p:nvGrpSpPr>
          <p:grpSpPr>
            <a:xfrm>
              <a:off x="2450592" y="4008120"/>
              <a:ext cx="420600" cy="332325"/>
              <a:chOff x="1191793" y="2518950"/>
              <a:chExt cx="420600" cy="332325"/>
            </a:xfrm>
          </p:grpSpPr>
          <p:sp>
            <p:nvSpPr>
              <p:cNvPr id="197" name="Google Shape;197;g3933d8000ae_0_6"/>
              <p:cNvSpPr/>
              <p:nvPr/>
            </p:nvSpPr>
            <p:spPr>
              <a:xfrm>
                <a:off x="1240375" y="2639475"/>
                <a:ext cx="232800" cy="211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198" name="Google Shape;198;g3933d8000ae_0_6"/>
              <p:cNvSpPr txBox="1"/>
              <p:nvPr/>
            </p:nvSpPr>
            <p:spPr>
              <a:xfrm>
                <a:off x="1191793" y="2518950"/>
                <a:ext cx="420600" cy="1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2"/>
                    </a:solidFill>
                    <a:latin typeface="Nunito"/>
                    <a:ea typeface="Nunito"/>
                    <a:cs typeface="Nunito"/>
                    <a:sym typeface="Nunito"/>
                  </a:rPr>
                  <a:t>a113</a:t>
                </a:r>
                <a:endParaRPr sz="8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199" name="Google Shape;199;g3933d8000ae_0_6"/>
            <p:cNvGrpSpPr/>
            <p:nvPr/>
          </p:nvGrpSpPr>
          <p:grpSpPr>
            <a:xfrm>
              <a:off x="1024890" y="3263900"/>
              <a:ext cx="467335" cy="211800"/>
              <a:chOff x="1005840" y="2639475"/>
              <a:chExt cx="467335" cy="211800"/>
            </a:xfrm>
          </p:grpSpPr>
          <p:sp>
            <p:nvSpPr>
              <p:cNvPr id="200" name="Google Shape;200;g3933d8000ae_0_6"/>
              <p:cNvSpPr/>
              <p:nvPr/>
            </p:nvSpPr>
            <p:spPr>
              <a:xfrm>
                <a:off x="1240375" y="2639475"/>
                <a:ext cx="232800" cy="211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201" name="Google Shape;201;g3933d8000ae_0_6"/>
              <p:cNvSpPr txBox="1"/>
              <p:nvPr/>
            </p:nvSpPr>
            <p:spPr>
              <a:xfrm>
                <a:off x="1005840" y="2696625"/>
                <a:ext cx="365700" cy="1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2"/>
                    </a:solidFill>
                    <a:latin typeface="Nunito"/>
                    <a:ea typeface="Nunito"/>
                    <a:cs typeface="Nunito"/>
                    <a:sym typeface="Nunito"/>
                  </a:rPr>
                  <a:t>v4</a:t>
                </a:r>
                <a:endParaRPr sz="8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202" name="Google Shape;202;g3933d8000ae_0_6"/>
            <p:cNvGrpSpPr/>
            <p:nvPr/>
          </p:nvGrpSpPr>
          <p:grpSpPr>
            <a:xfrm>
              <a:off x="908050" y="3864187"/>
              <a:ext cx="567919" cy="211800"/>
              <a:chOff x="905256" y="2639475"/>
              <a:chExt cx="567919" cy="211800"/>
            </a:xfrm>
          </p:grpSpPr>
          <p:sp>
            <p:nvSpPr>
              <p:cNvPr id="203" name="Google Shape;203;g3933d8000ae_0_6"/>
              <p:cNvSpPr/>
              <p:nvPr/>
            </p:nvSpPr>
            <p:spPr>
              <a:xfrm>
                <a:off x="1240375" y="2639475"/>
                <a:ext cx="232800" cy="211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204" name="Google Shape;204;g3933d8000ae_0_6"/>
              <p:cNvSpPr txBox="1"/>
              <p:nvPr/>
            </p:nvSpPr>
            <p:spPr>
              <a:xfrm>
                <a:off x="905256" y="2696625"/>
                <a:ext cx="457200" cy="1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2"/>
                    </a:solidFill>
                    <a:latin typeface="Nunito"/>
                    <a:ea typeface="Nunito"/>
                    <a:cs typeface="Nunito"/>
                    <a:sym typeface="Nunito"/>
                  </a:rPr>
                  <a:t>V 37</a:t>
                </a:r>
                <a:endParaRPr sz="8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205" name="Google Shape;205;g3933d8000ae_0_6"/>
            <p:cNvGrpSpPr/>
            <p:nvPr/>
          </p:nvGrpSpPr>
          <p:grpSpPr>
            <a:xfrm>
              <a:off x="2456942" y="4395470"/>
              <a:ext cx="420600" cy="332325"/>
              <a:chOff x="1191793" y="2518950"/>
              <a:chExt cx="420600" cy="332325"/>
            </a:xfrm>
          </p:grpSpPr>
          <p:sp>
            <p:nvSpPr>
              <p:cNvPr id="206" name="Google Shape;206;g3933d8000ae_0_6"/>
              <p:cNvSpPr/>
              <p:nvPr/>
            </p:nvSpPr>
            <p:spPr>
              <a:xfrm>
                <a:off x="1240375" y="2639475"/>
                <a:ext cx="232800" cy="211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207" name="Google Shape;207;g3933d8000ae_0_6"/>
              <p:cNvSpPr txBox="1"/>
              <p:nvPr/>
            </p:nvSpPr>
            <p:spPr>
              <a:xfrm>
                <a:off x="1191793" y="2518950"/>
                <a:ext cx="420600" cy="1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2"/>
                    </a:solidFill>
                    <a:latin typeface="Nunito"/>
                    <a:ea typeface="Nunito"/>
                    <a:cs typeface="Nunito"/>
                    <a:sym typeface="Nunito"/>
                  </a:rPr>
                  <a:t>a114</a:t>
                </a:r>
                <a:endParaRPr sz="8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grpSp>
          <p:nvGrpSpPr>
            <p:cNvPr id="208" name="Google Shape;208;g3933d8000ae_0_6"/>
            <p:cNvGrpSpPr/>
            <p:nvPr/>
          </p:nvGrpSpPr>
          <p:grpSpPr>
            <a:xfrm>
              <a:off x="2450592" y="3120390"/>
              <a:ext cx="365700" cy="348960"/>
              <a:chOff x="1194655" y="2502315"/>
              <a:chExt cx="365700" cy="348960"/>
            </a:xfrm>
          </p:grpSpPr>
          <p:sp>
            <p:nvSpPr>
              <p:cNvPr id="209" name="Google Shape;209;g3933d8000ae_0_6"/>
              <p:cNvSpPr/>
              <p:nvPr/>
            </p:nvSpPr>
            <p:spPr>
              <a:xfrm>
                <a:off x="1240375" y="2639475"/>
                <a:ext cx="232800" cy="211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  <p:sp>
            <p:nvSpPr>
              <p:cNvPr id="210" name="Google Shape;210;g3933d8000ae_0_6"/>
              <p:cNvSpPr txBox="1"/>
              <p:nvPr/>
            </p:nvSpPr>
            <p:spPr>
              <a:xfrm>
                <a:off x="1194655" y="2502315"/>
                <a:ext cx="365700" cy="12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>
                    <a:solidFill>
                      <a:schemeClr val="dk2"/>
                    </a:solidFill>
                    <a:latin typeface="Nunito"/>
                    <a:ea typeface="Nunito"/>
                    <a:cs typeface="Nunito"/>
                    <a:sym typeface="Nunito"/>
                  </a:rPr>
                  <a:t>a13</a:t>
                </a:r>
                <a:endParaRPr sz="8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endParaRPr>
              </a:p>
            </p:txBody>
          </p:sp>
        </p:grpSp>
        <p:sp>
          <p:nvSpPr>
            <p:cNvPr id="211" name="Google Shape;211;g3933d8000ae_0_6"/>
            <p:cNvSpPr txBox="1"/>
            <p:nvPr/>
          </p:nvSpPr>
          <p:spPr>
            <a:xfrm>
              <a:off x="3618230" y="2869184"/>
              <a:ext cx="3657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rPr>
                <a:t>a21</a:t>
              </a:r>
              <a:endParaRPr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12" name="Google Shape;212;g3933d8000ae_0_6"/>
            <p:cNvSpPr/>
            <p:nvPr/>
          </p:nvSpPr>
          <p:spPr>
            <a:xfrm>
              <a:off x="4756912" y="3606500"/>
              <a:ext cx="232800" cy="211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cxnSp>
          <p:nvCxnSpPr>
            <p:cNvPr id="213" name="Google Shape;213;g3933d8000ae_0_6"/>
            <p:cNvCxnSpPr>
              <a:endCxn id="190" idx="2"/>
            </p:cNvCxnSpPr>
            <p:nvPr/>
          </p:nvCxnSpPr>
          <p:spPr>
            <a:xfrm>
              <a:off x="1473150" y="2535775"/>
              <a:ext cx="1020300" cy="12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4" name="Google Shape;214;g3933d8000ae_0_6"/>
            <p:cNvCxnSpPr>
              <a:stCxn id="172" idx="6"/>
              <a:endCxn id="215" idx="2"/>
            </p:cNvCxnSpPr>
            <p:nvPr/>
          </p:nvCxnSpPr>
          <p:spPr>
            <a:xfrm>
              <a:off x="1473175" y="2535825"/>
              <a:ext cx="1023000" cy="460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6" name="Google Shape;216;g3933d8000ae_0_6"/>
            <p:cNvCxnSpPr>
              <a:endCxn id="209" idx="2"/>
            </p:cNvCxnSpPr>
            <p:nvPr/>
          </p:nvCxnSpPr>
          <p:spPr>
            <a:xfrm>
              <a:off x="1473312" y="2535750"/>
              <a:ext cx="1023000" cy="82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7" name="Google Shape;217;g3933d8000ae_0_6"/>
            <p:cNvCxnSpPr>
              <a:stCxn id="172" idx="6"/>
              <a:endCxn id="194" idx="2"/>
            </p:cNvCxnSpPr>
            <p:nvPr/>
          </p:nvCxnSpPr>
          <p:spPr>
            <a:xfrm>
              <a:off x="1473175" y="2535825"/>
              <a:ext cx="1023000" cy="134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8" name="Google Shape;218;g3933d8000ae_0_6"/>
            <p:cNvCxnSpPr>
              <a:endCxn id="197" idx="2"/>
            </p:cNvCxnSpPr>
            <p:nvPr/>
          </p:nvCxnSpPr>
          <p:spPr>
            <a:xfrm>
              <a:off x="1473174" y="2535945"/>
              <a:ext cx="1026000" cy="1698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19" name="Google Shape;219;g3933d8000ae_0_6"/>
            <p:cNvCxnSpPr>
              <a:stCxn id="172" idx="6"/>
              <a:endCxn id="206" idx="3"/>
            </p:cNvCxnSpPr>
            <p:nvPr/>
          </p:nvCxnSpPr>
          <p:spPr>
            <a:xfrm>
              <a:off x="1473175" y="2535825"/>
              <a:ext cx="1066500" cy="2160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0" name="Google Shape;220;g3933d8000ae_0_6"/>
            <p:cNvCxnSpPr>
              <a:endCxn id="190" idx="2"/>
            </p:cNvCxnSpPr>
            <p:nvPr/>
          </p:nvCxnSpPr>
          <p:spPr>
            <a:xfrm flipH="1" rot="10800000">
              <a:off x="1473150" y="2665075"/>
              <a:ext cx="1020300" cy="150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1" name="Google Shape;221;g3933d8000ae_0_6"/>
            <p:cNvCxnSpPr>
              <a:stCxn id="178" idx="6"/>
              <a:endCxn id="215" idx="2"/>
            </p:cNvCxnSpPr>
            <p:nvPr/>
          </p:nvCxnSpPr>
          <p:spPr>
            <a:xfrm flipH="1" rot="10800000">
              <a:off x="1473175" y="2995950"/>
              <a:ext cx="1023000" cy="10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2" name="Google Shape;222;g3933d8000ae_0_6"/>
            <p:cNvCxnSpPr>
              <a:stCxn id="175" idx="6"/>
              <a:endCxn id="215" idx="2"/>
            </p:cNvCxnSpPr>
            <p:nvPr/>
          </p:nvCxnSpPr>
          <p:spPr>
            <a:xfrm>
              <a:off x="1473175" y="2815225"/>
              <a:ext cx="1023000" cy="180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3" name="Google Shape;223;g3933d8000ae_0_6"/>
            <p:cNvCxnSpPr>
              <a:endCxn id="209" idx="2"/>
            </p:cNvCxnSpPr>
            <p:nvPr/>
          </p:nvCxnSpPr>
          <p:spPr>
            <a:xfrm>
              <a:off x="1473312" y="2815350"/>
              <a:ext cx="1023000" cy="54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4" name="Google Shape;224;g3933d8000ae_0_6"/>
            <p:cNvCxnSpPr>
              <a:stCxn id="175" idx="6"/>
              <a:endCxn id="194" idx="2"/>
            </p:cNvCxnSpPr>
            <p:nvPr/>
          </p:nvCxnSpPr>
          <p:spPr>
            <a:xfrm>
              <a:off x="1473175" y="2815225"/>
              <a:ext cx="1023000" cy="1062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5" name="Google Shape;225;g3933d8000ae_0_6"/>
            <p:cNvCxnSpPr>
              <a:stCxn id="175" idx="6"/>
              <a:endCxn id="197" idx="2"/>
            </p:cNvCxnSpPr>
            <p:nvPr/>
          </p:nvCxnSpPr>
          <p:spPr>
            <a:xfrm>
              <a:off x="1473175" y="2815225"/>
              <a:ext cx="1026000" cy="141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6" name="Google Shape;226;g3933d8000ae_0_6"/>
            <p:cNvCxnSpPr>
              <a:endCxn id="206" idx="2"/>
            </p:cNvCxnSpPr>
            <p:nvPr/>
          </p:nvCxnSpPr>
          <p:spPr>
            <a:xfrm>
              <a:off x="1473224" y="2815295"/>
              <a:ext cx="1032300" cy="1806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7" name="Google Shape;227;g3933d8000ae_0_6"/>
            <p:cNvCxnSpPr>
              <a:stCxn id="178" idx="6"/>
              <a:endCxn id="190" idx="2"/>
            </p:cNvCxnSpPr>
            <p:nvPr/>
          </p:nvCxnSpPr>
          <p:spPr>
            <a:xfrm flipH="1" rot="10800000">
              <a:off x="1473175" y="2665050"/>
              <a:ext cx="1020300" cy="431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8" name="Google Shape;228;g3933d8000ae_0_6"/>
            <p:cNvCxnSpPr>
              <a:endCxn id="209" idx="2"/>
            </p:cNvCxnSpPr>
            <p:nvPr/>
          </p:nvCxnSpPr>
          <p:spPr>
            <a:xfrm>
              <a:off x="1473312" y="3096750"/>
              <a:ext cx="1023000" cy="266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29" name="Google Shape;229;g3933d8000ae_0_6"/>
            <p:cNvCxnSpPr>
              <a:stCxn id="178" idx="6"/>
              <a:endCxn id="194" idx="2"/>
            </p:cNvCxnSpPr>
            <p:nvPr/>
          </p:nvCxnSpPr>
          <p:spPr>
            <a:xfrm>
              <a:off x="1473175" y="3096750"/>
              <a:ext cx="1023000" cy="78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0" name="Google Shape;230;g3933d8000ae_0_6"/>
            <p:cNvCxnSpPr>
              <a:endCxn id="197" idx="2"/>
            </p:cNvCxnSpPr>
            <p:nvPr/>
          </p:nvCxnSpPr>
          <p:spPr>
            <a:xfrm>
              <a:off x="1473174" y="3096645"/>
              <a:ext cx="1026000" cy="1137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1" name="Google Shape;231;g3933d8000ae_0_6"/>
            <p:cNvCxnSpPr>
              <a:stCxn id="178" idx="6"/>
              <a:endCxn id="206" idx="2"/>
            </p:cNvCxnSpPr>
            <p:nvPr/>
          </p:nvCxnSpPr>
          <p:spPr>
            <a:xfrm>
              <a:off x="1473175" y="3096750"/>
              <a:ext cx="1032300" cy="152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2" name="Google Shape;232;g3933d8000ae_0_6"/>
            <p:cNvCxnSpPr>
              <a:endCxn id="190" idx="2"/>
            </p:cNvCxnSpPr>
            <p:nvPr/>
          </p:nvCxnSpPr>
          <p:spPr>
            <a:xfrm flipH="1" rot="10800000">
              <a:off x="1492350" y="2665075"/>
              <a:ext cx="1001100" cy="70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3" name="Google Shape;233;g3933d8000ae_0_6"/>
            <p:cNvCxnSpPr/>
            <p:nvPr/>
          </p:nvCxnSpPr>
          <p:spPr>
            <a:xfrm flipH="1" rot="10800000">
              <a:off x="1492225" y="3003800"/>
              <a:ext cx="1002600" cy="366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4" name="Google Shape;234;g3933d8000ae_0_6"/>
            <p:cNvCxnSpPr>
              <a:endCxn id="209" idx="2"/>
            </p:cNvCxnSpPr>
            <p:nvPr/>
          </p:nvCxnSpPr>
          <p:spPr>
            <a:xfrm flipH="1" rot="10800000">
              <a:off x="1492212" y="3363450"/>
              <a:ext cx="1004100" cy="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5" name="Google Shape;235;g3933d8000ae_0_6"/>
            <p:cNvCxnSpPr>
              <a:endCxn id="194" idx="2"/>
            </p:cNvCxnSpPr>
            <p:nvPr/>
          </p:nvCxnSpPr>
          <p:spPr>
            <a:xfrm>
              <a:off x="1492212" y="3369900"/>
              <a:ext cx="1004100" cy="507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6" name="Google Shape;236;g3933d8000ae_0_6"/>
            <p:cNvCxnSpPr>
              <a:endCxn id="197" idx="2"/>
            </p:cNvCxnSpPr>
            <p:nvPr/>
          </p:nvCxnSpPr>
          <p:spPr>
            <a:xfrm>
              <a:off x="1492374" y="3369945"/>
              <a:ext cx="1006800" cy="86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7" name="Google Shape;237;g3933d8000ae_0_6"/>
            <p:cNvCxnSpPr>
              <a:stCxn id="200" idx="6"/>
              <a:endCxn id="206" idx="2"/>
            </p:cNvCxnSpPr>
            <p:nvPr/>
          </p:nvCxnSpPr>
          <p:spPr>
            <a:xfrm>
              <a:off x="1492225" y="3369800"/>
              <a:ext cx="1013400" cy="1252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8" name="Google Shape;238;g3933d8000ae_0_6"/>
            <p:cNvCxnSpPr>
              <a:stCxn id="203" idx="6"/>
              <a:endCxn id="190" idx="2"/>
            </p:cNvCxnSpPr>
            <p:nvPr/>
          </p:nvCxnSpPr>
          <p:spPr>
            <a:xfrm flipH="1" rot="10800000">
              <a:off x="1475969" y="2665087"/>
              <a:ext cx="1017600" cy="1305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39" name="Google Shape;239;g3933d8000ae_0_6"/>
            <p:cNvCxnSpPr>
              <a:stCxn id="203" idx="6"/>
              <a:endCxn id="194" idx="2"/>
            </p:cNvCxnSpPr>
            <p:nvPr/>
          </p:nvCxnSpPr>
          <p:spPr>
            <a:xfrm flipH="1" rot="10800000">
              <a:off x="1475969" y="3877687"/>
              <a:ext cx="1020300" cy="92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0" name="Google Shape;240;g3933d8000ae_0_6"/>
            <p:cNvCxnSpPr/>
            <p:nvPr/>
          </p:nvCxnSpPr>
          <p:spPr>
            <a:xfrm flipH="1" rot="10800000">
              <a:off x="1475969" y="3028087"/>
              <a:ext cx="973200" cy="94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1" name="Google Shape;241;g3933d8000ae_0_6"/>
            <p:cNvCxnSpPr>
              <a:stCxn id="203" idx="6"/>
              <a:endCxn id="209" idx="2"/>
            </p:cNvCxnSpPr>
            <p:nvPr/>
          </p:nvCxnSpPr>
          <p:spPr>
            <a:xfrm flipH="1" rot="10800000">
              <a:off x="1475969" y="3363487"/>
              <a:ext cx="1020300" cy="606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2" name="Google Shape;242;g3933d8000ae_0_6"/>
            <p:cNvCxnSpPr>
              <a:stCxn id="203" idx="6"/>
              <a:endCxn id="197" idx="2"/>
            </p:cNvCxnSpPr>
            <p:nvPr/>
          </p:nvCxnSpPr>
          <p:spPr>
            <a:xfrm>
              <a:off x="1475969" y="3970087"/>
              <a:ext cx="1023300" cy="26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3" name="Google Shape;243;g3933d8000ae_0_6"/>
            <p:cNvCxnSpPr>
              <a:stCxn id="206" idx="2"/>
              <a:endCxn id="203" idx="6"/>
            </p:cNvCxnSpPr>
            <p:nvPr/>
          </p:nvCxnSpPr>
          <p:spPr>
            <a:xfrm rot="10800000">
              <a:off x="1475924" y="3969995"/>
              <a:ext cx="1029600" cy="651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44" name="Google Shape;244;g3933d8000ae_0_6"/>
            <p:cNvCxnSpPr>
              <a:stCxn id="181" idx="6"/>
              <a:endCxn id="190" idx="2"/>
            </p:cNvCxnSpPr>
            <p:nvPr/>
          </p:nvCxnSpPr>
          <p:spPr>
            <a:xfrm flipH="1" rot="10800000">
              <a:off x="1482319" y="2664987"/>
              <a:ext cx="1011000" cy="1559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5" name="Google Shape;245;g3933d8000ae_0_6"/>
            <p:cNvCxnSpPr/>
            <p:nvPr/>
          </p:nvCxnSpPr>
          <p:spPr>
            <a:xfrm flipH="1" rot="10800000">
              <a:off x="1482319" y="3028287"/>
              <a:ext cx="997200" cy="1195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6" name="Google Shape;246;g3933d8000ae_0_6"/>
            <p:cNvCxnSpPr>
              <a:endCxn id="209" idx="2"/>
            </p:cNvCxnSpPr>
            <p:nvPr/>
          </p:nvCxnSpPr>
          <p:spPr>
            <a:xfrm flipH="1" rot="10800000">
              <a:off x="1482312" y="3363450"/>
              <a:ext cx="1014000" cy="860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7" name="Google Shape;247;g3933d8000ae_0_6"/>
            <p:cNvCxnSpPr>
              <a:stCxn id="181" idx="6"/>
              <a:endCxn id="194" idx="2"/>
            </p:cNvCxnSpPr>
            <p:nvPr/>
          </p:nvCxnSpPr>
          <p:spPr>
            <a:xfrm flipH="1" rot="10800000">
              <a:off x="1482319" y="3877887"/>
              <a:ext cx="1014000" cy="346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8" name="Google Shape;248;g3933d8000ae_0_6"/>
            <p:cNvCxnSpPr>
              <a:stCxn id="181" idx="6"/>
              <a:endCxn id="197" idx="2"/>
            </p:cNvCxnSpPr>
            <p:nvPr/>
          </p:nvCxnSpPr>
          <p:spPr>
            <a:xfrm>
              <a:off x="1482319" y="4224087"/>
              <a:ext cx="1017000" cy="10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49" name="Google Shape;249;g3933d8000ae_0_6"/>
            <p:cNvCxnSpPr>
              <a:endCxn id="206" idx="2"/>
            </p:cNvCxnSpPr>
            <p:nvPr/>
          </p:nvCxnSpPr>
          <p:spPr>
            <a:xfrm>
              <a:off x="1482224" y="4224095"/>
              <a:ext cx="1023300" cy="397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0" name="Google Shape;250;g3933d8000ae_0_6"/>
            <p:cNvCxnSpPr>
              <a:endCxn id="190" idx="2"/>
            </p:cNvCxnSpPr>
            <p:nvPr/>
          </p:nvCxnSpPr>
          <p:spPr>
            <a:xfrm flipH="1" rot="10800000">
              <a:off x="1482450" y="2665075"/>
              <a:ext cx="1011000" cy="183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1" name="Google Shape;251;g3933d8000ae_0_6"/>
            <p:cNvCxnSpPr>
              <a:stCxn id="184" idx="6"/>
            </p:cNvCxnSpPr>
            <p:nvPr/>
          </p:nvCxnSpPr>
          <p:spPr>
            <a:xfrm flipH="1" rot="10800000">
              <a:off x="1482319" y="2997652"/>
              <a:ext cx="1020000" cy="149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2" name="Google Shape;252;g3933d8000ae_0_6"/>
            <p:cNvCxnSpPr>
              <a:stCxn id="184" idx="6"/>
              <a:endCxn id="209" idx="2"/>
            </p:cNvCxnSpPr>
            <p:nvPr/>
          </p:nvCxnSpPr>
          <p:spPr>
            <a:xfrm flipH="1" rot="10800000">
              <a:off x="1482319" y="3363352"/>
              <a:ext cx="1014000" cy="1133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3" name="Google Shape;253;g3933d8000ae_0_6"/>
            <p:cNvCxnSpPr>
              <a:endCxn id="194" idx="2"/>
            </p:cNvCxnSpPr>
            <p:nvPr/>
          </p:nvCxnSpPr>
          <p:spPr>
            <a:xfrm flipH="1" rot="10800000">
              <a:off x="1482312" y="3877800"/>
              <a:ext cx="1014000" cy="619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4" name="Google Shape;254;g3933d8000ae_0_6"/>
            <p:cNvCxnSpPr>
              <a:endCxn id="197" idx="2"/>
            </p:cNvCxnSpPr>
            <p:nvPr/>
          </p:nvCxnSpPr>
          <p:spPr>
            <a:xfrm flipH="1" rot="10800000">
              <a:off x="1482174" y="4234545"/>
              <a:ext cx="1017000" cy="26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5" name="Google Shape;255;g3933d8000ae_0_6"/>
            <p:cNvCxnSpPr>
              <a:endCxn id="206" idx="2"/>
            </p:cNvCxnSpPr>
            <p:nvPr/>
          </p:nvCxnSpPr>
          <p:spPr>
            <a:xfrm>
              <a:off x="1482224" y="4497095"/>
              <a:ext cx="1023300" cy="124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6" name="Google Shape;256;g3933d8000ae_0_6"/>
            <p:cNvCxnSpPr>
              <a:stCxn id="187" idx="6"/>
              <a:endCxn id="190" idx="2"/>
            </p:cNvCxnSpPr>
            <p:nvPr/>
          </p:nvCxnSpPr>
          <p:spPr>
            <a:xfrm flipH="1" rot="10800000">
              <a:off x="1482319" y="2664977"/>
              <a:ext cx="1011000" cy="2114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7" name="Google Shape;257;g3933d8000ae_0_6"/>
            <p:cNvCxnSpPr>
              <a:endCxn id="187" idx="6"/>
            </p:cNvCxnSpPr>
            <p:nvPr/>
          </p:nvCxnSpPr>
          <p:spPr>
            <a:xfrm flipH="1">
              <a:off x="1482319" y="3012977"/>
              <a:ext cx="1012500" cy="1766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triangle"/>
              <a:tailEnd len="med" w="med" type="none"/>
            </a:ln>
          </p:spPr>
        </p:cxnSp>
        <p:cxnSp>
          <p:nvCxnSpPr>
            <p:cNvPr id="258" name="Google Shape;258;g3933d8000ae_0_6"/>
            <p:cNvCxnSpPr>
              <a:stCxn id="187" idx="6"/>
              <a:endCxn id="209" idx="2"/>
            </p:cNvCxnSpPr>
            <p:nvPr/>
          </p:nvCxnSpPr>
          <p:spPr>
            <a:xfrm flipH="1" rot="10800000">
              <a:off x="1482319" y="3363377"/>
              <a:ext cx="1014000" cy="1415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59" name="Google Shape;259;g3933d8000ae_0_6"/>
            <p:cNvCxnSpPr>
              <a:stCxn id="187" idx="6"/>
              <a:endCxn id="194" idx="2"/>
            </p:cNvCxnSpPr>
            <p:nvPr/>
          </p:nvCxnSpPr>
          <p:spPr>
            <a:xfrm flipH="1" rot="10800000">
              <a:off x="1482319" y="3877877"/>
              <a:ext cx="1014000" cy="901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0" name="Google Shape;260;g3933d8000ae_0_6"/>
            <p:cNvCxnSpPr>
              <a:stCxn id="187" idx="6"/>
              <a:endCxn id="197" idx="2"/>
            </p:cNvCxnSpPr>
            <p:nvPr/>
          </p:nvCxnSpPr>
          <p:spPr>
            <a:xfrm flipH="1" rot="10800000">
              <a:off x="1482319" y="4234577"/>
              <a:ext cx="1017000" cy="54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1" name="Google Shape;261;g3933d8000ae_0_6"/>
            <p:cNvCxnSpPr>
              <a:stCxn id="187" idx="6"/>
              <a:endCxn id="206" idx="2"/>
            </p:cNvCxnSpPr>
            <p:nvPr/>
          </p:nvCxnSpPr>
          <p:spPr>
            <a:xfrm flipH="1" rot="10800000">
              <a:off x="1482319" y="4621877"/>
              <a:ext cx="1023300" cy="15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2" name="Google Shape;262;g3933d8000ae_0_6"/>
            <p:cNvCxnSpPr/>
            <p:nvPr/>
          </p:nvCxnSpPr>
          <p:spPr>
            <a:xfrm>
              <a:off x="2726250" y="2665075"/>
              <a:ext cx="942000" cy="41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15" name="Google Shape;215;g3933d8000ae_0_6"/>
            <p:cNvSpPr/>
            <p:nvPr/>
          </p:nvSpPr>
          <p:spPr>
            <a:xfrm>
              <a:off x="2496312" y="2890012"/>
              <a:ext cx="232800" cy="211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cxnSp>
          <p:nvCxnSpPr>
            <p:cNvPr id="263" name="Google Shape;263;g3933d8000ae_0_6"/>
            <p:cNvCxnSpPr>
              <a:stCxn id="215" idx="6"/>
            </p:cNvCxnSpPr>
            <p:nvPr/>
          </p:nvCxnSpPr>
          <p:spPr>
            <a:xfrm>
              <a:off x="2729112" y="2995912"/>
              <a:ext cx="916200" cy="87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4" name="Google Shape;264;g3933d8000ae_0_6"/>
            <p:cNvSpPr/>
            <p:nvPr/>
          </p:nvSpPr>
          <p:spPr>
            <a:xfrm>
              <a:off x="3645662" y="2978912"/>
              <a:ext cx="232800" cy="211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cxnSp>
          <p:nvCxnSpPr>
            <p:cNvPr id="265" name="Google Shape;265;g3933d8000ae_0_6"/>
            <p:cNvCxnSpPr>
              <a:endCxn id="264" idx="2"/>
            </p:cNvCxnSpPr>
            <p:nvPr/>
          </p:nvCxnSpPr>
          <p:spPr>
            <a:xfrm flipH="1" rot="10800000">
              <a:off x="2729162" y="3084812"/>
              <a:ext cx="916500" cy="27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6" name="Google Shape;266;g3933d8000ae_0_6"/>
            <p:cNvCxnSpPr>
              <a:endCxn id="264" idx="2"/>
            </p:cNvCxnSpPr>
            <p:nvPr/>
          </p:nvCxnSpPr>
          <p:spPr>
            <a:xfrm flipH="1" rot="10800000">
              <a:off x="2729162" y="3084812"/>
              <a:ext cx="916500" cy="792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7" name="Google Shape;267;g3933d8000ae_0_6"/>
            <p:cNvCxnSpPr>
              <a:endCxn id="264" idx="2"/>
            </p:cNvCxnSpPr>
            <p:nvPr/>
          </p:nvCxnSpPr>
          <p:spPr>
            <a:xfrm flipH="1" rot="10800000">
              <a:off x="2731862" y="3084812"/>
              <a:ext cx="913800" cy="1149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68" name="Google Shape;268;g3933d8000ae_0_6"/>
            <p:cNvCxnSpPr>
              <a:endCxn id="264" idx="2"/>
            </p:cNvCxnSpPr>
            <p:nvPr/>
          </p:nvCxnSpPr>
          <p:spPr>
            <a:xfrm flipH="1" rot="10800000">
              <a:off x="2738462" y="3084812"/>
              <a:ext cx="907200" cy="153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69" name="Google Shape;269;g3933d8000ae_0_6"/>
            <p:cNvSpPr/>
            <p:nvPr/>
          </p:nvSpPr>
          <p:spPr>
            <a:xfrm>
              <a:off x="3645662" y="3346450"/>
              <a:ext cx="232800" cy="211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70" name="Google Shape;270;g3933d8000ae_0_6"/>
            <p:cNvSpPr txBox="1"/>
            <p:nvPr/>
          </p:nvSpPr>
          <p:spPr>
            <a:xfrm>
              <a:off x="3599942" y="3209290"/>
              <a:ext cx="3657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rPr>
                <a:t>a22</a:t>
              </a:r>
              <a:endParaRPr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71" name="Google Shape;271;g3933d8000ae_0_6"/>
            <p:cNvSpPr/>
            <p:nvPr/>
          </p:nvSpPr>
          <p:spPr>
            <a:xfrm>
              <a:off x="3645662" y="3860800"/>
              <a:ext cx="232800" cy="211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72" name="Google Shape;272;g3933d8000ae_0_6"/>
            <p:cNvSpPr txBox="1"/>
            <p:nvPr/>
          </p:nvSpPr>
          <p:spPr>
            <a:xfrm>
              <a:off x="3599942" y="3723640"/>
              <a:ext cx="4206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rPr>
                <a:t>a26</a:t>
              </a:r>
              <a:endParaRPr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73" name="Google Shape;273;g3933d8000ae_0_6"/>
            <p:cNvSpPr/>
            <p:nvPr/>
          </p:nvSpPr>
          <p:spPr>
            <a:xfrm>
              <a:off x="3648524" y="4217545"/>
              <a:ext cx="232800" cy="211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sp>
          <p:nvSpPr>
            <p:cNvPr id="274" name="Google Shape;274;g3933d8000ae_0_6"/>
            <p:cNvSpPr txBox="1"/>
            <p:nvPr/>
          </p:nvSpPr>
          <p:spPr>
            <a:xfrm>
              <a:off x="3599942" y="4097020"/>
              <a:ext cx="420600" cy="12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2"/>
                  </a:solidFill>
                  <a:latin typeface="Nunito"/>
                  <a:ea typeface="Nunito"/>
                  <a:cs typeface="Nunito"/>
                  <a:sym typeface="Nunito"/>
                </a:rPr>
                <a:t>a27</a:t>
              </a:r>
              <a:endParaRPr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endParaRPr>
            </a:p>
          </p:txBody>
        </p:sp>
        <p:cxnSp>
          <p:nvCxnSpPr>
            <p:cNvPr id="275" name="Google Shape;275;g3933d8000ae_0_6"/>
            <p:cNvCxnSpPr>
              <a:endCxn id="273" idx="2"/>
            </p:cNvCxnSpPr>
            <p:nvPr/>
          </p:nvCxnSpPr>
          <p:spPr>
            <a:xfrm flipH="1" rot="10800000">
              <a:off x="2738324" y="4323445"/>
              <a:ext cx="910200" cy="298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76" name="Google Shape;276;g3933d8000ae_0_6"/>
            <p:cNvCxnSpPr>
              <a:endCxn id="273" idx="2"/>
            </p:cNvCxnSpPr>
            <p:nvPr/>
          </p:nvCxnSpPr>
          <p:spPr>
            <a:xfrm>
              <a:off x="2732024" y="4234645"/>
              <a:ext cx="916500" cy="8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77" name="Google Shape;277;g3933d8000ae_0_6"/>
            <p:cNvCxnSpPr>
              <a:stCxn id="194" idx="6"/>
            </p:cNvCxnSpPr>
            <p:nvPr/>
          </p:nvCxnSpPr>
          <p:spPr>
            <a:xfrm>
              <a:off x="2729112" y="3877800"/>
              <a:ext cx="901200" cy="454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78" name="Google Shape;278;g3933d8000ae_0_6"/>
            <p:cNvCxnSpPr/>
            <p:nvPr/>
          </p:nvCxnSpPr>
          <p:spPr>
            <a:xfrm>
              <a:off x="2729112" y="3363450"/>
              <a:ext cx="916200" cy="96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79" name="Google Shape;279;g3933d8000ae_0_6"/>
            <p:cNvCxnSpPr>
              <a:stCxn id="215" idx="6"/>
            </p:cNvCxnSpPr>
            <p:nvPr/>
          </p:nvCxnSpPr>
          <p:spPr>
            <a:xfrm>
              <a:off x="2729112" y="2995912"/>
              <a:ext cx="931500" cy="1329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0" name="Google Shape;280;g3933d8000ae_0_6"/>
            <p:cNvCxnSpPr>
              <a:stCxn id="215" idx="6"/>
              <a:endCxn id="269" idx="2"/>
            </p:cNvCxnSpPr>
            <p:nvPr/>
          </p:nvCxnSpPr>
          <p:spPr>
            <a:xfrm>
              <a:off x="2729112" y="2995912"/>
              <a:ext cx="916500" cy="456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1" name="Google Shape;281;g3933d8000ae_0_6"/>
            <p:cNvCxnSpPr>
              <a:endCxn id="269" idx="2"/>
            </p:cNvCxnSpPr>
            <p:nvPr/>
          </p:nvCxnSpPr>
          <p:spPr>
            <a:xfrm>
              <a:off x="2726162" y="2665150"/>
              <a:ext cx="919500" cy="787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2" name="Google Shape;282;g3933d8000ae_0_6"/>
            <p:cNvCxnSpPr>
              <a:stCxn id="209" idx="6"/>
              <a:endCxn id="271" idx="2"/>
            </p:cNvCxnSpPr>
            <p:nvPr/>
          </p:nvCxnSpPr>
          <p:spPr>
            <a:xfrm>
              <a:off x="2729112" y="3363450"/>
              <a:ext cx="916500" cy="6033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3" name="Google Shape;283;g3933d8000ae_0_6"/>
            <p:cNvCxnSpPr>
              <a:endCxn id="271" idx="2"/>
            </p:cNvCxnSpPr>
            <p:nvPr/>
          </p:nvCxnSpPr>
          <p:spPr>
            <a:xfrm>
              <a:off x="2726162" y="2665000"/>
              <a:ext cx="919500" cy="1301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4" name="Google Shape;284;g3933d8000ae_0_6"/>
            <p:cNvCxnSpPr>
              <a:endCxn id="273" idx="2"/>
            </p:cNvCxnSpPr>
            <p:nvPr/>
          </p:nvCxnSpPr>
          <p:spPr>
            <a:xfrm>
              <a:off x="2726324" y="2665045"/>
              <a:ext cx="922200" cy="165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5" name="Google Shape;285;g3933d8000ae_0_6"/>
            <p:cNvCxnSpPr>
              <a:stCxn id="215" idx="6"/>
              <a:endCxn id="271" idx="2"/>
            </p:cNvCxnSpPr>
            <p:nvPr/>
          </p:nvCxnSpPr>
          <p:spPr>
            <a:xfrm>
              <a:off x="2729112" y="2995912"/>
              <a:ext cx="916500" cy="970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6" name="Google Shape;286;g3933d8000ae_0_6"/>
            <p:cNvCxnSpPr>
              <a:stCxn id="209" idx="6"/>
              <a:endCxn id="269" idx="2"/>
            </p:cNvCxnSpPr>
            <p:nvPr/>
          </p:nvCxnSpPr>
          <p:spPr>
            <a:xfrm>
              <a:off x="2729112" y="3363450"/>
              <a:ext cx="916500" cy="8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7" name="Google Shape;287;g3933d8000ae_0_6"/>
            <p:cNvCxnSpPr>
              <a:stCxn id="194" idx="6"/>
              <a:endCxn id="269" idx="2"/>
            </p:cNvCxnSpPr>
            <p:nvPr/>
          </p:nvCxnSpPr>
          <p:spPr>
            <a:xfrm flipH="1" rot="10800000">
              <a:off x="2729112" y="3452400"/>
              <a:ext cx="916500" cy="425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8" name="Google Shape;288;g3933d8000ae_0_6"/>
            <p:cNvCxnSpPr>
              <a:endCxn id="271" idx="2"/>
            </p:cNvCxnSpPr>
            <p:nvPr/>
          </p:nvCxnSpPr>
          <p:spPr>
            <a:xfrm>
              <a:off x="2729162" y="3877900"/>
              <a:ext cx="916500" cy="88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89" name="Google Shape;289;g3933d8000ae_0_6"/>
            <p:cNvCxnSpPr>
              <a:endCxn id="269" idx="2"/>
            </p:cNvCxnSpPr>
            <p:nvPr/>
          </p:nvCxnSpPr>
          <p:spPr>
            <a:xfrm flipH="1" rot="10800000">
              <a:off x="2731862" y="3452350"/>
              <a:ext cx="913800" cy="782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0" name="Google Shape;290;g3933d8000ae_0_6"/>
            <p:cNvCxnSpPr>
              <a:endCxn id="271" idx="2"/>
            </p:cNvCxnSpPr>
            <p:nvPr/>
          </p:nvCxnSpPr>
          <p:spPr>
            <a:xfrm flipH="1" rot="10800000">
              <a:off x="2731862" y="3966700"/>
              <a:ext cx="913800" cy="267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1" name="Google Shape;291;g3933d8000ae_0_6"/>
            <p:cNvCxnSpPr>
              <a:endCxn id="269" idx="2"/>
            </p:cNvCxnSpPr>
            <p:nvPr/>
          </p:nvCxnSpPr>
          <p:spPr>
            <a:xfrm flipH="1" rot="10800000">
              <a:off x="2738462" y="3452350"/>
              <a:ext cx="907200" cy="116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2" name="Google Shape;292;g3933d8000ae_0_6"/>
            <p:cNvCxnSpPr>
              <a:endCxn id="271" idx="2"/>
            </p:cNvCxnSpPr>
            <p:nvPr/>
          </p:nvCxnSpPr>
          <p:spPr>
            <a:xfrm flipH="1" rot="10800000">
              <a:off x="2738462" y="3966700"/>
              <a:ext cx="907200" cy="65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3" name="Google Shape;293;g3933d8000ae_0_6"/>
            <p:cNvCxnSpPr>
              <a:endCxn id="212" idx="2"/>
            </p:cNvCxnSpPr>
            <p:nvPr/>
          </p:nvCxnSpPr>
          <p:spPr>
            <a:xfrm>
              <a:off x="3878512" y="3084800"/>
              <a:ext cx="878400" cy="62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4" name="Google Shape;294;g3933d8000ae_0_6"/>
            <p:cNvCxnSpPr>
              <a:stCxn id="269" idx="6"/>
              <a:endCxn id="212" idx="2"/>
            </p:cNvCxnSpPr>
            <p:nvPr/>
          </p:nvCxnSpPr>
          <p:spPr>
            <a:xfrm>
              <a:off x="3878462" y="3452350"/>
              <a:ext cx="878400" cy="260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5" name="Google Shape;295;g3933d8000ae_0_6"/>
            <p:cNvCxnSpPr>
              <a:endCxn id="212" idx="2"/>
            </p:cNvCxnSpPr>
            <p:nvPr/>
          </p:nvCxnSpPr>
          <p:spPr>
            <a:xfrm flipH="1" rot="10800000">
              <a:off x="3878512" y="3712400"/>
              <a:ext cx="878400" cy="254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296" name="Google Shape;296;g3933d8000ae_0_6"/>
            <p:cNvCxnSpPr>
              <a:endCxn id="212" idx="2"/>
            </p:cNvCxnSpPr>
            <p:nvPr/>
          </p:nvCxnSpPr>
          <p:spPr>
            <a:xfrm flipH="1" rot="10800000">
              <a:off x="3881212" y="3712400"/>
              <a:ext cx="875700" cy="611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97" name="Google Shape;297;g3933d8000ae_0_6"/>
          <p:cNvSpPr txBox="1"/>
          <p:nvPr/>
        </p:nvSpPr>
        <p:spPr>
          <a:xfrm>
            <a:off x="750575" y="3378625"/>
            <a:ext cx="6552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Input Layer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8" name="Google Shape;298;g3933d8000ae_0_6"/>
          <p:cNvSpPr txBox="1"/>
          <p:nvPr/>
        </p:nvSpPr>
        <p:spPr>
          <a:xfrm>
            <a:off x="2302760" y="2130555"/>
            <a:ext cx="1249800" cy="9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Hidden Layer 1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9" name="Google Shape;299;g3933d8000ae_0_6"/>
          <p:cNvSpPr txBox="1"/>
          <p:nvPr/>
        </p:nvSpPr>
        <p:spPr>
          <a:xfrm>
            <a:off x="3598150" y="2479576"/>
            <a:ext cx="12498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Hidden Layer 2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0" name="Google Shape;300;g3933d8000ae_0_6"/>
          <p:cNvSpPr txBox="1"/>
          <p:nvPr/>
        </p:nvSpPr>
        <p:spPr>
          <a:xfrm>
            <a:off x="4893550" y="3243075"/>
            <a:ext cx="1028700" cy="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Output Layer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01" name="Google Shape;301;g3933d8000ae_0_6"/>
          <p:cNvSpPr txBox="1"/>
          <p:nvPr/>
        </p:nvSpPr>
        <p:spPr>
          <a:xfrm>
            <a:off x="5038325" y="3829800"/>
            <a:ext cx="8076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Output: 0/1</a:t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0: Negative</a:t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1: Positive</a:t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26869b8a79_0_0"/>
          <p:cNvSpPr txBox="1"/>
          <p:nvPr>
            <p:ph type="title"/>
          </p:nvPr>
        </p:nvSpPr>
        <p:spPr>
          <a:xfrm>
            <a:off x="202550" y="14110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Best Model “Model 4” - Test Performance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307" name="Google Shape;307;g326869b8a79_0_0"/>
          <p:cNvSpPr txBox="1"/>
          <p:nvPr>
            <p:ph idx="1" type="body"/>
          </p:nvPr>
        </p:nvSpPr>
        <p:spPr>
          <a:xfrm>
            <a:off x="202550" y="713800"/>
            <a:ext cx="8629800" cy="38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" sz="1400">
                <a:solidFill>
                  <a:srgbClr val="2D3B45"/>
                </a:solidFill>
                <a:highlight>
                  <a:srgbClr val="FFFFFF"/>
                </a:highlight>
              </a:rPr>
              <a:t>Test Results</a:t>
            </a:r>
            <a:r>
              <a:rPr b="1" lang="en" sz="1400">
                <a:solidFill>
                  <a:srgbClr val="000000"/>
                </a:solidFill>
              </a:rPr>
              <a:t>  -</a:t>
            </a:r>
            <a:r>
              <a:rPr b="1" lang="en" sz="1200">
                <a:solidFill>
                  <a:srgbClr val="000000"/>
                </a:solidFill>
              </a:rPr>
              <a:t> </a:t>
            </a:r>
            <a:r>
              <a:rPr lang="en" sz="1200">
                <a:solidFill>
                  <a:srgbClr val="000000"/>
                </a:solidFill>
              </a:rPr>
              <a:t>Model generalizes well on unseen data with no signs of overfitting.</a:t>
            </a: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b="1" lang="en" sz="1200">
                <a:solidFill>
                  <a:srgbClr val="000000"/>
                </a:solidFill>
              </a:rPr>
              <a:t>Accuracy (0.9906):</a:t>
            </a:r>
            <a:r>
              <a:rPr lang="en" sz="1200">
                <a:solidFill>
                  <a:srgbClr val="000000"/>
                </a:solidFill>
              </a:rPr>
              <a:t> The model currently identifies 99% both failures and non-failures.</a:t>
            </a: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b="1" lang="en" sz="1200">
                <a:solidFill>
                  <a:srgbClr val="000000"/>
                </a:solidFill>
              </a:rPr>
              <a:t>Recall </a:t>
            </a:r>
            <a:r>
              <a:rPr b="1" lang="en" sz="1200">
                <a:solidFill>
                  <a:srgbClr val="000000"/>
                </a:solidFill>
              </a:rPr>
              <a:t>(0.9300):</a:t>
            </a:r>
            <a:r>
              <a:rPr lang="en" sz="1200">
                <a:solidFill>
                  <a:srgbClr val="000000"/>
                </a:solidFill>
              </a:rPr>
              <a:t> The model captures 93% of all generator failures.</a:t>
            </a: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b="1" lang="en" sz="1200">
                <a:solidFill>
                  <a:srgbClr val="000000"/>
                </a:solidFill>
              </a:rPr>
              <a:t>Precision (0.9790): </a:t>
            </a:r>
            <a:r>
              <a:rPr lang="en" sz="1200">
                <a:solidFill>
                  <a:srgbClr val="000000"/>
                </a:solidFill>
              </a:rPr>
              <a:t>98% of times model predicts the failures correctly, indicating very low false alarms.</a:t>
            </a:r>
            <a:endParaRPr sz="1200"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b="1" lang="en" sz="1200">
                <a:solidFill>
                  <a:srgbClr val="000000"/>
                </a:solidFill>
              </a:rPr>
              <a:t>F1 Score (0.9534): </a:t>
            </a:r>
            <a:r>
              <a:rPr lang="en" sz="1200">
                <a:solidFill>
                  <a:srgbClr val="000000"/>
                </a:solidFill>
              </a:rPr>
              <a:t>There is a robust balance between Recall and Precision.</a:t>
            </a:r>
            <a:endParaRPr sz="1200">
              <a:solidFill>
                <a:srgbClr val="000000"/>
              </a:solidFill>
            </a:endParaRPr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●"/>
            </a:pPr>
            <a:r>
              <a:rPr b="1" lang="en" sz="1400">
                <a:solidFill>
                  <a:srgbClr val="2D3B45"/>
                </a:solidFill>
                <a:highlight>
                  <a:srgbClr val="FFFFFF"/>
                </a:highlight>
              </a:rPr>
              <a:t>Deployment Readiness</a:t>
            </a:r>
            <a:endParaRPr b="1" sz="1200">
              <a:solidFill>
                <a:srgbClr val="000000"/>
              </a:solidFill>
            </a:endParaRPr>
          </a:p>
          <a:p>
            <a:pPr indent="-304800" lvl="1" marL="9144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200"/>
              <a:buChar char="○"/>
            </a:pPr>
            <a:r>
              <a:rPr lang="en" sz="1200">
                <a:solidFill>
                  <a:srgbClr val="000000"/>
                </a:solidFill>
              </a:rPr>
              <a:t>Model met all performance benchmarks and is recommended for production deployment.</a:t>
            </a:r>
            <a:endParaRPr sz="12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50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  <p:sp>
        <p:nvSpPr>
          <p:cNvPr id="308" name="Google Shape;308;g326869b8a79_0_0"/>
          <p:cNvSpPr txBox="1"/>
          <p:nvPr/>
        </p:nvSpPr>
        <p:spPr>
          <a:xfrm>
            <a:off x="4077350" y="4568775"/>
            <a:ext cx="501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" sz="1200" u="sng" cap="none" strike="noStrike">
                <a:solidFill>
                  <a:schemeClr val="hlink"/>
                </a:solidFill>
                <a:latin typeface="Nunito"/>
                <a:ea typeface="Nunito"/>
                <a:cs typeface="Nunito"/>
                <a:sym typeface="Nunito"/>
              </a:rPr>
              <a:t>Link to Appendix slide on model assumptions</a:t>
            </a:r>
            <a:endParaRPr b="0" i="1" sz="1200" u="none" cap="none" strike="noStrike">
              <a:solidFill>
                <a:srgbClr val="66666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10e9006cb6c_1_20"/>
          <p:cNvSpPr txBox="1"/>
          <p:nvPr>
            <p:ph type="ctrTitle"/>
          </p:nvPr>
        </p:nvSpPr>
        <p:spPr>
          <a:xfrm>
            <a:off x="0" y="2820425"/>
            <a:ext cx="9144000" cy="5817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300">
                <a:solidFill>
                  <a:schemeClr val="lt1"/>
                </a:solidFill>
              </a:rPr>
              <a:t>APPENDIX</a:t>
            </a:r>
            <a:endParaRPr sz="3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1f91bb547_0_6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Model Performance : Initial Model</a:t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319" name="Google Shape;319;g3c1f91bb547_0_61"/>
          <p:cNvSpPr/>
          <p:nvPr/>
        </p:nvSpPr>
        <p:spPr>
          <a:xfrm>
            <a:off x="393649" y="1212723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Epochs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0" name="Google Shape;320;g3c1f91bb547_0_61"/>
          <p:cNvSpPr/>
          <p:nvPr/>
        </p:nvSpPr>
        <p:spPr>
          <a:xfrm>
            <a:off x="1216152" y="1212723"/>
            <a:ext cx="4089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50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1" name="Google Shape;321;g3c1f91bb547_0_61"/>
          <p:cNvSpPr/>
          <p:nvPr/>
        </p:nvSpPr>
        <p:spPr>
          <a:xfrm>
            <a:off x="396577" y="1489643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Batch Size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2" name="Google Shape;322;g3c1f91bb547_0_61"/>
          <p:cNvSpPr/>
          <p:nvPr/>
        </p:nvSpPr>
        <p:spPr>
          <a:xfrm>
            <a:off x="1218707" y="1489673"/>
            <a:ext cx="4089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64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3" name="Google Shape;323;g3c1f91bb547_0_61"/>
          <p:cNvSpPr/>
          <p:nvPr/>
        </p:nvSpPr>
        <p:spPr>
          <a:xfrm>
            <a:off x="1817279" y="938879"/>
            <a:ext cx="867000" cy="3378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Hidden Layers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4" name="Google Shape;324;g3c1f91bb547_0_61"/>
          <p:cNvSpPr/>
          <p:nvPr/>
        </p:nvSpPr>
        <p:spPr>
          <a:xfrm>
            <a:off x="2700080" y="938879"/>
            <a:ext cx="867000" cy="3378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# Neurons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5" name="Google Shape;325;g3c1f91bb547_0_61"/>
          <p:cNvSpPr/>
          <p:nvPr/>
        </p:nvSpPr>
        <p:spPr>
          <a:xfrm>
            <a:off x="1814798" y="1284346"/>
            <a:ext cx="867000" cy="26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6" name="Google Shape;326;g3c1f91bb547_0_61"/>
          <p:cNvSpPr/>
          <p:nvPr/>
        </p:nvSpPr>
        <p:spPr>
          <a:xfrm>
            <a:off x="2703310" y="1284346"/>
            <a:ext cx="867000" cy="24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7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7" name="Google Shape;327;g3c1f91bb547_0_61"/>
          <p:cNvSpPr/>
          <p:nvPr/>
        </p:nvSpPr>
        <p:spPr>
          <a:xfrm>
            <a:off x="3570461" y="938879"/>
            <a:ext cx="914400" cy="3384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Activation Function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8" name="Google Shape;328;g3c1f91bb547_0_61"/>
          <p:cNvSpPr/>
          <p:nvPr/>
        </p:nvSpPr>
        <p:spPr>
          <a:xfrm>
            <a:off x="3570446" y="1280160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Relu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9" name="Google Shape;329;g3c1f91bb547_0_61"/>
          <p:cNvSpPr/>
          <p:nvPr/>
        </p:nvSpPr>
        <p:spPr>
          <a:xfrm>
            <a:off x="4672127" y="938879"/>
            <a:ext cx="819900" cy="318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Output Layer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0" name="Google Shape;330;g3c1f91bb547_0_61"/>
          <p:cNvSpPr/>
          <p:nvPr/>
        </p:nvSpPr>
        <p:spPr>
          <a:xfrm>
            <a:off x="4675182" y="1264117"/>
            <a:ext cx="819900" cy="23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1" name="Google Shape;331;g3c1f91bb547_0_61"/>
          <p:cNvSpPr/>
          <p:nvPr/>
        </p:nvSpPr>
        <p:spPr>
          <a:xfrm>
            <a:off x="5507370" y="938879"/>
            <a:ext cx="914400" cy="3201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Activation Function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2" name="Google Shape;332;g3c1f91bb547_0_61"/>
          <p:cNvSpPr/>
          <p:nvPr/>
        </p:nvSpPr>
        <p:spPr>
          <a:xfrm>
            <a:off x="5507355" y="1261872"/>
            <a:ext cx="914400" cy="237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Sigmoid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3" name="Google Shape;333;g3c1f91bb547_0_61"/>
          <p:cNvSpPr/>
          <p:nvPr/>
        </p:nvSpPr>
        <p:spPr>
          <a:xfrm>
            <a:off x="3921933" y="1645920"/>
            <a:ext cx="1097400" cy="2652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Execution Time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4" name="Google Shape;334;g3c1f91bb547_0_61"/>
          <p:cNvSpPr/>
          <p:nvPr/>
        </p:nvSpPr>
        <p:spPr>
          <a:xfrm>
            <a:off x="5029200" y="1645920"/>
            <a:ext cx="914400" cy="260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34.67 sec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35" name="Google Shape;335;g3c1f91bb547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375" y="2042274"/>
            <a:ext cx="3404544" cy="251846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6" name="Google Shape;336;g3c1f91bb547_0_61"/>
          <p:cNvGraphicFramePr/>
          <p:nvPr/>
        </p:nvGraphicFramePr>
        <p:xfrm>
          <a:off x="3966738" y="209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{053E84B8-A2E8-425D-A416-EBBD39CC20DB}</a:tableStyleId>
              </a:tblPr>
              <a:tblGrid>
                <a:gridCol w="866375"/>
                <a:gridCol w="866375"/>
                <a:gridCol w="866375"/>
                <a:gridCol w="866375"/>
                <a:gridCol w="866375"/>
              </a:tblGrid>
              <a:tr h="26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Data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Accuracy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Recall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Precision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F1 Score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6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Training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0.987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0.9034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0.9776</a:t>
                      </a:r>
                      <a:endParaRPr b="1"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1F1F1F"/>
                          </a:solidFill>
                        </a:rPr>
                        <a:t>0.9370</a:t>
                      </a:r>
                      <a:endParaRPr b="1" sz="1000"/>
                    </a:p>
                  </a:txBody>
                  <a:tcPr marT="91425" marB="91425" marR="91425" marL="91425"/>
                </a:tc>
              </a:tr>
              <a:tr h="26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Validation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</a:rPr>
                        <a:t>0.987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</a:rPr>
                        <a:t>0.8998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</a:rPr>
                        <a:t>0.9727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</a:rPr>
                        <a:t>0.9328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37" name="Google Shape;337;g3c1f91bb547_0_61"/>
          <p:cNvSpPr txBox="1"/>
          <p:nvPr/>
        </p:nvSpPr>
        <p:spPr>
          <a:xfrm>
            <a:off x="3921919" y="3334288"/>
            <a:ext cx="43320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</a:rPr>
              <a:t>The initial model achieved 98% overall accuracy. However the Recall is 90% which indicates that model is still missing 10% of actual generator failures.</a:t>
            </a:r>
            <a:endParaRPr sz="1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</a:rPr>
              <a:t>The missed detection will result in significant replacement costs and unplanned downtime. So, our next steps will focus on fine tuning the model to improve Recall.</a:t>
            </a:r>
            <a:endParaRPr sz="1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8" name="Google Shape;338;g3c1f91bb547_0_61"/>
          <p:cNvSpPr/>
          <p:nvPr/>
        </p:nvSpPr>
        <p:spPr>
          <a:xfrm>
            <a:off x="393192" y="941832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Predictors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9" name="Google Shape;339;g3c1f91bb547_0_61"/>
          <p:cNvSpPr/>
          <p:nvPr/>
        </p:nvSpPr>
        <p:spPr>
          <a:xfrm>
            <a:off x="1216152" y="941832"/>
            <a:ext cx="4089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40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0" name="Google Shape;340;g3c1f91bb547_0_61"/>
          <p:cNvSpPr/>
          <p:nvPr/>
        </p:nvSpPr>
        <p:spPr>
          <a:xfrm>
            <a:off x="6600412" y="939279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Optimizer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1" name="Google Shape;341;g3c1f91bb547_0_61"/>
          <p:cNvSpPr/>
          <p:nvPr/>
        </p:nvSpPr>
        <p:spPr>
          <a:xfrm>
            <a:off x="7422942" y="939275"/>
            <a:ext cx="9876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SGD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2" name="Google Shape;342;g3c1f91bb547_0_61"/>
          <p:cNvSpPr/>
          <p:nvPr/>
        </p:nvSpPr>
        <p:spPr>
          <a:xfrm>
            <a:off x="6603339" y="1216199"/>
            <a:ext cx="819600" cy="3657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Loss Function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3" name="Google Shape;343;g3c1f91bb547_0_61"/>
          <p:cNvSpPr/>
          <p:nvPr/>
        </p:nvSpPr>
        <p:spPr>
          <a:xfrm>
            <a:off x="7425475" y="1216225"/>
            <a:ext cx="987600" cy="365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binary_crossentropy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4" name="Google Shape;344;g3c1f91bb547_0_61"/>
          <p:cNvSpPr/>
          <p:nvPr/>
        </p:nvSpPr>
        <p:spPr>
          <a:xfrm>
            <a:off x="6612864" y="1582912"/>
            <a:ext cx="819600" cy="2742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Metric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5" name="Google Shape;345;g3c1f91bb547_0_61"/>
          <p:cNvSpPr/>
          <p:nvPr/>
        </p:nvSpPr>
        <p:spPr>
          <a:xfrm>
            <a:off x="7435000" y="1582931"/>
            <a:ext cx="987600" cy="27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Recall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c1f91bb547_0_322"/>
          <p:cNvSpPr txBox="1"/>
          <p:nvPr>
            <p:ph type="title"/>
          </p:nvPr>
        </p:nvSpPr>
        <p:spPr>
          <a:xfrm>
            <a:off x="202550" y="987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Model Performance : Model 1 </a:t>
            </a:r>
            <a:endParaRPr>
              <a:solidFill>
                <a:srgbClr val="1974D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351" name="Google Shape;351;g3c1f91bb547_0_322"/>
          <p:cNvSpPr/>
          <p:nvPr/>
        </p:nvSpPr>
        <p:spPr>
          <a:xfrm>
            <a:off x="1817279" y="748379"/>
            <a:ext cx="867000" cy="3378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Hidden Layers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2" name="Google Shape;352;g3c1f91bb547_0_322"/>
          <p:cNvSpPr/>
          <p:nvPr/>
        </p:nvSpPr>
        <p:spPr>
          <a:xfrm>
            <a:off x="2700080" y="748379"/>
            <a:ext cx="867000" cy="3378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# Neurons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3" name="Google Shape;353;g3c1f91bb547_0_322"/>
          <p:cNvSpPr/>
          <p:nvPr/>
        </p:nvSpPr>
        <p:spPr>
          <a:xfrm>
            <a:off x="1814798" y="1093846"/>
            <a:ext cx="867000" cy="26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4" name="Google Shape;354;g3c1f91bb547_0_322"/>
          <p:cNvSpPr/>
          <p:nvPr/>
        </p:nvSpPr>
        <p:spPr>
          <a:xfrm>
            <a:off x="2703310" y="1093846"/>
            <a:ext cx="867000" cy="24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14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5" name="Google Shape;355;g3c1f91bb547_0_322"/>
          <p:cNvSpPr/>
          <p:nvPr/>
        </p:nvSpPr>
        <p:spPr>
          <a:xfrm>
            <a:off x="3570461" y="748379"/>
            <a:ext cx="914400" cy="3384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Activation Function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6" name="Google Shape;356;g3c1f91bb547_0_322"/>
          <p:cNvSpPr/>
          <p:nvPr/>
        </p:nvSpPr>
        <p:spPr>
          <a:xfrm>
            <a:off x="3570446" y="1089660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Relu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7" name="Google Shape;357;g3c1f91bb547_0_322"/>
          <p:cNvSpPr/>
          <p:nvPr/>
        </p:nvSpPr>
        <p:spPr>
          <a:xfrm>
            <a:off x="4672127" y="748379"/>
            <a:ext cx="819900" cy="318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Output Layer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8" name="Google Shape;358;g3c1f91bb547_0_322"/>
          <p:cNvSpPr/>
          <p:nvPr/>
        </p:nvSpPr>
        <p:spPr>
          <a:xfrm>
            <a:off x="4675182" y="1073617"/>
            <a:ext cx="819900" cy="23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9" name="Google Shape;359;g3c1f91bb547_0_322"/>
          <p:cNvSpPr/>
          <p:nvPr/>
        </p:nvSpPr>
        <p:spPr>
          <a:xfrm>
            <a:off x="5507370" y="748379"/>
            <a:ext cx="914400" cy="3201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Activation Function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0" name="Google Shape;360;g3c1f91bb547_0_322"/>
          <p:cNvSpPr/>
          <p:nvPr/>
        </p:nvSpPr>
        <p:spPr>
          <a:xfrm>
            <a:off x="5507355" y="1071372"/>
            <a:ext cx="914400" cy="237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Sigmoid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1" name="Google Shape;361;g3c1f91bb547_0_322"/>
          <p:cNvSpPr/>
          <p:nvPr/>
        </p:nvSpPr>
        <p:spPr>
          <a:xfrm>
            <a:off x="4624402" y="1622108"/>
            <a:ext cx="1097400" cy="2652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Execution Time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2" name="Google Shape;362;g3c1f91bb547_0_322"/>
          <p:cNvSpPr/>
          <p:nvPr/>
        </p:nvSpPr>
        <p:spPr>
          <a:xfrm>
            <a:off x="5731669" y="1622108"/>
            <a:ext cx="914400" cy="260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37.06 sec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3" name="Google Shape;363;g3c1f91bb547_0_322"/>
          <p:cNvSpPr/>
          <p:nvPr/>
        </p:nvSpPr>
        <p:spPr>
          <a:xfrm>
            <a:off x="6719474" y="748779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Optimizer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4" name="Google Shape;364;g3c1f91bb547_0_322"/>
          <p:cNvSpPr/>
          <p:nvPr/>
        </p:nvSpPr>
        <p:spPr>
          <a:xfrm>
            <a:off x="7542004" y="748775"/>
            <a:ext cx="9876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SGD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5" name="Google Shape;365;g3c1f91bb547_0_322"/>
          <p:cNvSpPr/>
          <p:nvPr/>
        </p:nvSpPr>
        <p:spPr>
          <a:xfrm>
            <a:off x="6722402" y="1025699"/>
            <a:ext cx="819600" cy="3657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Loss Function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6" name="Google Shape;366;g3c1f91bb547_0_322"/>
          <p:cNvSpPr/>
          <p:nvPr/>
        </p:nvSpPr>
        <p:spPr>
          <a:xfrm>
            <a:off x="7544538" y="1025725"/>
            <a:ext cx="987600" cy="365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binary_crossentropy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7" name="Google Shape;367;g3c1f91bb547_0_322"/>
          <p:cNvSpPr/>
          <p:nvPr/>
        </p:nvSpPr>
        <p:spPr>
          <a:xfrm>
            <a:off x="1824323" y="1353403"/>
            <a:ext cx="867000" cy="26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8" name="Google Shape;368;g3c1f91bb547_0_322"/>
          <p:cNvSpPr/>
          <p:nvPr/>
        </p:nvSpPr>
        <p:spPr>
          <a:xfrm>
            <a:off x="2712835" y="1353403"/>
            <a:ext cx="867000" cy="24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7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69" name="Google Shape;369;g3c1f91bb547_0_322"/>
          <p:cNvSpPr/>
          <p:nvPr/>
        </p:nvSpPr>
        <p:spPr>
          <a:xfrm>
            <a:off x="3579971" y="1349216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Relu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370" name="Google Shape;370;g3c1f91bb547_0_322"/>
          <p:cNvGraphicFramePr/>
          <p:nvPr/>
        </p:nvGraphicFramePr>
        <p:xfrm>
          <a:off x="3966738" y="2093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{053E84B8-A2E8-425D-A416-EBBD39CC20DB}</a:tableStyleId>
              </a:tblPr>
              <a:tblGrid>
                <a:gridCol w="866375"/>
                <a:gridCol w="866375"/>
                <a:gridCol w="866375"/>
                <a:gridCol w="866375"/>
                <a:gridCol w="866375"/>
              </a:tblGrid>
              <a:tr h="26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Data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Accuracy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Recall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Precision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F1 Score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6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Training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0.987375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0.898451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0.978428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0.93433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</a:tr>
              <a:tr h="26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Validation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0.98475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0.879572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0.970469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0.919546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 anchor="ctr"/>
                </a:tc>
              </a:tr>
            </a:tbl>
          </a:graphicData>
        </a:graphic>
      </p:graphicFrame>
      <p:sp>
        <p:nvSpPr>
          <p:cNvPr id="371" name="Google Shape;371;g3c1f91bb547_0_322"/>
          <p:cNvSpPr txBox="1"/>
          <p:nvPr/>
        </p:nvSpPr>
        <p:spPr>
          <a:xfrm>
            <a:off x="3921919" y="3334288"/>
            <a:ext cx="43320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</a:rPr>
              <a:t>There is slight improvement in Recall, but not significant.</a:t>
            </a:r>
            <a:endParaRPr sz="1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</a:rPr>
              <a:t>Classification Report shows that model is predicting the negative cases (no failures), but making significant errors in predicting positive cases (failures).</a:t>
            </a:r>
            <a:endParaRPr sz="1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72" name="Google Shape;372;g3c1f91bb547_0_3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014682"/>
            <a:ext cx="3617118" cy="2737957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g3c1f91bb547_0_322"/>
          <p:cNvSpPr/>
          <p:nvPr/>
        </p:nvSpPr>
        <p:spPr>
          <a:xfrm>
            <a:off x="6743833" y="1392412"/>
            <a:ext cx="819600" cy="2742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Metric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4" name="Google Shape;374;g3c1f91bb547_0_322"/>
          <p:cNvSpPr/>
          <p:nvPr/>
        </p:nvSpPr>
        <p:spPr>
          <a:xfrm>
            <a:off x="7565969" y="1392431"/>
            <a:ext cx="987600" cy="27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Recall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5" name="Google Shape;375;g3c1f91bb547_0_322"/>
          <p:cNvSpPr/>
          <p:nvPr/>
        </p:nvSpPr>
        <p:spPr>
          <a:xfrm>
            <a:off x="393649" y="1020699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Epochs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6" name="Google Shape;376;g3c1f91bb547_0_322"/>
          <p:cNvSpPr/>
          <p:nvPr/>
        </p:nvSpPr>
        <p:spPr>
          <a:xfrm>
            <a:off x="1216152" y="1020699"/>
            <a:ext cx="4089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50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7" name="Google Shape;377;g3c1f91bb547_0_322"/>
          <p:cNvSpPr/>
          <p:nvPr/>
        </p:nvSpPr>
        <p:spPr>
          <a:xfrm>
            <a:off x="396577" y="1297619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Batch Size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8" name="Google Shape;378;g3c1f91bb547_0_322"/>
          <p:cNvSpPr/>
          <p:nvPr/>
        </p:nvSpPr>
        <p:spPr>
          <a:xfrm>
            <a:off x="1218707" y="1297649"/>
            <a:ext cx="4089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64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79" name="Google Shape;379;g3c1f91bb547_0_322"/>
          <p:cNvSpPr/>
          <p:nvPr/>
        </p:nvSpPr>
        <p:spPr>
          <a:xfrm>
            <a:off x="393192" y="749808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Predictors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0" name="Google Shape;380;g3c1f91bb547_0_322"/>
          <p:cNvSpPr/>
          <p:nvPr/>
        </p:nvSpPr>
        <p:spPr>
          <a:xfrm>
            <a:off x="1216152" y="749808"/>
            <a:ext cx="4089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40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c1f91bb547_0_357"/>
          <p:cNvSpPr txBox="1"/>
          <p:nvPr>
            <p:ph type="title"/>
          </p:nvPr>
        </p:nvSpPr>
        <p:spPr>
          <a:xfrm>
            <a:off x="202550" y="11068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Model Performance : Model 2 - Dropout </a:t>
            </a:r>
            <a:endParaRPr>
              <a:solidFill>
                <a:srgbClr val="1974D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solidFill>
                <a:srgbClr val="1974D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386" name="Google Shape;386;g3c1f91bb547_0_357"/>
          <p:cNvSpPr/>
          <p:nvPr/>
        </p:nvSpPr>
        <p:spPr>
          <a:xfrm>
            <a:off x="1626779" y="760286"/>
            <a:ext cx="867000" cy="3378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Hidden Layers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7" name="Google Shape;387;g3c1f91bb547_0_357"/>
          <p:cNvSpPr/>
          <p:nvPr/>
        </p:nvSpPr>
        <p:spPr>
          <a:xfrm>
            <a:off x="2509580" y="760286"/>
            <a:ext cx="867000" cy="3378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# Neurons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8" name="Google Shape;388;g3c1f91bb547_0_357"/>
          <p:cNvSpPr/>
          <p:nvPr/>
        </p:nvSpPr>
        <p:spPr>
          <a:xfrm>
            <a:off x="1624298" y="1105753"/>
            <a:ext cx="867000" cy="26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89" name="Google Shape;389;g3c1f91bb547_0_357"/>
          <p:cNvSpPr/>
          <p:nvPr/>
        </p:nvSpPr>
        <p:spPr>
          <a:xfrm>
            <a:off x="2512810" y="1105753"/>
            <a:ext cx="867000" cy="24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14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0" name="Google Shape;390;g3c1f91bb547_0_357"/>
          <p:cNvSpPr/>
          <p:nvPr/>
        </p:nvSpPr>
        <p:spPr>
          <a:xfrm>
            <a:off x="3379961" y="760286"/>
            <a:ext cx="914400" cy="3384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Activation Function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1" name="Google Shape;391;g3c1f91bb547_0_357"/>
          <p:cNvSpPr/>
          <p:nvPr/>
        </p:nvSpPr>
        <p:spPr>
          <a:xfrm>
            <a:off x="3379946" y="1101566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Relu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2" name="Google Shape;392;g3c1f91bb547_0_357"/>
          <p:cNvSpPr/>
          <p:nvPr/>
        </p:nvSpPr>
        <p:spPr>
          <a:xfrm>
            <a:off x="5326970" y="760286"/>
            <a:ext cx="819900" cy="318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Output Layer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3" name="Google Shape;393;g3c1f91bb547_0_357"/>
          <p:cNvSpPr/>
          <p:nvPr/>
        </p:nvSpPr>
        <p:spPr>
          <a:xfrm>
            <a:off x="5330025" y="1085524"/>
            <a:ext cx="819900" cy="23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4" name="Google Shape;394;g3c1f91bb547_0_357"/>
          <p:cNvSpPr/>
          <p:nvPr/>
        </p:nvSpPr>
        <p:spPr>
          <a:xfrm>
            <a:off x="6162213" y="760286"/>
            <a:ext cx="914400" cy="3201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Activation Function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5" name="Google Shape;395;g3c1f91bb547_0_357"/>
          <p:cNvSpPr/>
          <p:nvPr/>
        </p:nvSpPr>
        <p:spPr>
          <a:xfrm>
            <a:off x="6162199" y="1083278"/>
            <a:ext cx="914400" cy="237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Sigmoid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6" name="Google Shape;396;g3c1f91bb547_0_357"/>
          <p:cNvSpPr/>
          <p:nvPr/>
        </p:nvSpPr>
        <p:spPr>
          <a:xfrm>
            <a:off x="5501408" y="1730820"/>
            <a:ext cx="1097400" cy="2652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Execution Time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7" name="Google Shape;397;g3c1f91bb547_0_357"/>
          <p:cNvSpPr/>
          <p:nvPr/>
        </p:nvSpPr>
        <p:spPr>
          <a:xfrm>
            <a:off x="6608675" y="1730820"/>
            <a:ext cx="914400" cy="260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42</a:t>
            </a: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.06 sec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8" name="Google Shape;398;g3c1f91bb547_0_357"/>
          <p:cNvSpPr/>
          <p:nvPr/>
        </p:nvSpPr>
        <p:spPr>
          <a:xfrm>
            <a:off x="7148099" y="760686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Optimizer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99" name="Google Shape;399;g3c1f91bb547_0_357"/>
          <p:cNvSpPr/>
          <p:nvPr/>
        </p:nvSpPr>
        <p:spPr>
          <a:xfrm>
            <a:off x="7970629" y="760681"/>
            <a:ext cx="9876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SGD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0" name="Google Shape;400;g3c1f91bb547_0_357"/>
          <p:cNvSpPr/>
          <p:nvPr/>
        </p:nvSpPr>
        <p:spPr>
          <a:xfrm>
            <a:off x="7151027" y="1037606"/>
            <a:ext cx="819600" cy="3657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Loss Function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1" name="Google Shape;401;g3c1f91bb547_0_357"/>
          <p:cNvSpPr/>
          <p:nvPr/>
        </p:nvSpPr>
        <p:spPr>
          <a:xfrm>
            <a:off x="7973163" y="1037631"/>
            <a:ext cx="987600" cy="365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binary_crossentropy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2" name="Google Shape;402;g3c1f91bb547_0_357"/>
          <p:cNvSpPr/>
          <p:nvPr/>
        </p:nvSpPr>
        <p:spPr>
          <a:xfrm>
            <a:off x="1633823" y="1365309"/>
            <a:ext cx="867000" cy="26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3" name="Google Shape;403;g3c1f91bb547_0_357"/>
          <p:cNvSpPr/>
          <p:nvPr/>
        </p:nvSpPr>
        <p:spPr>
          <a:xfrm>
            <a:off x="2522335" y="1365309"/>
            <a:ext cx="867000" cy="24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7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4" name="Google Shape;404;g3c1f91bb547_0_357"/>
          <p:cNvSpPr/>
          <p:nvPr/>
        </p:nvSpPr>
        <p:spPr>
          <a:xfrm>
            <a:off x="3389471" y="1361123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Relu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5" name="Google Shape;405;g3c1f91bb547_0_357"/>
          <p:cNvSpPr/>
          <p:nvPr/>
        </p:nvSpPr>
        <p:spPr>
          <a:xfrm>
            <a:off x="4306267" y="769811"/>
            <a:ext cx="914400" cy="3384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Dropout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6" name="Google Shape;406;g3c1f91bb547_0_357"/>
          <p:cNvSpPr/>
          <p:nvPr/>
        </p:nvSpPr>
        <p:spPr>
          <a:xfrm>
            <a:off x="4306253" y="1111091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0.4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7" name="Google Shape;407;g3c1f91bb547_0_357"/>
          <p:cNvSpPr/>
          <p:nvPr/>
        </p:nvSpPr>
        <p:spPr>
          <a:xfrm>
            <a:off x="4315778" y="1370648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8" name="Google Shape;408;g3c1f91bb547_0_357"/>
          <p:cNvSpPr/>
          <p:nvPr/>
        </p:nvSpPr>
        <p:spPr>
          <a:xfrm>
            <a:off x="1631442" y="1636771"/>
            <a:ext cx="867000" cy="26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09" name="Google Shape;409;g3c1f91bb547_0_357"/>
          <p:cNvSpPr/>
          <p:nvPr/>
        </p:nvSpPr>
        <p:spPr>
          <a:xfrm>
            <a:off x="2519954" y="1636771"/>
            <a:ext cx="867000" cy="24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7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0" name="Google Shape;410;g3c1f91bb547_0_357"/>
          <p:cNvSpPr/>
          <p:nvPr/>
        </p:nvSpPr>
        <p:spPr>
          <a:xfrm>
            <a:off x="3387090" y="1632585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Relu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1" name="Google Shape;411;g3c1f91bb547_0_357"/>
          <p:cNvSpPr/>
          <p:nvPr/>
        </p:nvSpPr>
        <p:spPr>
          <a:xfrm>
            <a:off x="4313396" y="1642110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412" name="Google Shape;412;g3c1f91bb547_0_357"/>
          <p:cNvGraphicFramePr/>
          <p:nvPr/>
        </p:nvGraphicFramePr>
        <p:xfrm>
          <a:off x="4097706" y="2212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{053E84B8-A2E8-425D-A416-EBBD39CC20DB}</a:tableStyleId>
              </a:tblPr>
              <a:tblGrid>
                <a:gridCol w="866375"/>
                <a:gridCol w="866375"/>
                <a:gridCol w="866375"/>
                <a:gridCol w="866375"/>
                <a:gridCol w="866375"/>
              </a:tblGrid>
              <a:tr h="26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Data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Accuracy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Recall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Precision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F1 Score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6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Training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0.979313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0.830055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0.965207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0.884752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</a:tr>
              <a:tr h="26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Validation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0.97875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0.833997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0.953225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0.883454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</a:tr>
            </a:tbl>
          </a:graphicData>
        </a:graphic>
      </p:graphicFrame>
      <p:sp>
        <p:nvSpPr>
          <p:cNvPr id="413" name="Google Shape;413;g3c1f91bb547_0_357"/>
          <p:cNvSpPr txBox="1"/>
          <p:nvPr/>
        </p:nvSpPr>
        <p:spPr>
          <a:xfrm>
            <a:off x="4052888" y="3453350"/>
            <a:ext cx="43320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</a:rPr>
              <a:t>Recall went down indicating model is still struggling to predict the failures accurately.</a:t>
            </a:r>
            <a:endParaRPr sz="1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</a:rPr>
              <a:t>The model performance suffered with dropping the 40% of output from first hidden layer, indicating loss of information. </a:t>
            </a:r>
            <a:endParaRPr sz="1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14" name="Google Shape;414;g3c1f91bb547_0_3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417" y="2130743"/>
            <a:ext cx="3621024" cy="2729695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g3c1f91bb547_0_357"/>
          <p:cNvSpPr/>
          <p:nvPr/>
        </p:nvSpPr>
        <p:spPr>
          <a:xfrm>
            <a:off x="7172458" y="1416224"/>
            <a:ext cx="819600" cy="2742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Metric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6" name="Google Shape;416;g3c1f91bb547_0_357"/>
          <p:cNvSpPr/>
          <p:nvPr/>
        </p:nvSpPr>
        <p:spPr>
          <a:xfrm>
            <a:off x="7994594" y="1416244"/>
            <a:ext cx="987600" cy="27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Recall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7" name="Google Shape;417;g3c1f91bb547_0_357"/>
          <p:cNvSpPr/>
          <p:nvPr/>
        </p:nvSpPr>
        <p:spPr>
          <a:xfrm>
            <a:off x="226962" y="1029843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Epochs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8" name="Google Shape;418;g3c1f91bb547_0_357"/>
          <p:cNvSpPr/>
          <p:nvPr/>
        </p:nvSpPr>
        <p:spPr>
          <a:xfrm>
            <a:off x="1049465" y="1029843"/>
            <a:ext cx="4089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50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9" name="Google Shape;419;g3c1f91bb547_0_357"/>
          <p:cNvSpPr/>
          <p:nvPr/>
        </p:nvSpPr>
        <p:spPr>
          <a:xfrm>
            <a:off x="229889" y="1306763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Batch Size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0" name="Google Shape;420;g3c1f91bb547_0_357"/>
          <p:cNvSpPr/>
          <p:nvPr/>
        </p:nvSpPr>
        <p:spPr>
          <a:xfrm>
            <a:off x="1052020" y="1306793"/>
            <a:ext cx="4089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64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1" name="Google Shape;421;g3c1f91bb547_0_357"/>
          <p:cNvSpPr/>
          <p:nvPr/>
        </p:nvSpPr>
        <p:spPr>
          <a:xfrm>
            <a:off x="226505" y="758952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Predictors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2" name="Google Shape;422;g3c1f91bb547_0_357"/>
          <p:cNvSpPr/>
          <p:nvPr/>
        </p:nvSpPr>
        <p:spPr>
          <a:xfrm>
            <a:off x="1049465" y="758952"/>
            <a:ext cx="4089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40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c1f91bb547_0_399"/>
          <p:cNvSpPr txBox="1"/>
          <p:nvPr>
            <p:ph type="title"/>
          </p:nvPr>
        </p:nvSpPr>
        <p:spPr>
          <a:xfrm>
            <a:off x="202550" y="352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Model Performance : Model 3 - Class weight</a:t>
            </a:r>
            <a:endParaRPr>
              <a:solidFill>
                <a:srgbClr val="1974D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solidFill>
                <a:srgbClr val="1974D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solidFill>
                <a:srgbClr val="1974D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428" name="Google Shape;428;g3c1f91bb547_0_399"/>
          <p:cNvSpPr/>
          <p:nvPr/>
        </p:nvSpPr>
        <p:spPr>
          <a:xfrm>
            <a:off x="1626779" y="653129"/>
            <a:ext cx="867000" cy="3378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Hidden Layers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9" name="Google Shape;429;g3c1f91bb547_0_399"/>
          <p:cNvSpPr/>
          <p:nvPr/>
        </p:nvSpPr>
        <p:spPr>
          <a:xfrm>
            <a:off x="2509580" y="653129"/>
            <a:ext cx="867000" cy="3378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# Neurons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0" name="Google Shape;430;g3c1f91bb547_0_399"/>
          <p:cNvSpPr/>
          <p:nvPr/>
        </p:nvSpPr>
        <p:spPr>
          <a:xfrm>
            <a:off x="1624298" y="998596"/>
            <a:ext cx="867000" cy="26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1" name="Google Shape;431;g3c1f91bb547_0_399"/>
          <p:cNvSpPr/>
          <p:nvPr/>
        </p:nvSpPr>
        <p:spPr>
          <a:xfrm>
            <a:off x="2512810" y="998596"/>
            <a:ext cx="867000" cy="24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14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2" name="Google Shape;432;g3c1f91bb547_0_399"/>
          <p:cNvSpPr/>
          <p:nvPr/>
        </p:nvSpPr>
        <p:spPr>
          <a:xfrm>
            <a:off x="3379961" y="653129"/>
            <a:ext cx="914400" cy="3384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Activation Function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3" name="Google Shape;433;g3c1f91bb547_0_399"/>
          <p:cNvSpPr/>
          <p:nvPr/>
        </p:nvSpPr>
        <p:spPr>
          <a:xfrm>
            <a:off x="3379946" y="994410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Relu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4" name="Google Shape;434;g3c1f91bb547_0_399"/>
          <p:cNvSpPr/>
          <p:nvPr/>
        </p:nvSpPr>
        <p:spPr>
          <a:xfrm>
            <a:off x="5326970" y="653129"/>
            <a:ext cx="819900" cy="318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Output Layer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5" name="Google Shape;435;g3c1f91bb547_0_399"/>
          <p:cNvSpPr/>
          <p:nvPr/>
        </p:nvSpPr>
        <p:spPr>
          <a:xfrm>
            <a:off x="5330025" y="978367"/>
            <a:ext cx="819900" cy="23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6" name="Google Shape;436;g3c1f91bb547_0_399"/>
          <p:cNvSpPr/>
          <p:nvPr/>
        </p:nvSpPr>
        <p:spPr>
          <a:xfrm>
            <a:off x="6162213" y="653129"/>
            <a:ext cx="914400" cy="3201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Activation Function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7" name="Google Shape;437;g3c1f91bb547_0_399"/>
          <p:cNvSpPr/>
          <p:nvPr/>
        </p:nvSpPr>
        <p:spPr>
          <a:xfrm>
            <a:off x="6162199" y="976122"/>
            <a:ext cx="914400" cy="237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Sigmoid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8" name="Google Shape;438;g3c1f91bb547_0_399"/>
          <p:cNvSpPr/>
          <p:nvPr/>
        </p:nvSpPr>
        <p:spPr>
          <a:xfrm>
            <a:off x="221815" y="1828983"/>
            <a:ext cx="1097400" cy="2652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Execution Time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9" name="Google Shape;439;g3c1f91bb547_0_399"/>
          <p:cNvSpPr/>
          <p:nvPr/>
        </p:nvSpPr>
        <p:spPr>
          <a:xfrm>
            <a:off x="1329081" y="1828983"/>
            <a:ext cx="914400" cy="260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41.13 sec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0" name="Google Shape;440;g3c1f91bb547_0_399"/>
          <p:cNvSpPr/>
          <p:nvPr/>
        </p:nvSpPr>
        <p:spPr>
          <a:xfrm>
            <a:off x="7207630" y="653529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Optimizer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1" name="Google Shape;441;g3c1f91bb547_0_399"/>
          <p:cNvSpPr/>
          <p:nvPr/>
        </p:nvSpPr>
        <p:spPr>
          <a:xfrm>
            <a:off x="8030160" y="653525"/>
            <a:ext cx="9876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SGD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2" name="Google Shape;442;g3c1f91bb547_0_399"/>
          <p:cNvSpPr/>
          <p:nvPr/>
        </p:nvSpPr>
        <p:spPr>
          <a:xfrm>
            <a:off x="7210558" y="930449"/>
            <a:ext cx="819600" cy="3657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Loss Function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3" name="Google Shape;443;g3c1f91bb547_0_399"/>
          <p:cNvSpPr/>
          <p:nvPr/>
        </p:nvSpPr>
        <p:spPr>
          <a:xfrm>
            <a:off x="8032694" y="930475"/>
            <a:ext cx="987600" cy="365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binary_crossentropy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4" name="Google Shape;444;g3c1f91bb547_0_399"/>
          <p:cNvSpPr/>
          <p:nvPr/>
        </p:nvSpPr>
        <p:spPr>
          <a:xfrm>
            <a:off x="1633823" y="1258153"/>
            <a:ext cx="867000" cy="26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5" name="Google Shape;445;g3c1f91bb547_0_399"/>
          <p:cNvSpPr/>
          <p:nvPr/>
        </p:nvSpPr>
        <p:spPr>
          <a:xfrm>
            <a:off x="2522335" y="1258153"/>
            <a:ext cx="867000" cy="24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7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6" name="Google Shape;446;g3c1f91bb547_0_399"/>
          <p:cNvSpPr/>
          <p:nvPr/>
        </p:nvSpPr>
        <p:spPr>
          <a:xfrm>
            <a:off x="3389471" y="1253966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Relu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7" name="Google Shape;447;g3c1f91bb547_0_399"/>
          <p:cNvSpPr/>
          <p:nvPr/>
        </p:nvSpPr>
        <p:spPr>
          <a:xfrm>
            <a:off x="4306267" y="662654"/>
            <a:ext cx="914400" cy="3384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Dropout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8" name="Google Shape;448;g3c1f91bb547_0_399"/>
          <p:cNvSpPr/>
          <p:nvPr/>
        </p:nvSpPr>
        <p:spPr>
          <a:xfrm>
            <a:off x="4306253" y="1003935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0.5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9" name="Google Shape;449;g3c1f91bb547_0_399"/>
          <p:cNvSpPr/>
          <p:nvPr/>
        </p:nvSpPr>
        <p:spPr>
          <a:xfrm>
            <a:off x="4315778" y="1263491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0" name="Google Shape;450;g3c1f91bb547_0_399"/>
          <p:cNvSpPr/>
          <p:nvPr/>
        </p:nvSpPr>
        <p:spPr>
          <a:xfrm>
            <a:off x="1631442" y="1529615"/>
            <a:ext cx="867000" cy="26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1" name="Google Shape;451;g3c1f91bb547_0_399"/>
          <p:cNvSpPr/>
          <p:nvPr/>
        </p:nvSpPr>
        <p:spPr>
          <a:xfrm>
            <a:off x="2519954" y="1529615"/>
            <a:ext cx="867000" cy="24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7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2" name="Google Shape;452;g3c1f91bb547_0_399"/>
          <p:cNvSpPr/>
          <p:nvPr/>
        </p:nvSpPr>
        <p:spPr>
          <a:xfrm>
            <a:off x="3387090" y="1525429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Relu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3" name="Google Shape;453;g3c1f91bb547_0_399"/>
          <p:cNvSpPr/>
          <p:nvPr/>
        </p:nvSpPr>
        <p:spPr>
          <a:xfrm>
            <a:off x="4313396" y="1534954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4" name="Google Shape;454;g3c1f91bb547_0_399"/>
          <p:cNvSpPr/>
          <p:nvPr/>
        </p:nvSpPr>
        <p:spPr>
          <a:xfrm>
            <a:off x="5320029" y="1371409"/>
            <a:ext cx="732900" cy="2286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Class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5" name="Google Shape;455;g3c1f91bb547_0_399"/>
          <p:cNvSpPr/>
          <p:nvPr/>
        </p:nvSpPr>
        <p:spPr>
          <a:xfrm>
            <a:off x="6062284" y="1371406"/>
            <a:ext cx="1025100" cy="2286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Class Weight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6" name="Google Shape;456;g3c1f91bb547_0_399"/>
          <p:cNvSpPr/>
          <p:nvPr/>
        </p:nvSpPr>
        <p:spPr>
          <a:xfrm>
            <a:off x="5318120" y="1614889"/>
            <a:ext cx="732900" cy="2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B9BD5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endParaRPr sz="1000">
              <a:solidFill>
                <a:srgbClr val="5B9BD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7" name="Google Shape;457;g3c1f91bb547_0_399"/>
          <p:cNvSpPr/>
          <p:nvPr/>
        </p:nvSpPr>
        <p:spPr>
          <a:xfrm>
            <a:off x="6060264" y="1607150"/>
            <a:ext cx="1025100" cy="2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B9BD5"/>
                </a:solidFill>
                <a:latin typeface="Nunito"/>
                <a:ea typeface="Nunito"/>
                <a:cs typeface="Nunito"/>
                <a:sym typeface="Nunito"/>
              </a:rPr>
              <a:t>1.0587</a:t>
            </a:r>
            <a:endParaRPr sz="1000">
              <a:solidFill>
                <a:srgbClr val="5B9BD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8" name="Google Shape;458;g3c1f91bb547_0_399"/>
          <p:cNvSpPr/>
          <p:nvPr/>
        </p:nvSpPr>
        <p:spPr>
          <a:xfrm>
            <a:off x="5325756" y="1862539"/>
            <a:ext cx="732900" cy="2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B9BD5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59" name="Google Shape;459;g3c1f91bb547_0_399"/>
          <p:cNvSpPr/>
          <p:nvPr/>
        </p:nvSpPr>
        <p:spPr>
          <a:xfrm>
            <a:off x="6068346" y="1854800"/>
            <a:ext cx="1025100" cy="2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B9BD5"/>
                </a:solidFill>
                <a:latin typeface="Nunito"/>
                <a:ea typeface="Nunito"/>
                <a:cs typeface="Nunito"/>
                <a:sym typeface="Nunito"/>
              </a:rPr>
              <a:t>18.01</a:t>
            </a:r>
            <a:endParaRPr sz="1000">
              <a:solidFill>
                <a:srgbClr val="5B9BD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460" name="Google Shape;460;g3c1f91bb547_0_399"/>
          <p:cNvGraphicFramePr/>
          <p:nvPr/>
        </p:nvGraphicFramePr>
        <p:xfrm>
          <a:off x="3966738" y="24145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{053E84B8-A2E8-425D-A416-EBBD39CC20DB}</a:tableStyleId>
              </a:tblPr>
              <a:tblGrid>
                <a:gridCol w="866375"/>
                <a:gridCol w="866375"/>
                <a:gridCol w="866375"/>
                <a:gridCol w="866375"/>
                <a:gridCol w="866375"/>
              </a:tblGrid>
              <a:tr h="26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Data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Accuracy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Recall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Precision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F1 Score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6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Training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0.98075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0.929392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0.896001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0.911917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</a:tr>
              <a:tr h="26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Validation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0.9785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0.918661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0.886105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0.901622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</a:tr>
            </a:tbl>
          </a:graphicData>
        </a:graphic>
      </p:graphicFrame>
      <p:sp>
        <p:nvSpPr>
          <p:cNvPr id="461" name="Google Shape;461;g3c1f91bb547_0_399"/>
          <p:cNvSpPr txBox="1"/>
          <p:nvPr/>
        </p:nvSpPr>
        <p:spPr>
          <a:xfrm>
            <a:off x="3732094" y="3435494"/>
            <a:ext cx="48012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</a:rPr>
              <a:t>A penalty of 18.01 is applied on incorrect prediction of positive cases to address the class imbalance in the data set.  </a:t>
            </a:r>
            <a:endParaRPr sz="1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</a:rPr>
              <a:t>The Recall is improved slightly, but the model is still making errors in predicting the failure cases.</a:t>
            </a:r>
            <a:endParaRPr sz="1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</a:rPr>
              <a:t>Gradient descent is not smooth, there is a significant gap between training and validation data sets gradient descent.</a:t>
            </a:r>
            <a:endParaRPr sz="1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462" name="Google Shape;462;g3c1f91bb547_0_3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648" y="2331136"/>
            <a:ext cx="3621023" cy="2701841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g3c1f91bb547_0_399"/>
          <p:cNvSpPr/>
          <p:nvPr/>
        </p:nvSpPr>
        <p:spPr>
          <a:xfrm>
            <a:off x="7208177" y="1297162"/>
            <a:ext cx="819600" cy="2742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Metric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4" name="Google Shape;464;g3c1f91bb547_0_399"/>
          <p:cNvSpPr/>
          <p:nvPr/>
        </p:nvSpPr>
        <p:spPr>
          <a:xfrm>
            <a:off x="8030313" y="1297181"/>
            <a:ext cx="987600" cy="27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Recall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5" name="Google Shape;465;g3c1f91bb547_0_399"/>
          <p:cNvSpPr/>
          <p:nvPr/>
        </p:nvSpPr>
        <p:spPr>
          <a:xfrm>
            <a:off x="250774" y="920115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Epochs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6" name="Google Shape;466;g3c1f91bb547_0_399"/>
          <p:cNvSpPr/>
          <p:nvPr/>
        </p:nvSpPr>
        <p:spPr>
          <a:xfrm>
            <a:off x="1073277" y="920115"/>
            <a:ext cx="4089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50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7" name="Google Shape;467;g3c1f91bb547_0_399"/>
          <p:cNvSpPr/>
          <p:nvPr/>
        </p:nvSpPr>
        <p:spPr>
          <a:xfrm>
            <a:off x="253702" y="1197035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Batch Size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8" name="Google Shape;468;g3c1f91bb547_0_399"/>
          <p:cNvSpPr/>
          <p:nvPr/>
        </p:nvSpPr>
        <p:spPr>
          <a:xfrm>
            <a:off x="1075832" y="1197065"/>
            <a:ext cx="4089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64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69" name="Google Shape;469;g3c1f91bb547_0_399"/>
          <p:cNvSpPr/>
          <p:nvPr/>
        </p:nvSpPr>
        <p:spPr>
          <a:xfrm>
            <a:off x="250317" y="649224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Predictors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0" name="Google Shape;470;g3c1f91bb547_0_399"/>
          <p:cNvSpPr/>
          <p:nvPr/>
        </p:nvSpPr>
        <p:spPr>
          <a:xfrm>
            <a:off x="1073277" y="649224"/>
            <a:ext cx="4089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40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c1f91bb547_0_447"/>
          <p:cNvSpPr txBox="1"/>
          <p:nvPr>
            <p:ph type="title"/>
          </p:nvPr>
        </p:nvSpPr>
        <p:spPr>
          <a:xfrm>
            <a:off x="202550" y="352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Model Performance : Model 4 - Adam Optimizer</a:t>
            </a:r>
            <a:endParaRPr>
              <a:solidFill>
                <a:srgbClr val="1974D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solidFill>
                <a:srgbClr val="1974D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solidFill>
                <a:srgbClr val="1974D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476" name="Google Shape;476;g3c1f91bb547_0_447"/>
          <p:cNvSpPr/>
          <p:nvPr/>
        </p:nvSpPr>
        <p:spPr>
          <a:xfrm>
            <a:off x="1626779" y="653129"/>
            <a:ext cx="867000" cy="3378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Hidden Layers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7" name="Google Shape;477;g3c1f91bb547_0_447"/>
          <p:cNvSpPr/>
          <p:nvPr/>
        </p:nvSpPr>
        <p:spPr>
          <a:xfrm>
            <a:off x="2509580" y="653129"/>
            <a:ext cx="867000" cy="3378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# Neurons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8" name="Google Shape;478;g3c1f91bb547_0_447"/>
          <p:cNvSpPr/>
          <p:nvPr/>
        </p:nvSpPr>
        <p:spPr>
          <a:xfrm>
            <a:off x="1624298" y="998596"/>
            <a:ext cx="867000" cy="26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79" name="Google Shape;479;g3c1f91bb547_0_447"/>
          <p:cNvSpPr/>
          <p:nvPr/>
        </p:nvSpPr>
        <p:spPr>
          <a:xfrm>
            <a:off x="2512810" y="998596"/>
            <a:ext cx="867000" cy="24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14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0" name="Google Shape;480;g3c1f91bb547_0_447"/>
          <p:cNvSpPr/>
          <p:nvPr/>
        </p:nvSpPr>
        <p:spPr>
          <a:xfrm>
            <a:off x="3379961" y="653129"/>
            <a:ext cx="914400" cy="3384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Activation Function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1" name="Google Shape;481;g3c1f91bb547_0_447"/>
          <p:cNvSpPr/>
          <p:nvPr/>
        </p:nvSpPr>
        <p:spPr>
          <a:xfrm>
            <a:off x="3379946" y="994410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Relu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2" name="Google Shape;482;g3c1f91bb547_0_447"/>
          <p:cNvSpPr/>
          <p:nvPr/>
        </p:nvSpPr>
        <p:spPr>
          <a:xfrm>
            <a:off x="5326970" y="653129"/>
            <a:ext cx="819900" cy="318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Output Layer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3" name="Google Shape;483;g3c1f91bb547_0_447"/>
          <p:cNvSpPr/>
          <p:nvPr/>
        </p:nvSpPr>
        <p:spPr>
          <a:xfrm>
            <a:off x="5330025" y="978367"/>
            <a:ext cx="819900" cy="23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4" name="Google Shape;484;g3c1f91bb547_0_447"/>
          <p:cNvSpPr/>
          <p:nvPr/>
        </p:nvSpPr>
        <p:spPr>
          <a:xfrm>
            <a:off x="6162213" y="653129"/>
            <a:ext cx="914400" cy="3201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Activation Function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5" name="Google Shape;485;g3c1f91bb547_0_447"/>
          <p:cNvSpPr/>
          <p:nvPr/>
        </p:nvSpPr>
        <p:spPr>
          <a:xfrm>
            <a:off x="6162199" y="976122"/>
            <a:ext cx="914400" cy="237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Sigmoid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6" name="Google Shape;486;g3c1f91bb547_0_447"/>
          <p:cNvSpPr/>
          <p:nvPr/>
        </p:nvSpPr>
        <p:spPr>
          <a:xfrm>
            <a:off x="5330015" y="1722758"/>
            <a:ext cx="1097400" cy="2652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Execution Time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7" name="Google Shape;487;g3c1f91bb547_0_447"/>
          <p:cNvSpPr/>
          <p:nvPr/>
        </p:nvSpPr>
        <p:spPr>
          <a:xfrm>
            <a:off x="6437281" y="1722758"/>
            <a:ext cx="914400" cy="260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44.01 sec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8" name="Google Shape;488;g3c1f91bb547_0_447"/>
          <p:cNvSpPr/>
          <p:nvPr/>
        </p:nvSpPr>
        <p:spPr>
          <a:xfrm>
            <a:off x="7148099" y="653529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Optimizer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89" name="Google Shape;489;g3c1f91bb547_0_447"/>
          <p:cNvSpPr/>
          <p:nvPr/>
        </p:nvSpPr>
        <p:spPr>
          <a:xfrm>
            <a:off x="7970629" y="653525"/>
            <a:ext cx="9876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Adam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0" name="Google Shape;490;g3c1f91bb547_0_447"/>
          <p:cNvSpPr/>
          <p:nvPr/>
        </p:nvSpPr>
        <p:spPr>
          <a:xfrm>
            <a:off x="7151027" y="930449"/>
            <a:ext cx="819600" cy="3657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Loss Function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1" name="Google Shape;491;g3c1f91bb547_0_447"/>
          <p:cNvSpPr/>
          <p:nvPr/>
        </p:nvSpPr>
        <p:spPr>
          <a:xfrm>
            <a:off x="7973163" y="930475"/>
            <a:ext cx="987600" cy="365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binary_crossentropy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2" name="Google Shape;492;g3c1f91bb547_0_447"/>
          <p:cNvSpPr/>
          <p:nvPr/>
        </p:nvSpPr>
        <p:spPr>
          <a:xfrm>
            <a:off x="1633823" y="1258153"/>
            <a:ext cx="867000" cy="26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3" name="Google Shape;493;g3c1f91bb547_0_447"/>
          <p:cNvSpPr/>
          <p:nvPr/>
        </p:nvSpPr>
        <p:spPr>
          <a:xfrm>
            <a:off x="2522335" y="1258153"/>
            <a:ext cx="867000" cy="24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7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4" name="Google Shape;494;g3c1f91bb547_0_447"/>
          <p:cNvSpPr/>
          <p:nvPr/>
        </p:nvSpPr>
        <p:spPr>
          <a:xfrm>
            <a:off x="3389471" y="1253966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Relu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5" name="Google Shape;495;g3c1f91bb547_0_447"/>
          <p:cNvSpPr/>
          <p:nvPr/>
        </p:nvSpPr>
        <p:spPr>
          <a:xfrm>
            <a:off x="4306267" y="662654"/>
            <a:ext cx="914400" cy="3384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Dropout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6" name="Google Shape;496;g3c1f91bb547_0_447"/>
          <p:cNvSpPr/>
          <p:nvPr/>
        </p:nvSpPr>
        <p:spPr>
          <a:xfrm>
            <a:off x="4306253" y="1003935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97" name="Google Shape;497;g3c1f91bb547_0_447"/>
          <p:cNvSpPr/>
          <p:nvPr/>
        </p:nvSpPr>
        <p:spPr>
          <a:xfrm>
            <a:off x="4315778" y="1263491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498" name="Google Shape;498;g3c1f91bb547_0_447"/>
          <p:cNvGraphicFramePr/>
          <p:nvPr/>
        </p:nvGraphicFramePr>
        <p:xfrm>
          <a:off x="3966738" y="22716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{053E84B8-A2E8-425D-A416-EBBD39CC20DB}</a:tableStyleId>
              </a:tblPr>
              <a:tblGrid>
                <a:gridCol w="866375"/>
                <a:gridCol w="866375"/>
                <a:gridCol w="866375"/>
                <a:gridCol w="866375"/>
                <a:gridCol w="866375"/>
              </a:tblGrid>
              <a:tr h="26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Data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Accuracy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Recall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Precision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F1 Score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6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Training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0.993625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0.947337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0.991343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0.968175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</a:tr>
              <a:tr h="26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Validation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0.99175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0.934155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0.986035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0.958444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</a:tr>
            </a:tbl>
          </a:graphicData>
        </a:graphic>
      </p:graphicFrame>
      <p:sp>
        <p:nvSpPr>
          <p:cNvPr id="499" name="Google Shape;499;g3c1f91bb547_0_447"/>
          <p:cNvSpPr txBox="1"/>
          <p:nvPr/>
        </p:nvSpPr>
        <p:spPr>
          <a:xfrm>
            <a:off x="3732094" y="3292619"/>
            <a:ext cx="48012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</a:rPr>
              <a:t>There is an improvement in both Accuracy and Recall scores.</a:t>
            </a:r>
            <a:endParaRPr sz="1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1F1F1F"/>
              </a:buClr>
              <a:buSzPts val="1100"/>
              <a:buChar char="●"/>
            </a:pP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</a:rPr>
              <a:t>By far, this model has the best performance so far.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0" name="Google Shape;500;g3c1f91bb547_0_447"/>
          <p:cNvSpPr/>
          <p:nvPr/>
        </p:nvSpPr>
        <p:spPr>
          <a:xfrm>
            <a:off x="7148646" y="1297162"/>
            <a:ext cx="819600" cy="2742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Metric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1" name="Google Shape;501;g3c1f91bb547_0_447"/>
          <p:cNvSpPr/>
          <p:nvPr/>
        </p:nvSpPr>
        <p:spPr>
          <a:xfrm>
            <a:off x="7970782" y="1297181"/>
            <a:ext cx="987600" cy="27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Recall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2" name="Google Shape;502;g3c1f91bb547_0_447"/>
          <p:cNvSpPr/>
          <p:nvPr/>
        </p:nvSpPr>
        <p:spPr>
          <a:xfrm>
            <a:off x="250774" y="920115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Epochs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3" name="Google Shape;503;g3c1f91bb547_0_447"/>
          <p:cNvSpPr/>
          <p:nvPr/>
        </p:nvSpPr>
        <p:spPr>
          <a:xfrm>
            <a:off x="1073277" y="920115"/>
            <a:ext cx="4089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50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4" name="Google Shape;504;g3c1f91bb547_0_447"/>
          <p:cNvSpPr/>
          <p:nvPr/>
        </p:nvSpPr>
        <p:spPr>
          <a:xfrm>
            <a:off x="253702" y="1197035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Batch Size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5" name="Google Shape;505;g3c1f91bb547_0_447"/>
          <p:cNvSpPr/>
          <p:nvPr/>
        </p:nvSpPr>
        <p:spPr>
          <a:xfrm>
            <a:off x="1075832" y="1197065"/>
            <a:ext cx="4089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64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6" name="Google Shape;506;g3c1f91bb547_0_447"/>
          <p:cNvSpPr/>
          <p:nvPr/>
        </p:nvSpPr>
        <p:spPr>
          <a:xfrm>
            <a:off x="250317" y="649224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Predictors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7" name="Google Shape;507;g3c1f91bb547_0_447"/>
          <p:cNvSpPr/>
          <p:nvPr/>
        </p:nvSpPr>
        <p:spPr>
          <a:xfrm>
            <a:off x="1073277" y="649224"/>
            <a:ext cx="4089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40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08" name="Google Shape;508;g3c1f91bb547_0_4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16" y="2212658"/>
            <a:ext cx="3611878" cy="27598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c1f91bb547_0_528"/>
          <p:cNvSpPr txBox="1"/>
          <p:nvPr>
            <p:ph type="title"/>
          </p:nvPr>
        </p:nvSpPr>
        <p:spPr>
          <a:xfrm>
            <a:off x="202550" y="352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Model Performance : Model 5 - Adam Optimizer &amp; Dropout</a:t>
            </a:r>
            <a:endParaRPr>
              <a:solidFill>
                <a:srgbClr val="1974D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solidFill>
                <a:srgbClr val="1974D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solidFill>
                <a:srgbClr val="1974D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514" name="Google Shape;514;g3c1f91bb547_0_528"/>
          <p:cNvSpPr/>
          <p:nvPr/>
        </p:nvSpPr>
        <p:spPr>
          <a:xfrm>
            <a:off x="1626779" y="653129"/>
            <a:ext cx="867000" cy="3378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Hidden Layers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5" name="Google Shape;515;g3c1f91bb547_0_528"/>
          <p:cNvSpPr/>
          <p:nvPr/>
        </p:nvSpPr>
        <p:spPr>
          <a:xfrm>
            <a:off x="2509580" y="653129"/>
            <a:ext cx="867000" cy="3378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# Neurons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6" name="Google Shape;516;g3c1f91bb547_0_528"/>
          <p:cNvSpPr/>
          <p:nvPr/>
        </p:nvSpPr>
        <p:spPr>
          <a:xfrm>
            <a:off x="1624298" y="998596"/>
            <a:ext cx="867000" cy="26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7" name="Google Shape;517;g3c1f91bb547_0_528"/>
          <p:cNvSpPr/>
          <p:nvPr/>
        </p:nvSpPr>
        <p:spPr>
          <a:xfrm>
            <a:off x="2512810" y="998596"/>
            <a:ext cx="867000" cy="24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14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8" name="Google Shape;518;g3c1f91bb547_0_528"/>
          <p:cNvSpPr/>
          <p:nvPr/>
        </p:nvSpPr>
        <p:spPr>
          <a:xfrm>
            <a:off x="3379961" y="653129"/>
            <a:ext cx="914400" cy="3384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Activation Function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19" name="Google Shape;519;g3c1f91bb547_0_528"/>
          <p:cNvSpPr/>
          <p:nvPr/>
        </p:nvSpPr>
        <p:spPr>
          <a:xfrm>
            <a:off x="3379946" y="994410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Relu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0" name="Google Shape;520;g3c1f91bb547_0_528"/>
          <p:cNvSpPr/>
          <p:nvPr/>
        </p:nvSpPr>
        <p:spPr>
          <a:xfrm>
            <a:off x="5326970" y="653129"/>
            <a:ext cx="819900" cy="318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Output Layer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1" name="Google Shape;521;g3c1f91bb547_0_528"/>
          <p:cNvSpPr/>
          <p:nvPr/>
        </p:nvSpPr>
        <p:spPr>
          <a:xfrm>
            <a:off x="5330025" y="978367"/>
            <a:ext cx="819900" cy="23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2" name="Google Shape;522;g3c1f91bb547_0_528"/>
          <p:cNvSpPr/>
          <p:nvPr/>
        </p:nvSpPr>
        <p:spPr>
          <a:xfrm>
            <a:off x="6162213" y="653129"/>
            <a:ext cx="914400" cy="3201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Activation Function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3" name="Google Shape;523;g3c1f91bb547_0_528"/>
          <p:cNvSpPr/>
          <p:nvPr/>
        </p:nvSpPr>
        <p:spPr>
          <a:xfrm>
            <a:off x="6162199" y="976122"/>
            <a:ext cx="914400" cy="237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Sigmoid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4" name="Google Shape;524;g3c1f91bb547_0_528"/>
          <p:cNvSpPr/>
          <p:nvPr/>
        </p:nvSpPr>
        <p:spPr>
          <a:xfrm>
            <a:off x="5326965" y="1722758"/>
            <a:ext cx="1097400" cy="2652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Execution Time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5" name="Google Shape;525;g3c1f91bb547_0_528"/>
          <p:cNvSpPr/>
          <p:nvPr/>
        </p:nvSpPr>
        <p:spPr>
          <a:xfrm>
            <a:off x="6434231" y="1722758"/>
            <a:ext cx="914400" cy="260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44.01</a:t>
            </a: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 sec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6" name="Google Shape;526;g3c1f91bb547_0_528"/>
          <p:cNvSpPr/>
          <p:nvPr/>
        </p:nvSpPr>
        <p:spPr>
          <a:xfrm>
            <a:off x="7148099" y="653529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Optimizer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7" name="Google Shape;527;g3c1f91bb547_0_528"/>
          <p:cNvSpPr/>
          <p:nvPr/>
        </p:nvSpPr>
        <p:spPr>
          <a:xfrm>
            <a:off x="7970629" y="653525"/>
            <a:ext cx="9876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Adam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8" name="Google Shape;528;g3c1f91bb547_0_528"/>
          <p:cNvSpPr/>
          <p:nvPr/>
        </p:nvSpPr>
        <p:spPr>
          <a:xfrm>
            <a:off x="7151027" y="930449"/>
            <a:ext cx="819600" cy="3657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Loss Function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9" name="Google Shape;529;g3c1f91bb547_0_528"/>
          <p:cNvSpPr/>
          <p:nvPr/>
        </p:nvSpPr>
        <p:spPr>
          <a:xfrm>
            <a:off x="7973163" y="930475"/>
            <a:ext cx="987600" cy="365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binary_crossentropy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0" name="Google Shape;530;g3c1f91bb547_0_528"/>
          <p:cNvSpPr/>
          <p:nvPr/>
        </p:nvSpPr>
        <p:spPr>
          <a:xfrm>
            <a:off x="1633823" y="1258153"/>
            <a:ext cx="867000" cy="26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1" name="Google Shape;531;g3c1f91bb547_0_528"/>
          <p:cNvSpPr/>
          <p:nvPr/>
        </p:nvSpPr>
        <p:spPr>
          <a:xfrm>
            <a:off x="2522335" y="1258153"/>
            <a:ext cx="867000" cy="24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14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2" name="Google Shape;532;g3c1f91bb547_0_528"/>
          <p:cNvSpPr/>
          <p:nvPr/>
        </p:nvSpPr>
        <p:spPr>
          <a:xfrm>
            <a:off x="3389471" y="1253966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Relu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3" name="Google Shape;533;g3c1f91bb547_0_528"/>
          <p:cNvSpPr/>
          <p:nvPr/>
        </p:nvSpPr>
        <p:spPr>
          <a:xfrm>
            <a:off x="4306267" y="662654"/>
            <a:ext cx="914400" cy="3384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Dropout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4" name="Google Shape;534;g3c1f91bb547_0_528"/>
          <p:cNvSpPr/>
          <p:nvPr/>
        </p:nvSpPr>
        <p:spPr>
          <a:xfrm>
            <a:off x="4306253" y="1003935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0.5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5" name="Google Shape;535;g3c1f91bb547_0_528"/>
          <p:cNvSpPr/>
          <p:nvPr/>
        </p:nvSpPr>
        <p:spPr>
          <a:xfrm>
            <a:off x="4315778" y="1263491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536" name="Google Shape;536;g3c1f91bb547_0_528"/>
          <p:cNvGraphicFramePr/>
          <p:nvPr/>
        </p:nvGraphicFramePr>
        <p:xfrm>
          <a:off x="3966738" y="233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{053E84B8-A2E8-425D-A416-EBBD39CC20DB}</a:tableStyleId>
              </a:tblPr>
              <a:tblGrid>
                <a:gridCol w="866375"/>
                <a:gridCol w="866375"/>
                <a:gridCol w="866375"/>
                <a:gridCol w="866375"/>
                <a:gridCol w="866375"/>
              </a:tblGrid>
              <a:tr h="26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Data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Accuracy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Recall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Precision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F1 Score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6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Training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0.98125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0.833201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0.987036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0.894006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</a:tr>
              <a:tr h="26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Validation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0.982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0.842078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0.984406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0.899533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</a:tr>
            </a:tbl>
          </a:graphicData>
        </a:graphic>
      </p:graphicFrame>
      <p:sp>
        <p:nvSpPr>
          <p:cNvPr id="537" name="Google Shape;537;g3c1f91bb547_0_528"/>
          <p:cNvSpPr txBox="1"/>
          <p:nvPr/>
        </p:nvSpPr>
        <p:spPr>
          <a:xfrm>
            <a:off x="3732094" y="3352150"/>
            <a:ext cx="48012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</a:rPr>
              <a:t>The Recall and Accuracy went down compared to model 4.</a:t>
            </a:r>
            <a:endParaRPr sz="1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</a:rPr>
              <a:t>It appears Dropout is </a:t>
            </a: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</a:rPr>
              <a:t>resulting</a:t>
            </a: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</a:rPr>
              <a:t> in some information loss, due to which model performance is suffering.</a:t>
            </a:r>
            <a:endParaRPr sz="1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8" name="Google Shape;538;g3c1f91bb547_0_528"/>
          <p:cNvSpPr/>
          <p:nvPr/>
        </p:nvSpPr>
        <p:spPr>
          <a:xfrm>
            <a:off x="7148646" y="1297162"/>
            <a:ext cx="819600" cy="2742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Metric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9" name="Google Shape;539;g3c1f91bb547_0_528"/>
          <p:cNvSpPr/>
          <p:nvPr/>
        </p:nvSpPr>
        <p:spPr>
          <a:xfrm>
            <a:off x="7970782" y="1297181"/>
            <a:ext cx="987600" cy="27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Recall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0" name="Google Shape;540;g3c1f91bb547_0_528"/>
          <p:cNvSpPr/>
          <p:nvPr/>
        </p:nvSpPr>
        <p:spPr>
          <a:xfrm>
            <a:off x="250774" y="920115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Epochs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1" name="Google Shape;541;g3c1f91bb547_0_528"/>
          <p:cNvSpPr/>
          <p:nvPr/>
        </p:nvSpPr>
        <p:spPr>
          <a:xfrm>
            <a:off x="1073277" y="920115"/>
            <a:ext cx="4089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50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2" name="Google Shape;542;g3c1f91bb547_0_528"/>
          <p:cNvSpPr/>
          <p:nvPr/>
        </p:nvSpPr>
        <p:spPr>
          <a:xfrm>
            <a:off x="253702" y="1197035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Batch Size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3" name="Google Shape;543;g3c1f91bb547_0_528"/>
          <p:cNvSpPr/>
          <p:nvPr/>
        </p:nvSpPr>
        <p:spPr>
          <a:xfrm>
            <a:off x="1075832" y="1197065"/>
            <a:ext cx="4089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64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4" name="Google Shape;544;g3c1f91bb547_0_528"/>
          <p:cNvSpPr/>
          <p:nvPr/>
        </p:nvSpPr>
        <p:spPr>
          <a:xfrm>
            <a:off x="250317" y="649224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Predictors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5" name="Google Shape;545;g3c1f91bb547_0_528"/>
          <p:cNvSpPr/>
          <p:nvPr/>
        </p:nvSpPr>
        <p:spPr>
          <a:xfrm>
            <a:off x="1073277" y="649224"/>
            <a:ext cx="4089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40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6" name="Google Shape;546;g3c1f91bb547_0_528"/>
          <p:cNvSpPr/>
          <p:nvPr/>
        </p:nvSpPr>
        <p:spPr>
          <a:xfrm>
            <a:off x="1645729" y="1530784"/>
            <a:ext cx="867000" cy="26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7" name="Google Shape;547;g3c1f91bb547_0_528"/>
          <p:cNvSpPr/>
          <p:nvPr/>
        </p:nvSpPr>
        <p:spPr>
          <a:xfrm>
            <a:off x="2534242" y="1530784"/>
            <a:ext cx="867000" cy="24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7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8" name="Google Shape;548;g3c1f91bb547_0_528"/>
          <p:cNvSpPr/>
          <p:nvPr/>
        </p:nvSpPr>
        <p:spPr>
          <a:xfrm>
            <a:off x="3401378" y="1526597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Relu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9" name="Google Shape;549;g3c1f91bb547_0_528"/>
          <p:cNvSpPr/>
          <p:nvPr/>
        </p:nvSpPr>
        <p:spPr>
          <a:xfrm>
            <a:off x="4327684" y="1536122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50" name="Google Shape;550;g3c1f91bb547_0_5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8016" y="2248376"/>
            <a:ext cx="3611881" cy="2732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c1f91bb547_0_577"/>
          <p:cNvSpPr txBox="1"/>
          <p:nvPr>
            <p:ph type="title"/>
          </p:nvPr>
        </p:nvSpPr>
        <p:spPr>
          <a:xfrm>
            <a:off x="202550" y="352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rgbClr val="1974D2"/>
                </a:solidFill>
              </a:rPr>
              <a:t>Model Performance : Model 6 -</a:t>
            </a:r>
            <a:r>
              <a:rPr lang="en" sz="1500">
                <a:solidFill>
                  <a:srgbClr val="1974D2"/>
                </a:solidFill>
              </a:rPr>
              <a:t> Adam Opt., Dropout &amp; Class weight</a:t>
            </a:r>
            <a:endParaRPr sz="1500">
              <a:solidFill>
                <a:srgbClr val="1974D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solidFill>
                <a:srgbClr val="1974D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solidFill>
                <a:srgbClr val="1974D2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>
              <a:solidFill>
                <a:srgbClr val="1974D2"/>
              </a:solidFill>
            </a:endParaRPr>
          </a:p>
        </p:txBody>
      </p:sp>
      <p:sp>
        <p:nvSpPr>
          <p:cNvPr id="556" name="Google Shape;556;g3c1f91bb547_0_577"/>
          <p:cNvSpPr/>
          <p:nvPr/>
        </p:nvSpPr>
        <p:spPr>
          <a:xfrm>
            <a:off x="1626779" y="653129"/>
            <a:ext cx="867000" cy="3378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Hidden Layers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7" name="Google Shape;557;g3c1f91bb547_0_577"/>
          <p:cNvSpPr/>
          <p:nvPr/>
        </p:nvSpPr>
        <p:spPr>
          <a:xfrm>
            <a:off x="2509580" y="653129"/>
            <a:ext cx="867000" cy="3378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# Neurons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8" name="Google Shape;558;g3c1f91bb547_0_577"/>
          <p:cNvSpPr/>
          <p:nvPr/>
        </p:nvSpPr>
        <p:spPr>
          <a:xfrm>
            <a:off x="1624298" y="998596"/>
            <a:ext cx="867000" cy="26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9" name="Google Shape;559;g3c1f91bb547_0_577"/>
          <p:cNvSpPr/>
          <p:nvPr/>
        </p:nvSpPr>
        <p:spPr>
          <a:xfrm>
            <a:off x="2512810" y="998596"/>
            <a:ext cx="867000" cy="24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14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0" name="Google Shape;560;g3c1f91bb547_0_577"/>
          <p:cNvSpPr/>
          <p:nvPr/>
        </p:nvSpPr>
        <p:spPr>
          <a:xfrm>
            <a:off x="3379961" y="653129"/>
            <a:ext cx="914400" cy="3384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Activation Function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1" name="Google Shape;561;g3c1f91bb547_0_577"/>
          <p:cNvSpPr/>
          <p:nvPr/>
        </p:nvSpPr>
        <p:spPr>
          <a:xfrm>
            <a:off x="3379946" y="994410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Relu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2" name="Google Shape;562;g3c1f91bb547_0_577"/>
          <p:cNvSpPr/>
          <p:nvPr/>
        </p:nvSpPr>
        <p:spPr>
          <a:xfrm>
            <a:off x="5326970" y="653129"/>
            <a:ext cx="819900" cy="318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Output Layer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3" name="Google Shape;563;g3c1f91bb547_0_577"/>
          <p:cNvSpPr/>
          <p:nvPr/>
        </p:nvSpPr>
        <p:spPr>
          <a:xfrm>
            <a:off x="5330025" y="978367"/>
            <a:ext cx="819900" cy="234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4" name="Google Shape;564;g3c1f91bb547_0_577"/>
          <p:cNvSpPr/>
          <p:nvPr/>
        </p:nvSpPr>
        <p:spPr>
          <a:xfrm>
            <a:off x="6162213" y="653129"/>
            <a:ext cx="914400" cy="3201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Activation Function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5" name="Google Shape;565;g3c1f91bb547_0_577"/>
          <p:cNvSpPr/>
          <p:nvPr/>
        </p:nvSpPr>
        <p:spPr>
          <a:xfrm>
            <a:off x="6162199" y="976122"/>
            <a:ext cx="914400" cy="2376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Sigmoid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6" name="Google Shape;566;g3c1f91bb547_0_577"/>
          <p:cNvSpPr/>
          <p:nvPr/>
        </p:nvSpPr>
        <p:spPr>
          <a:xfrm>
            <a:off x="269440" y="1983183"/>
            <a:ext cx="1097400" cy="2652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Execution Time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7" name="Google Shape;567;g3c1f91bb547_0_577"/>
          <p:cNvSpPr/>
          <p:nvPr/>
        </p:nvSpPr>
        <p:spPr>
          <a:xfrm>
            <a:off x="1376706" y="1983183"/>
            <a:ext cx="914400" cy="260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40.78</a:t>
            </a: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 sec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8" name="Google Shape;568;g3c1f91bb547_0_577"/>
          <p:cNvSpPr/>
          <p:nvPr/>
        </p:nvSpPr>
        <p:spPr>
          <a:xfrm>
            <a:off x="7148099" y="653529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Optimizer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9" name="Google Shape;569;g3c1f91bb547_0_577"/>
          <p:cNvSpPr/>
          <p:nvPr/>
        </p:nvSpPr>
        <p:spPr>
          <a:xfrm>
            <a:off x="7970629" y="653525"/>
            <a:ext cx="9876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Adam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0" name="Google Shape;570;g3c1f91bb547_0_577"/>
          <p:cNvSpPr/>
          <p:nvPr/>
        </p:nvSpPr>
        <p:spPr>
          <a:xfrm>
            <a:off x="7151027" y="930449"/>
            <a:ext cx="819600" cy="3657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Loss Function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1" name="Google Shape;571;g3c1f91bb547_0_577"/>
          <p:cNvSpPr/>
          <p:nvPr/>
        </p:nvSpPr>
        <p:spPr>
          <a:xfrm>
            <a:off x="7973163" y="930475"/>
            <a:ext cx="987600" cy="3657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binary_crossentropy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2" name="Google Shape;572;g3c1f91bb547_0_577"/>
          <p:cNvSpPr/>
          <p:nvPr/>
        </p:nvSpPr>
        <p:spPr>
          <a:xfrm>
            <a:off x="1633823" y="1258153"/>
            <a:ext cx="867000" cy="26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3" name="Google Shape;573;g3c1f91bb547_0_577"/>
          <p:cNvSpPr/>
          <p:nvPr/>
        </p:nvSpPr>
        <p:spPr>
          <a:xfrm>
            <a:off x="2522335" y="1258153"/>
            <a:ext cx="867000" cy="24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14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4" name="Google Shape;574;g3c1f91bb547_0_577"/>
          <p:cNvSpPr/>
          <p:nvPr/>
        </p:nvSpPr>
        <p:spPr>
          <a:xfrm>
            <a:off x="3389471" y="1253966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Relu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5" name="Google Shape;575;g3c1f91bb547_0_577"/>
          <p:cNvSpPr/>
          <p:nvPr/>
        </p:nvSpPr>
        <p:spPr>
          <a:xfrm>
            <a:off x="4306267" y="662654"/>
            <a:ext cx="914400" cy="3384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Dropout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6" name="Google Shape;576;g3c1f91bb547_0_577"/>
          <p:cNvSpPr/>
          <p:nvPr/>
        </p:nvSpPr>
        <p:spPr>
          <a:xfrm>
            <a:off x="4306253" y="1003935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0.5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7" name="Google Shape;577;g3c1f91bb547_0_577"/>
          <p:cNvSpPr/>
          <p:nvPr/>
        </p:nvSpPr>
        <p:spPr>
          <a:xfrm>
            <a:off x="4315778" y="1263491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578" name="Google Shape;578;g3c1f91bb547_0_577"/>
          <p:cNvGraphicFramePr/>
          <p:nvPr/>
        </p:nvGraphicFramePr>
        <p:xfrm>
          <a:off x="4240581" y="233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{053E84B8-A2E8-425D-A416-EBBD39CC20DB}</a:tableStyleId>
              </a:tblPr>
              <a:tblGrid>
                <a:gridCol w="866375"/>
                <a:gridCol w="866375"/>
                <a:gridCol w="866375"/>
                <a:gridCol w="866375"/>
                <a:gridCol w="866375"/>
              </a:tblGrid>
              <a:tr h="264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Data</a:t>
                      </a:r>
                      <a:endParaRPr sz="1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Accuracy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Recall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Precision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>
                          <a:solidFill>
                            <a:srgbClr val="5B9BD5"/>
                          </a:solidFill>
                        </a:rPr>
                        <a:t>F1 Score</a:t>
                      </a:r>
                      <a:endParaRPr b="1" sz="1000">
                        <a:solidFill>
                          <a:srgbClr val="5B9BD5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26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Training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0.070187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0.481806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0.453202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0.069067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</a:tr>
              <a:tr h="264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Validation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0.0695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0.484092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0.456387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rgbClr val="1F1F1F"/>
                          </a:solidFill>
                          <a:highlight>
                            <a:srgbClr val="FFFFFF"/>
                          </a:highlight>
                        </a:rPr>
                        <a:t>0.068293</a:t>
                      </a:r>
                      <a:endParaRPr sz="1050">
                        <a:solidFill>
                          <a:srgbClr val="1F1F1F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66675" marB="66675" marR="66675" marL="66675"/>
                </a:tc>
              </a:tr>
            </a:tbl>
          </a:graphicData>
        </a:graphic>
      </p:graphicFrame>
      <p:sp>
        <p:nvSpPr>
          <p:cNvPr id="579" name="Google Shape;579;g3c1f91bb547_0_577"/>
          <p:cNvSpPr txBox="1"/>
          <p:nvPr/>
        </p:nvSpPr>
        <p:spPr>
          <a:xfrm>
            <a:off x="4005938" y="3352150"/>
            <a:ext cx="48012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</a:rPr>
              <a:t>The Recall and Accuracy went down significantly.</a:t>
            </a:r>
            <a:endParaRPr sz="1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lang="en" sz="1100">
                <a:solidFill>
                  <a:srgbClr val="1F1F1F"/>
                </a:solidFill>
                <a:highlight>
                  <a:srgbClr val="FFFFFF"/>
                </a:highlight>
              </a:rPr>
              <a:t>It appears Dropout is resulting in some information loss, due to which model performance is suffering.</a:t>
            </a:r>
            <a:endParaRPr sz="11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0" name="Google Shape;580;g3c1f91bb547_0_577"/>
          <p:cNvSpPr/>
          <p:nvPr/>
        </p:nvSpPr>
        <p:spPr>
          <a:xfrm>
            <a:off x="7148646" y="1297162"/>
            <a:ext cx="819600" cy="2742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Metric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1" name="Google Shape;581;g3c1f91bb547_0_577"/>
          <p:cNvSpPr/>
          <p:nvPr/>
        </p:nvSpPr>
        <p:spPr>
          <a:xfrm>
            <a:off x="7970782" y="1297181"/>
            <a:ext cx="987600" cy="274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Recall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2" name="Google Shape;582;g3c1f91bb547_0_577"/>
          <p:cNvSpPr/>
          <p:nvPr/>
        </p:nvSpPr>
        <p:spPr>
          <a:xfrm>
            <a:off x="250774" y="920115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Epochs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3" name="Google Shape;583;g3c1f91bb547_0_577"/>
          <p:cNvSpPr/>
          <p:nvPr/>
        </p:nvSpPr>
        <p:spPr>
          <a:xfrm>
            <a:off x="1073277" y="920115"/>
            <a:ext cx="4089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50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4" name="Google Shape;584;g3c1f91bb547_0_577"/>
          <p:cNvSpPr/>
          <p:nvPr/>
        </p:nvSpPr>
        <p:spPr>
          <a:xfrm>
            <a:off x="253702" y="1197035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Batch Size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5" name="Google Shape;585;g3c1f91bb547_0_577"/>
          <p:cNvSpPr/>
          <p:nvPr/>
        </p:nvSpPr>
        <p:spPr>
          <a:xfrm>
            <a:off x="1075832" y="1197065"/>
            <a:ext cx="4089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64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6" name="Google Shape;586;g3c1f91bb547_0_577"/>
          <p:cNvSpPr/>
          <p:nvPr/>
        </p:nvSpPr>
        <p:spPr>
          <a:xfrm>
            <a:off x="250317" y="649224"/>
            <a:ext cx="819600" cy="2700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Predictors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7" name="Google Shape;587;g3c1f91bb547_0_577"/>
          <p:cNvSpPr/>
          <p:nvPr/>
        </p:nvSpPr>
        <p:spPr>
          <a:xfrm>
            <a:off x="1073277" y="649224"/>
            <a:ext cx="408900" cy="270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40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8" name="Google Shape;588;g3c1f91bb547_0_577"/>
          <p:cNvSpPr/>
          <p:nvPr/>
        </p:nvSpPr>
        <p:spPr>
          <a:xfrm>
            <a:off x="1645729" y="1530784"/>
            <a:ext cx="867000" cy="262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9" name="Google Shape;589;g3c1f91bb547_0_577"/>
          <p:cNvSpPr/>
          <p:nvPr/>
        </p:nvSpPr>
        <p:spPr>
          <a:xfrm>
            <a:off x="2534242" y="1530784"/>
            <a:ext cx="867000" cy="24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7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0" name="Google Shape;590;g3c1f91bb547_0_577"/>
          <p:cNvSpPr/>
          <p:nvPr/>
        </p:nvSpPr>
        <p:spPr>
          <a:xfrm>
            <a:off x="3401378" y="1526597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Relu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1" name="Google Shape;591;g3c1f91bb547_0_577"/>
          <p:cNvSpPr/>
          <p:nvPr/>
        </p:nvSpPr>
        <p:spPr>
          <a:xfrm>
            <a:off x="4327684" y="1536122"/>
            <a:ext cx="914400" cy="2469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1974D2"/>
                </a:solidFill>
                <a:latin typeface="Nunito"/>
                <a:ea typeface="Nunito"/>
                <a:cs typeface="Nunito"/>
                <a:sym typeface="Nunito"/>
              </a:rPr>
              <a:t>-</a:t>
            </a:r>
            <a:endParaRPr sz="1000">
              <a:solidFill>
                <a:srgbClr val="1974D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2" name="Google Shape;592;g3c1f91bb547_0_577"/>
          <p:cNvSpPr/>
          <p:nvPr/>
        </p:nvSpPr>
        <p:spPr>
          <a:xfrm>
            <a:off x="5320029" y="1371409"/>
            <a:ext cx="732900" cy="2286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Class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3" name="Google Shape;593;g3c1f91bb547_0_577"/>
          <p:cNvSpPr/>
          <p:nvPr/>
        </p:nvSpPr>
        <p:spPr>
          <a:xfrm>
            <a:off x="6062284" y="1371406"/>
            <a:ext cx="1025100" cy="2286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Class Weight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4" name="Google Shape;594;g3c1f91bb547_0_577"/>
          <p:cNvSpPr/>
          <p:nvPr/>
        </p:nvSpPr>
        <p:spPr>
          <a:xfrm>
            <a:off x="5318120" y="1614889"/>
            <a:ext cx="732900" cy="2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B9BD5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endParaRPr sz="1000">
              <a:solidFill>
                <a:srgbClr val="5B9BD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5" name="Google Shape;595;g3c1f91bb547_0_577"/>
          <p:cNvSpPr/>
          <p:nvPr/>
        </p:nvSpPr>
        <p:spPr>
          <a:xfrm>
            <a:off x="6060264" y="1607150"/>
            <a:ext cx="1025100" cy="2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B9BD5"/>
                </a:solidFill>
                <a:latin typeface="Nunito"/>
                <a:ea typeface="Nunito"/>
                <a:cs typeface="Nunito"/>
                <a:sym typeface="Nunito"/>
              </a:rPr>
              <a:t>1.0587</a:t>
            </a:r>
            <a:endParaRPr sz="1000">
              <a:solidFill>
                <a:srgbClr val="5B9BD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6" name="Google Shape;596;g3c1f91bb547_0_577"/>
          <p:cNvSpPr/>
          <p:nvPr/>
        </p:nvSpPr>
        <p:spPr>
          <a:xfrm>
            <a:off x="5325756" y="1862539"/>
            <a:ext cx="732900" cy="2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B9BD5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1000">
              <a:solidFill>
                <a:srgbClr val="FFFFFF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7" name="Google Shape;597;g3c1f91bb547_0_577"/>
          <p:cNvSpPr/>
          <p:nvPr/>
        </p:nvSpPr>
        <p:spPr>
          <a:xfrm>
            <a:off x="6068346" y="1854800"/>
            <a:ext cx="1025100" cy="228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5B9BD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5B9BD5"/>
                </a:solidFill>
                <a:latin typeface="Nunito"/>
                <a:ea typeface="Nunito"/>
                <a:cs typeface="Nunito"/>
                <a:sym typeface="Nunito"/>
              </a:rPr>
              <a:t>18.01</a:t>
            </a:r>
            <a:endParaRPr sz="1000">
              <a:solidFill>
                <a:srgbClr val="5B9BD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8" name="Google Shape;598;g3c1f91bb547_0_577"/>
          <p:cNvSpPr/>
          <p:nvPr/>
        </p:nvSpPr>
        <p:spPr>
          <a:xfrm>
            <a:off x="7208177" y="1297162"/>
            <a:ext cx="819600" cy="274200"/>
          </a:xfrm>
          <a:prstGeom prst="roundRect">
            <a:avLst>
              <a:gd fmla="val 16667" name="adj"/>
            </a:avLst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Metric</a:t>
            </a:r>
            <a:endParaRPr sz="100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99" name="Google Shape;599;g3c1f91bb547_0_5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160" y="2331720"/>
            <a:ext cx="3611881" cy="2722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ank You Gears Circular Green Blue Squares (Provided by Getty Images)" id="604" name="Google Shape;604;g3933d8000a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7400" y="187338"/>
            <a:ext cx="4282025" cy="428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