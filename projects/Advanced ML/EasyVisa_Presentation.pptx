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y="5143500" cx="9144000"/>
  <p:notesSz cx="6858000" cy="9144000"/>
  <p:embeddedFontLst>
    <p:embeddedFont>
      <p:font typeface="Nunito SemiBold"/>
      <p:regular r:id="rId44"/>
      <p:bold r:id="rId45"/>
      <p:italic r:id="rId46"/>
      <p:boldItalic r:id="rId47"/>
    </p:embeddedFont>
    <p:embeddedFont>
      <p:font typeface="Roboto"/>
      <p:regular r:id="rId48"/>
      <p:bold r:id="rId49"/>
      <p:italic r:id="rId50"/>
      <p:boldItalic r:id="rId51"/>
    </p:embeddedFont>
    <p:embeddedFont>
      <p:font typeface="Nunito"/>
      <p:regular r:id="rId52"/>
      <p:bold r:id="rId53"/>
      <p:italic r:id="rId54"/>
      <p:boldItalic r:id="rId55"/>
    </p:embeddedFont>
    <p:embeddedFont>
      <p:font typeface="Nunito ExtraBold"/>
      <p:bold r:id="rId56"/>
      <p:boldItalic r:id="rId57"/>
    </p:embeddedFont>
    <p:embeddedFont>
      <p:font typeface="Nunito Ligh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2" roundtripDataSignature="AMtx7miC1vzLA5Pu556Ekmh5n3T3qiIa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24CD0C-8643-40C6-8B31-7F8AB5523D7F}">
  <a:tblStyle styleId="{3B24CD0C-8643-40C6-8B31-7F8AB5523D7F}"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D633C4A3-3C73-41D3-AAA2-C2EAA6FE6DE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NunitoSemiBold-regular.fntdata"/><Relationship Id="rId43" Type="http://schemas.openxmlformats.org/officeDocument/2006/relationships/slide" Target="slides/slide36.xml"/><Relationship Id="rId46" Type="http://schemas.openxmlformats.org/officeDocument/2006/relationships/font" Target="fonts/NunitoSemiBold-italic.fntdata"/><Relationship Id="rId45" Type="http://schemas.openxmlformats.org/officeDocument/2006/relationships/font" Target="fonts/NunitoSemiBold-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regular.fntdata"/><Relationship Id="rId47" Type="http://schemas.openxmlformats.org/officeDocument/2006/relationships/font" Target="fonts/NunitoSemiBold-boldItalic.fntdata"/><Relationship Id="rId49"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customschemas.google.com/relationships/presentationmetadata" Target="metadata"/><Relationship Id="rId61" Type="http://schemas.openxmlformats.org/officeDocument/2006/relationships/font" Target="fonts/NunitoLight-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NunitoLight-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Italic.fntdata"/><Relationship Id="rId50" Type="http://schemas.openxmlformats.org/officeDocument/2006/relationships/font" Target="fonts/Roboto-italic.fntdata"/><Relationship Id="rId53" Type="http://schemas.openxmlformats.org/officeDocument/2006/relationships/font" Target="fonts/Nunito-bold.fntdata"/><Relationship Id="rId52" Type="http://schemas.openxmlformats.org/officeDocument/2006/relationships/font" Target="fonts/Nunito-regular.fntdata"/><Relationship Id="rId11" Type="http://schemas.openxmlformats.org/officeDocument/2006/relationships/slide" Target="slides/slide4.xml"/><Relationship Id="rId55" Type="http://schemas.openxmlformats.org/officeDocument/2006/relationships/font" Target="fonts/Nunito-boldItalic.fntdata"/><Relationship Id="rId10" Type="http://schemas.openxmlformats.org/officeDocument/2006/relationships/slide" Target="slides/slide3.xml"/><Relationship Id="rId54" Type="http://schemas.openxmlformats.org/officeDocument/2006/relationships/font" Target="fonts/Nunito-italic.fntdata"/><Relationship Id="rId13" Type="http://schemas.openxmlformats.org/officeDocument/2006/relationships/slide" Target="slides/slide6.xml"/><Relationship Id="rId57" Type="http://schemas.openxmlformats.org/officeDocument/2006/relationships/font" Target="fonts/NunitoExtraBold-boldItalic.fntdata"/><Relationship Id="rId12" Type="http://schemas.openxmlformats.org/officeDocument/2006/relationships/slide" Target="slides/slide5.xml"/><Relationship Id="rId56" Type="http://schemas.openxmlformats.org/officeDocument/2006/relationships/font" Target="fonts/NunitoExtraBold-bold.fntdata"/><Relationship Id="rId15" Type="http://schemas.openxmlformats.org/officeDocument/2006/relationships/slide" Target="slides/slide8.xml"/><Relationship Id="rId59" Type="http://schemas.openxmlformats.org/officeDocument/2006/relationships/font" Target="fonts/NunitoLight-bold.fntdata"/><Relationship Id="rId14" Type="http://schemas.openxmlformats.org/officeDocument/2006/relationships/slide" Target="slides/slide7.xml"/><Relationship Id="rId58" Type="http://schemas.openxmlformats.org/officeDocument/2006/relationships/font" Target="fonts/Nunito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17ddeb428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b17ddeb428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17ddeb428_0_2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g3b17ddeb428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0ae7f992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0ae7f992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0ae7f9920_0_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g3b0ae7f9920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0ae7f9920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3b0ae7f9920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0ae7f992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0ae7f992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b0ae7f9920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b0ae7f992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0ae7f9920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b0ae7f9920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b0ae7f9920_0_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b0ae7f9920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17ddeb428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b17ddeb428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133478bd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b133478b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17ddeb428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b17ddeb428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b17ddeb428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b17ddeb428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17ddeb428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b17ddeb428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17ddeb428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3b17ddeb428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17ddeb428_0_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3b17ddeb428_0_1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b17ddeb428_0_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b17ddeb428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b17ddeb428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b17ddeb428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b17ddeb428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3b17ddeb428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17ddeb428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17ddeb428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17ddeb42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b17ddeb42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17ddeb428_0_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b17ddeb428_0_1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17ddeb428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3b17ddeb428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8" name="Google Shape;40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416" name="Google Shape;416;p15: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7"/>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6" name="Google Shape;16;p17"/>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1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9" name="Google Shape;19;p18"/>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20" name="Google Shape;20;p1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2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22"/>
          <p:cNvGraphicFramePr/>
          <p:nvPr/>
        </p:nvGraphicFramePr>
        <p:xfrm>
          <a:off x="201942" y="833662"/>
          <a:ext cx="3000000" cy="3000000"/>
        </p:xfrm>
        <a:graphic>
          <a:graphicData uri="http://schemas.openxmlformats.org/drawingml/2006/table">
            <a:tbl>
              <a:tblPr bandRow="1" firstRow="1">
                <a:noFill/>
                <a:tableStyleId>{3B24CD0C-8643-40C6-8B31-7F8AB5523D7F}</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2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2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2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2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28"/>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28"/>
          <p:cNvPicPr preferRelativeResize="0"/>
          <p:nvPr/>
        </p:nvPicPr>
        <p:blipFill rotWithShape="1">
          <a:blip r:embed="rId2">
            <a:alphaModFix/>
          </a:blip>
          <a:srcRect b="19149" l="42816" r="37293" t="18358"/>
          <a:stretch/>
        </p:blipFill>
        <p:spPr>
          <a:xfrm>
            <a:off x="6052536" y="514443"/>
            <a:ext cx="2095112" cy="3703320"/>
          </a:xfrm>
          <a:prstGeom prst="rect">
            <a:avLst/>
          </a:prstGeom>
          <a:noFill/>
          <a:ln>
            <a:noFill/>
          </a:ln>
        </p:spPr>
      </p:pic>
      <p:sp>
        <p:nvSpPr>
          <p:cNvPr id="50" name="Google Shape;50;p28"/>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28"/>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28"/>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62" name="Shape 62"/>
        <p:cNvGrpSpPr/>
        <p:nvPr/>
      </p:nvGrpSpPr>
      <p:grpSpPr>
        <a:xfrm>
          <a:off x="0" y="0"/>
          <a:ext cx="0" cy="0"/>
          <a:chOff x="0" y="0"/>
          <a:chExt cx="0" cy="0"/>
        </a:xfrm>
      </p:grpSpPr>
      <p:sp>
        <p:nvSpPr>
          <p:cNvPr id="63" name="Google Shape;63;p20"/>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64" name="Google Shape;64;p20"/>
          <p:cNvPicPr preferRelativeResize="0"/>
          <p:nvPr/>
        </p:nvPicPr>
        <p:blipFill rotWithShape="1">
          <a:blip r:embed="rId2">
            <a:alphaModFix/>
          </a:blip>
          <a:srcRect b="19149" l="42816" r="37293" t="18358"/>
          <a:stretch/>
        </p:blipFill>
        <p:spPr>
          <a:xfrm>
            <a:off x="6052536" y="514443"/>
            <a:ext cx="2095112" cy="3703320"/>
          </a:xfrm>
          <a:prstGeom prst="rect">
            <a:avLst/>
          </a:prstGeom>
          <a:noFill/>
          <a:ln>
            <a:noFill/>
          </a:ln>
        </p:spPr>
      </p:pic>
      <p:sp>
        <p:nvSpPr>
          <p:cNvPr id="65" name="Google Shape;65;p20"/>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66" name="Google Shape;66;p20"/>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67" name="Google Shape;67;p20"/>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29"/>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70" name="Google Shape;70;p29"/>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1" name="Shape 71"/>
        <p:cNvGrpSpPr/>
        <p:nvPr/>
      </p:nvGrpSpPr>
      <p:grpSpPr>
        <a:xfrm>
          <a:off x="0" y="0"/>
          <a:ext cx="0" cy="0"/>
          <a:chOff x="0" y="0"/>
          <a:chExt cx="0" cy="0"/>
        </a:xfrm>
      </p:grpSpPr>
      <p:sp>
        <p:nvSpPr>
          <p:cNvPr id="72" name="Google Shape;72;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73" name="Google Shape;73;p3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 name="Shape 74"/>
        <p:cNvGrpSpPr/>
        <p:nvPr/>
      </p:nvGrpSpPr>
      <p:grpSpPr>
        <a:xfrm>
          <a:off x="0" y="0"/>
          <a:ext cx="0" cy="0"/>
          <a:chOff x="0" y="0"/>
          <a:chExt cx="0" cy="0"/>
        </a:xfrm>
      </p:grpSpPr>
      <p:sp>
        <p:nvSpPr>
          <p:cNvPr id="75" name="Google Shape;75;p3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31"/>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77" name="Google Shape;77;p3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78" name="Shape 78"/>
        <p:cNvGrpSpPr/>
        <p:nvPr/>
      </p:nvGrpSpPr>
      <p:grpSpPr>
        <a:xfrm>
          <a:off x="0" y="0"/>
          <a:ext cx="0" cy="0"/>
          <a:chOff x="0" y="0"/>
          <a:chExt cx="0" cy="0"/>
        </a:xfrm>
      </p:grpSpPr>
      <p:sp>
        <p:nvSpPr>
          <p:cNvPr id="79" name="Google Shape;79;p3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80" name="Google Shape;80;p32"/>
          <p:cNvGraphicFramePr/>
          <p:nvPr/>
        </p:nvGraphicFramePr>
        <p:xfrm>
          <a:off x="201942" y="833662"/>
          <a:ext cx="3000000" cy="3000000"/>
        </p:xfrm>
        <a:graphic>
          <a:graphicData uri="http://schemas.openxmlformats.org/drawingml/2006/table">
            <a:tbl>
              <a:tblPr bandRow="1" firstRow="1">
                <a:noFill/>
                <a:tableStyleId>{3B24CD0C-8643-40C6-8B31-7F8AB5523D7F}</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81" name="Google Shape;81;p3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2" name="Shape 82"/>
        <p:cNvGrpSpPr/>
        <p:nvPr/>
      </p:nvGrpSpPr>
      <p:grpSpPr>
        <a:xfrm>
          <a:off x="0" y="0"/>
          <a:ext cx="0" cy="0"/>
          <a:chOff x="0" y="0"/>
          <a:chExt cx="0" cy="0"/>
        </a:xfrm>
      </p:grpSpPr>
      <p:sp>
        <p:nvSpPr>
          <p:cNvPr id="83" name="Google Shape;83;p3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4" name="Google Shape;84;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5" name="Google Shape;85;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6" name="Google Shape;86;p3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3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9" name="Google Shape;89;p3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sp>
        <p:nvSpPr>
          <p:cNvPr id="91" name="Google Shape;91;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2" name="Google Shape;92;p3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6" name="Google Shape;96;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7" name="Google Shape;97;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98" name="Google Shape;98;p3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3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2" Type="http://schemas.openxmlformats.org/officeDocument/2006/relationships/theme" Target="../theme/theme2.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6"/>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6"/>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6"/>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6"/>
          <p:cNvGrpSpPr/>
          <p:nvPr/>
        </p:nvGrpSpPr>
        <p:grpSpPr>
          <a:xfrm>
            <a:off x="6593" y="10"/>
            <a:ext cx="175500" cy="709221"/>
            <a:chOff x="6593" y="10"/>
            <a:chExt cx="175500" cy="709221"/>
          </a:xfrm>
        </p:grpSpPr>
        <p:sp>
          <p:nvSpPr>
            <p:cNvPr id="12" name="Google Shape;12;p16"/>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6"/>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3" name="Shape 53"/>
        <p:cNvGrpSpPr/>
        <p:nvPr/>
      </p:nvGrpSpPr>
      <p:grpSpPr>
        <a:xfrm>
          <a:off x="0" y="0"/>
          <a:ext cx="0" cy="0"/>
          <a:chOff x="0" y="0"/>
          <a:chExt cx="0" cy="0"/>
        </a:xfrm>
      </p:grpSpPr>
      <p:sp>
        <p:nvSpPr>
          <p:cNvPr id="54" name="Google Shape;54;p19"/>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55" name="Google Shape;55;p19"/>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56" name="Google Shape;56;p19"/>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57" name="Google Shape;57;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58" name="Google Shape;58;p19"/>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59" name="Google Shape;59;p19"/>
          <p:cNvGrpSpPr/>
          <p:nvPr/>
        </p:nvGrpSpPr>
        <p:grpSpPr>
          <a:xfrm>
            <a:off x="6593" y="10"/>
            <a:ext cx="175500" cy="709221"/>
            <a:chOff x="6593" y="10"/>
            <a:chExt cx="175500" cy="709221"/>
          </a:xfrm>
        </p:grpSpPr>
        <p:sp>
          <p:nvSpPr>
            <p:cNvPr id="60" name="Google Shape;60;p19"/>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9"/>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mc:AlternateContent>
    <mc:Choice Requires="p14">
      <p:transition p14:dur="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3.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jpg"/><Relationship Id="rId4"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33.png"/><Relationship Id="rId5"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158150" y="1412050"/>
            <a:ext cx="6827700" cy="581700"/>
          </a:xfrm>
          <a:prstGeom prst="rect">
            <a:avLst/>
          </a:prstGeom>
          <a:solidFill>
            <a:srgbClr val="5B9BD5"/>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sz="3600">
                <a:solidFill>
                  <a:schemeClr val="lt1"/>
                </a:solidFill>
              </a:rPr>
              <a:t>EASY VISA</a:t>
            </a:r>
            <a:endParaRPr sz="3600">
              <a:solidFill>
                <a:schemeClr val="lt1"/>
              </a:solidFill>
            </a:endParaRPr>
          </a:p>
        </p:txBody>
      </p:sp>
      <p:sp>
        <p:nvSpPr>
          <p:cNvPr id="106" name="Google Shape;106;p1"/>
          <p:cNvSpPr txBox="1"/>
          <p:nvPr>
            <p:ph type="ctrTitle"/>
          </p:nvPr>
        </p:nvSpPr>
        <p:spPr>
          <a:xfrm>
            <a:off x="1153000" y="2038575"/>
            <a:ext cx="6827700" cy="498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b="0" lang="en" sz="1800">
                <a:solidFill>
                  <a:schemeClr val="dk1"/>
                </a:solidFill>
                <a:latin typeface="Nunito Light"/>
                <a:ea typeface="Nunito Light"/>
                <a:cs typeface="Nunito Light"/>
                <a:sym typeface="Nunito Light"/>
              </a:rPr>
              <a:t>An optimization problem | 15-Dec-2025</a:t>
            </a:r>
            <a:endParaRPr b="0" sz="1800">
              <a:solidFill>
                <a:schemeClr val="dk1"/>
              </a:solidFill>
              <a:latin typeface="Nunito Light"/>
              <a:ea typeface="Nunito Light"/>
              <a:cs typeface="Nunito Light"/>
              <a:sym typeface="Nunito Light"/>
            </a:endParaRPr>
          </a:p>
        </p:txBody>
      </p:sp>
      <p:sp>
        <p:nvSpPr>
          <p:cNvPr id="107" name="Google Shape;107;p1"/>
          <p:cNvSpPr txBox="1"/>
          <p:nvPr>
            <p:ph type="ctrTitle"/>
          </p:nvPr>
        </p:nvSpPr>
        <p:spPr>
          <a:xfrm>
            <a:off x="1183516" y="2434743"/>
            <a:ext cx="6827700" cy="498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b="0" lang="en" sz="1200">
                <a:solidFill>
                  <a:schemeClr val="dk1"/>
                </a:solidFill>
                <a:latin typeface="Nunito Light"/>
                <a:ea typeface="Nunito Light"/>
                <a:cs typeface="Nunito Light"/>
                <a:sym typeface="Nunito Light"/>
              </a:rPr>
              <a:t>By Uday Poluri</a:t>
            </a:r>
            <a:endParaRPr b="0" sz="1200">
              <a:solidFill>
                <a:schemeClr val="dk1"/>
              </a:solidFill>
              <a:latin typeface="Nunito Light"/>
              <a:ea typeface="Nunito Light"/>
              <a:cs typeface="Nunito Light"/>
              <a:sym typeface="Nunito Light"/>
            </a:endParaRPr>
          </a:p>
        </p:txBody>
      </p:sp>
      <p:cxnSp>
        <p:nvCxnSpPr>
          <p:cNvPr id="108" name="Google Shape;108;p1"/>
          <p:cNvCxnSpPr/>
          <p:nvPr/>
        </p:nvCxnSpPr>
        <p:spPr>
          <a:xfrm flipH="1" rot="10800000">
            <a:off x="1249075" y="1971250"/>
            <a:ext cx="6696600" cy="225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14" name="Google Shape;114;p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indent="-317500" lvl="0" marL="457200" rtl="0" algn="l">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indent="-317500" lvl="0" marL="457200" rtl="0" algn="l">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202550" y="20396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20" name="Google Shape;120;p3"/>
          <p:cNvSpPr txBox="1"/>
          <p:nvPr>
            <p:ph idx="1" type="body"/>
          </p:nvPr>
        </p:nvSpPr>
        <p:spPr>
          <a:xfrm>
            <a:off x="202550" y="727900"/>
            <a:ext cx="8629800" cy="42498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1000"/>
              </a:spcBef>
              <a:spcAft>
                <a:spcPts val="0"/>
              </a:spcAft>
              <a:buClr>
                <a:srgbClr val="000000"/>
              </a:buClr>
              <a:buSzPts val="1300"/>
              <a:buChar char="●"/>
            </a:pPr>
            <a:r>
              <a:rPr lang="en" sz="1300">
                <a:solidFill>
                  <a:srgbClr val="000000"/>
                </a:solidFill>
              </a:rPr>
              <a:t>The goal of this project was to develop a robust machine learning classifier to predict the visa application outcomes and identify the drivers for approvals. By automating the initial screening process, the model significantly reduces the manual effort and enhances the operational efficiency.</a:t>
            </a:r>
            <a:endParaRPr sz="1300">
              <a:solidFill>
                <a:srgbClr val="000000"/>
              </a:solidFill>
            </a:endParaRPr>
          </a:p>
          <a:p>
            <a:pPr indent="-317500" lvl="0" marL="457200" rtl="0" algn="l">
              <a:lnSpc>
                <a:spcPct val="115000"/>
              </a:lnSpc>
              <a:spcBef>
                <a:spcPts val="1000"/>
              </a:spcBef>
              <a:spcAft>
                <a:spcPts val="0"/>
              </a:spcAft>
              <a:buClr>
                <a:srgbClr val="000000"/>
              </a:buClr>
              <a:buSzPts val="1400"/>
              <a:buChar char="●"/>
            </a:pPr>
            <a:r>
              <a:rPr b="1" lang="en" sz="1400">
                <a:solidFill>
                  <a:srgbClr val="000000"/>
                </a:solidFill>
              </a:rPr>
              <a:t>Methodology &amp; Development </a:t>
            </a:r>
            <a:endParaRPr b="1" sz="1400">
              <a:solidFill>
                <a:srgbClr val="000000"/>
              </a:solidFill>
            </a:endParaRPr>
          </a:p>
          <a:p>
            <a:pPr indent="-311150" lvl="1" marL="914400" rtl="0" algn="l">
              <a:lnSpc>
                <a:spcPct val="115000"/>
              </a:lnSpc>
              <a:spcBef>
                <a:spcPts val="1000"/>
              </a:spcBef>
              <a:spcAft>
                <a:spcPts val="0"/>
              </a:spcAft>
              <a:buClr>
                <a:srgbClr val="000000"/>
              </a:buClr>
              <a:buSzPts val="1300"/>
              <a:buChar char="○"/>
            </a:pPr>
            <a:r>
              <a:rPr b="1" lang="en">
                <a:solidFill>
                  <a:srgbClr val="000000"/>
                </a:solidFill>
              </a:rPr>
              <a:t>Benchmarking: </a:t>
            </a:r>
            <a:r>
              <a:rPr lang="en">
                <a:solidFill>
                  <a:srgbClr val="000000"/>
                </a:solidFill>
              </a:rPr>
              <a:t>A baseline is established with default models, followed by the development of advanced ensemble models for robust predictions.</a:t>
            </a:r>
            <a:endParaRPr>
              <a:solidFill>
                <a:srgbClr val="000000"/>
              </a:solidFill>
            </a:endParaRPr>
          </a:p>
          <a:p>
            <a:pPr indent="-311150" lvl="1" marL="914400" rtl="0" algn="l">
              <a:lnSpc>
                <a:spcPct val="115000"/>
              </a:lnSpc>
              <a:spcBef>
                <a:spcPts val="1000"/>
              </a:spcBef>
              <a:spcAft>
                <a:spcPts val="0"/>
              </a:spcAft>
              <a:buClr>
                <a:srgbClr val="000000"/>
              </a:buClr>
              <a:buSzPts val="1300"/>
              <a:buChar char="○"/>
            </a:pPr>
            <a:r>
              <a:rPr b="1" lang="en">
                <a:solidFill>
                  <a:srgbClr val="000000"/>
                </a:solidFill>
              </a:rPr>
              <a:t>Data processing: </a:t>
            </a:r>
            <a:r>
              <a:rPr lang="en">
                <a:solidFill>
                  <a:srgbClr val="000000"/>
                </a:solidFill>
              </a:rPr>
              <a:t>Implemented Class Imbalance mitigation to balance the output classes and eliminate bias towards under-represented class.</a:t>
            </a:r>
            <a:endParaRPr>
              <a:solidFill>
                <a:srgbClr val="000000"/>
              </a:solidFill>
            </a:endParaRPr>
          </a:p>
          <a:p>
            <a:pPr indent="-311150" lvl="1" marL="914400" rtl="0" algn="l">
              <a:lnSpc>
                <a:spcPct val="115000"/>
              </a:lnSpc>
              <a:spcBef>
                <a:spcPts val="1000"/>
              </a:spcBef>
              <a:spcAft>
                <a:spcPts val="0"/>
              </a:spcAft>
              <a:buClr>
                <a:srgbClr val="000000"/>
              </a:buClr>
              <a:buSzPts val="1300"/>
              <a:buChar char="○"/>
            </a:pPr>
            <a:r>
              <a:rPr b="1" lang="en">
                <a:solidFill>
                  <a:srgbClr val="000000"/>
                </a:solidFill>
              </a:rPr>
              <a:t>Hyperparameter Tuning: </a:t>
            </a:r>
            <a:r>
              <a:rPr lang="en">
                <a:solidFill>
                  <a:srgbClr val="000000"/>
                </a:solidFill>
              </a:rPr>
              <a:t>Applied optimization techniques to tune the model and maximize the performance.</a:t>
            </a:r>
            <a:endParaRPr>
              <a:solidFill>
                <a:srgbClr val="000000"/>
              </a:solidFill>
            </a:endParaRPr>
          </a:p>
          <a:p>
            <a:pPr indent="-311150" lvl="0" marL="457200" rtl="0" algn="l">
              <a:lnSpc>
                <a:spcPct val="100000"/>
              </a:lnSpc>
              <a:spcBef>
                <a:spcPts val="1000"/>
              </a:spcBef>
              <a:spcAft>
                <a:spcPts val="0"/>
              </a:spcAft>
              <a:buClr>
                <a:srgbClr val="000000"/>
              </a:buClr>
              <a:buSzPts val="1300"/>
              <a:buChar char="●"/>
            </a:pPr>
            <a:r>
              <a:rPr b="1" lang="en" sz="1400">
                <a:solidFill>
                  <a:srgbClr val="000000"/>
                </a:solidFill>
              </a:rPr>
              <a:t>Model Evaluation and Performance:</a:t>
            </a:r>
            <a:endParaRPr b="1" sz="1400">
              <a:solidFill>
                <a:srgbClr val="000000"/>
              </a:solidFill>
            </a:endParaRPr>
          </a:p>
          <a:p>
            <a:pPr indent="-311150" lvl="1" marL="914400" rtl="0" algn="l">
              <a:lnSpc>
                <a:spcPct val="115000"/>
              </a:lnSpc>
              <a:spcBef>
                <a:spcPts val="1000"/>
              </a:spcBef>
              <a:spcAft>
                <a:spcPts val="1000"/>
              </a:spcAft>
              <a:buClr>
                <a:srgbClr val="000000"/>
              </a:buClr>
              <a:buSzPts val="1300"/>
              <a:buChar char="○"/>
            </a:pPr>
            <a:r>
              <a:rPr lang="en">
                <a:solidFill>
                  <a:srgbClr val="000000"/>
                </a:solidFill>
              </a:rPr>
              <a:t>The goal is</a:t>
            </a:r>
            <a:r>
              <a:rPr b="1" lang="en">
                <a:solidFill>
                  <a:srgbClr val="000000"/>
                </a:solidFill>
              </a:rPr>
              <a:t> </a:t>
            </a:r>
            <a:r>
              <a:rPr lang="en">
                <a:solidFill>
                  <a:srgbClr val="000000"/>
                </a:solidFill>
              </a:rPr>
              <a:t>to minimize False Positives ( a wrong person getting the position) and False Negatives (Will miss a qualified resource)</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3b17ddeb428_0_222"/>
          <p:cNvSpPr txBox="1"/>
          <p:nvPr>
            <p:ph type="title"/>
          </p:nvPr>
        </p:nvSpPr>
        <p:spPr>
          <a:xfrm>
            <a:off x="202550" y="20396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126" name="Google Shape;126;g3b17ddeb428_0_222"/>
          <p:cNvSpPr txBox="1"/>
          <p:nvPr>
            <p:ph idx="1" type="body"/>
          </p:nvPr>
        </p:nvSpPr>
        <p:spPr>
          <a:xfrm>
            <a:off x="202550" y="727900"/>
            <a:ext cx="8629800" cy="42498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rgbClr val="000000"/>
              </a:buClr>
              <a:buSzPts val="1300"/>
              <a:buChar char="●"/>
            </a:pPr>
            <a:r>
              <a:rPr b="1" lang="en" sz="1400">
                <a:solidFill>
                  <a:srgbClr val="000000"/>
                </a:solidFill>
              </a:rPr>
              <a:t>Model Evaluation and Performance (Continued):</a:t>
            </a:r>
            <a:endParaRPr b="1" sz="1400">
              <a:solidFill>
                <a:srgbClr val="000000"/>
              </a:solidFill>
            </a:endParaRPr>
          </a:p>
          <a:p>
            <a:pPr indent="-311150" lvl="1" marL="914400" rtl="0" algn="l">
              <a:lnSpc>
                <a:spcPct val="115000"/>
              </a:lnSpc>
              <a:spcBef>
                <a:spcPts val="1000"/>
              </a:spcBef>
              <a:spcAft>
                <a:spcPts val="0"/>
              </a:spcAft>
              <a:buClr>
                <a:srgbClr val="000000"/>
              </a:buClr>
              <a:buSzPts val="1300"/>
              <a:buChar char="○"/>
            </a:pPr>
            <a:r>
              <a:rPr b="1" lang="en">
                <a:solidFill>
                  <a:srgbClr val="000000"/>
                </a:solidFill>
              </a:rPr>
              <a:t>Gradient Boosting Classifier</a:t>
            </a:r>
            <a:r>
              <a:rPr lang="en">
                <a:solidFill>
                  <a:srgbClr val="000000"/>
                </a:solidFill>
              </a:rPr>
              <a:t> achieved the best F1 Score of 0.82 indicating a balance between Recall (False Negatives / missed qualified resources) and Precision (False Positives / incorrect approvals).</a:t>
            </a:r>
            <a:endParaRPr>
              <a:solidFill>
                <a:srgbClr val="000000"/>
              </a:solidFill>
            </a:endParaRPr>
          </a:p>
          <a:p>
            <a:pPr indent="-311150" lvl="1" marL="914400" rtl="0" algn="l">
              <a:lnSpc>
                <a:spcPct val="150000"/>
              </a:lnSpc>
              <a:spcBef>
                <a:spcPts val="1000"/>
              </a:spcBef>
              <a:spcAft>
                <a:spcPts val="0"/>
              </a:spcAft>
              <a:buClr>
                <a:schemeClr val="dk1"/>
              </a:buClr>
              <a:buSzPts val="1300"/>
              <a:buChar char="○"/>
            </a:pPr>
            <a:r>
              <a:rPr lang="en">
                <a:solidFill>
                  <a:schemeClr val="dk1"/>
                </a:solidFill>
              </a:rPr>
              <a:t>The model achieved a high Recall (~89%) on the positive class, successfully identifying vast majority of qualifying applications.</a:t>
            </a:r>
            <a:endParaRPr>
              <a:solidFill>
                <a:schemeClr val="dk1"/>
              </a:solidFill>
            </a:endParaRPr>
          </a:p>
          <a:p>
            <a:pPr indent="-311150" lvl="1" marL="914400" rtl="0" algn="l">
              <a:lnSpc>
                <a:spcPct val="150000"/>
              </a:lnSpc>
              <a:spcBef>
                <a:spcPts val="0"/>
              </a:spcBef>
              <a:spcAft>
                <a:spcPts val="0"/>
              </a:spcAft>
              <a:buClr>
                <a:schemeClr val="dk1"/>
              </a:buClr>
              <a:buSzPts val="1300"/>
              <a:buChar char="○"/>
            </a:pPr>
            <a:r>
              <a:rPr lang="en">
                <a:solidFill>
                  <a:schemeClr val="dk1"/>
                </a:solidFill>
              </a:rPr>
              <a:t>~26% of applications were predicted incorrectly, however the performance was consistent across the Training, Validation and Test data indicating that model was generalizing well.</a:t>
            </a:r>
            <a:endParaRPr>
              <a:solidFill>
                <a:schemeClr val="dk1"/>
              </a:solidFill>
            </a:endParaRPr>
          </a:p>
          <a:p>
            <a:pPr indent="-323850" lvl="0" marL="457200" rtl="0" algn="l">
              <a:lnSpc>
                <a:spcPct val="150000"/>
              </a:lnSpc>
              <a:spcBef>
                <a:spcPts val="0"/>
              </a:spcBef>
              <a:spcAft>
                <a:spcPts val="0"/>
              </a:spcAft>
              <a:buClr>
                <a:schemeClr val="dk1"/>
              </a:buClr>
              <a:buSzPts val="1500"/>
              <a:buChar char="●"/>
            </a:pPr>
            <a:r>
              <a:rPr b="1" lang="en">
                <a:solidFill>
                  <a:schemeClr val="dk1"/>
                </a:solidFill>
              </a:rPr>
              <a:t>Key Insights and Drivers</a:t>
            </a:r>
            <a:endParaRPr b="1">
              <a:solidFill>
                <a:schemeClr val="dk1"/>
              </a:solidFill>
            </a:endParaRPr>
          </a:p>
          <a:p>
            <a:pPr indent="-311150" lvl="1" marL="914400" rtl="0" algn="l">
              <a:lnSpc>
                <a:spcPct val="150000"/>
              </a:lnSpc>
              <a:spcBef>
                <a:spcPts val="0"/>
              </a:spcBef>
              <a:spcAft>
                <a:spcPts val="0"/>
              </a:spcAft>
              <a:buClr>
                <a:schemeClr val="dk1"/>
              </a:buClr>
              <a:buSzPts val="1300"/>
              <a:buChar char="○"/>
            </a:pPr>
            <a:r>
              <a:rPr b="1" lang="en">
                <a:solidFill>
                  <a:schemeClr val="dk1"/>
                </a:solidFill>
              </a:rPr>
              <a:t>Employee education, Prevailing wages and Job experience</a:t>
            </a:r>
            <a:r>
              <a:rPr lang="en">
                <a:solidFill>
                  <a:schemeClr val="dk1"/>
                </a:solidFill>
              </a:rPr>
              <a:t> are top features influencing the decision.</a:t>
            </a:r>
            <a:endParaRPr>
              <a:solidFill>
                <a:schemeClr val="dk1"/>
              </a:solidFill>
            </a:endParaRPr>
          </a:p>
          <a:p>
            <a:pPr indent="-311150" lvl="1" marL="914400" rtl="0" algn="l">
              <a:lnSpc>
                <a:spcPct val="150000"/>
              </a:lnSpc>
              <a:spcBef>
                <a:spcPts val="0"/>
              </a:spcBef>
              <a:spcAft>
                <a:spcPts val="0"/>
              </a:spcAft>
              <a:buClr>
                <a:schemeClr val="dk1"/>
              </a:buClr>
              <a:buSzPts val="1300"/>
              <a:buChar char="○"/>
            </a:pPr>
            <a:r>
              <a:rPr lang="en">
                <a:solidFill>
                  <a:schemeClr val="dk1"/>
                </a:solidFill>
              </a:rPr>
              <a:t>Higher education, higher prevailing wages and prior job experience all show a strong positive correlation with approval ratings.</a:t>
            </a:r>
            <a:endParaRPr>
              <a:solidFill>
                <a:schemeClr val="dk1"/>
              </a:solidFill>
            </a:endParaRPr>
          </a:p>
          <a:p>
            <a:pPr indent="-311150" lvl="1" marL="914400" rtl="0" algn="l">
              <a:lnSpc>
                <a:spcPct val="150000"/>
              </a:lnSpc>
              <a:spcBef>
                <a:spcPts val="0"/>
              </a:spcBef>
              <a:spcAft>
                <a:spcPts val="0"/>
              </a:spcAft>
              <a:buClr>
                <a:schemeClr val="dk1"/>
              </a:buClr>
              <a:buSzPts val="1300"/>
              <a:buChar char="○"/>
            </a:pPr>
            <a:r>
              <a:rPr lang="en">
                <a:solidFill>
                  <a:schemeClr val="dk1"/>
                </a:solidFill>
              </a:rPr>
              <a:t>Applications from Europe region show highest approval rates relative to their volume, while South America recorded the lowest approval rates.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b17ddeb428_0_227"/>
          <p:cNvSpPr txBox="1"/>
          <p:nvPr>
            <p:ph type="title"/>
          </p:nvPr>
        </p:nvSpPr>
        <p:spPr>
          <a:xfrm>
            <a:off x="202550" y="155207"/>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32" name="Google Shape;132;g3b17ddeb428_0_227"/>
          <p:cNvSpPr txBox="1"/>
          <p:nvPr>
            <p:ph idx="1" type="body"/>
          </p:nvPr>
        </p:nvSpPr>
        <p:spPr>
          <a:xfrm>
            <a:off x="202550" y="3187400"/>
            <a:ext cx="952500" cy="31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1000"/>
              </a:spcAft>
              <a:buNone/>
            </a:pPr>
            <a:r>
              <a:rPr b="1" lang="en" sz="1200">
                <a:solidFill>
                  <a:srgbClr val="000000"/>
                </a:solidFill>
              </a:rPr>
              <a:t>Solution Approach</a:t>
            </a:r>
            <a:endParaRPr b="1" sz="1200">
              <a:solidFill>
                <a:srgbClr val="000000"/>
              </a:solidFill>
            </a:endParaRPr>
          </a:p>
        </p:txBody>
      </p:sp>
      <p:sp>
        <p:nvSpPr>
          <p:cNvPr id="133" name="Google Shape;133;g3b17ddeb428_0_227"/>
          <p:cNvSpPr/>
          <p:nvPr/>
        </p:nvSpPr>
        <p:spPr>
          <a:xfrm>
            <a:off x="1106557" y="3265855"/>
            <a:ext cx="1922100" cy="365700"/>
          </a:xfrm>
          <a:prstGeom prst="homePlate">
            <a:avLst>
              <a:gd fmla="val 50000" name="adj"/>
            </a:avLst>
          </a:prstGeom>
          <a:solidFill>
            <a:srgbClr val="CFE2F3"/>
          </a:solidFill>
          <a:ln>
            <a:noFill/>
          </a:ln>
          <a:effectLst>
            <a:outerShdw blurRad="57150" rotWithShape="0" algn="bl" dir="36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dk1"/>
                </a:solidFill>
                <a:latin typeface="Nunito"/>
                <a:ea typeface="Nunito"/>
                <a:cs typeface="Nunito"/>
                <a:sym typeface="Nunito"/>
              </a:rPr>
              <a:t>Exploratory </a:t>
            </a:r>
            <a:endParaRPr sz="900">
              <a:solidFill>
                <a:schemeClr val="dk1"/>
              </a:solidFill>
              <a:latin typeface="Nunito"/>
              <a:ea typeface="Nunito"/>
              <a:cs typeface="Nunito"/>
              <a:sym typeface="Nunito"/>
            </a:endParaRPr>
          </a:p>
          <a:p>
            <a:pPr indent="0" lvl="0" marL="0" rtl="0" algn="ctr">
              <a:spcBef>
                <a:spcPts val="0"/>
              </a:spcBef>
              <a:spcAft>
                <a:spcPts val="0"/>
              </a:spcAft>
              <a:buNone/>
            </a:pPr>
            <a:r>
              <a:rPr lang="en" sz="900">
                <a:solidFill>
                  <a:schemeClr val="dk1"/>
                </a:solidFill>
                <a:latin typeface="Nunito"/>
                <a:ea typeface="Nunito"/>
                <a:cs typeface="Nunito"/>
                <a:sym typeface="Nunito"/>
              </a:rPr>
              <a:t>Data Analysis</a:t>
            </a:r>
            <a:endParaRPr sz="900">
              <a:solidFill>
                <a:schemeClr val="dk1"/>
              </a:solidFill>
              <a:latin typeface="Nunito"/>
              <a:ea typeface="Nunito"/>
              <a:cs typeface="Nunito"/>
              <a:sym typeface="Nunito"/>
            </a:endParaRPr>
          </a:p>
        </p:txBody>
      </p:sp>
      <p:sp>
        <p:nvSpPr>
          <p:cNvPr id="134" name="Google Shape;134;g3b17ddeb428_0_227"/>
          <p:cNvSpPr/>
          <p:nvPr/>
        </p:nvSpPr>
        <p:spPr>
          <a:xfrm>
            <a:off x="2892998" y="3265855"/>
            <a:ext cx="1922100" cy="365700"/>
          </a:xfrm>
          <a:prstGeom prst="chevron">
            <a:avLst>
              <a:gd fmla="val 50000" name="adj"/>
            </a:avLst>
          </a:prstGeom>
          <a:solidFill>
            <a:srgbClr val="9FC5E8"/>
          </a:solidFill>
          <a:ln>
            <a:noFill/>
          </a:ln>
          <a:effectLst>
            <a:outerShdw blurRad="57150" rotWithShape="0" algn="bl" dir="3600000" dist="19050">
              <a:srgbClr val="000000">
                <a:alpha val="3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900">
                <a:solidFill>
                  <a:schemeClr val="dk1"/>
                </a:solidFill>
                <a:latin typeface="Nunito"/>
                <a:ea typeface="Nunito"/>
                <a:cs typeface="Nunito"/>
                <a:sym typeface="Nunito"/>
              </a:rPr>
              <a:t>Data Modeling </a:t>
            </a:r>
            <a:endParaRPr sz="900">
              <a:solidFill>
                <a:schemeClr val="dk1"/>
              </a:solidFill>
              <a:latin typeface="Nunito"/>
              <a:ea typeface="Nunito"/>
              <a:cs typeface="Nunito"/>
              <a:sym typeface="Nunito"/>
            </a:endParaRPr>
          </a:p>
          <a:p>
            <a:pPr indent="0" lvl="0" marL="0" marR="0" rtl="0" algn="ctr">
              <a:lnSpc>
                <a:spcPct val="100000"/>
              </a:lnSpc>
              <a:spcBef>
                <a:spcPts val="0"/>
              </a:spcBef>
              <a:spcAft>
                <a:spcPts val="0"/>
              </a:spcAft>
              <a:buNone/>
            </a:pPr>
            <a:r>
              <a:rPr lang="en" sz="900">
                <a:solidFill>
                  <a:schemeClr val="dk1"/>
                </a:solidFill>
                <a:latin typeface="Nunito"/>
                <a:ea typeface="Nunito"/>
                <a:cs typeface="Nunito"/>
                <a:sym typeface="Nunito"/>
              </a:rPr>
              <a:t>&amp; Fine tuning</a:t>
            </a:r>
            <a:endParaRPr sz="900">
              <a:solidFill>
                <a:schemeClr val="dk1"/>
              </a:solidFill>
              <a:latin typeface="Nunito"/>
              <a:ea typeface="Nunito"/>
              <a:cs typeface="Nunito"/>
              <a:sym typeface="Nunito"/>
            </a:endParaRPr>
          </a:p>
        </p:txBody>
      </p:sp>
      <p:sp>
        <p:nvSpPr>
          <p:cNvPr id="135" name="Google Shape;135;g3b17ddeb428_0_227"/>
          <p:cNvSpPr/>
          <p:nvPr/>
        </p:nvSpPr>
        <p:spPr>
          <a:xfrm>
            <a:off x="4685222" y="3265855"/>
            <a:ext cx="1922100" cy="365700"/>
          </a:xfrm>
          <a:prstGeom prst="chevron">
            <a:avLst>
              <a:gd fmla="val 50000" name="adj"/>
            </a:avLst>
          </a:prstGeom>
          <a:solidFill>
            <a:srgbClr val="6FA8DC"/>
          </a:solidFill>
          <a:ln>
            <a:noFill/>
          </a:ln>
          <a:effectLst>
            <a:outerShdw blurRad="57150" rotWithShape="0" algn="bl" dir="3600000" dist="19050">
              <a:srgbClr val="000000">
                <a:alpha val="3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900">
                <a:solidFill>
                  <a:schemeClr val="lt1"/>
                </a:solidFill>
                <a:latin typeface="Nunito"/>
                <a:ea typeface="Nunito"/>
                <a:cs typeface="Nunito"/>
                <a:sym typeface="Nunito"/>
              </a:rPr>
              <a:t>Actionable </a:t>
            </a:r>
            <a:endParaRPr sz="900">
              <a:solidFill>
                <a:schemeClr val="lt1"/>
              </a:solidFill>
              <a:latin typeface="Nunito"/>
              <a:ea typeface="Nunito"/>
              <a:cs typeface="Nunito"/>
              <a:sym typeface="Nunito"/>
            </a:endParaRPr>
          </a:p>
          <a:p>
            <a:pPr indent="0" lvl="0" marL="0" marR="0" rtl="0" algn="ctr">
              <a:lnSpc>
                <a:spcPct val="100000"/>
              </a:lnSpc>
              <a:spcBef>
                <a:spcPts val="0"/>
              </a:spcBef>
              <a:spcAft>
                <a:spcPts val="0"/>
              </a:spcAft>
              <a:buNone/>
            </a:pPr>
            <a:r>
              <a:rPr lang="en" sz="900">
                <a:solidFill>
                  <a:schemeClr val="lt1"/>
                </a:solidFill>
                <a:latin typeface="Nunito"/>
                <a:ea typeface="Nunito"/>
                <a:cs typeface="Nunito"/>
                <a:sym typeface="Nunito"/>
              </a:rPr>
              <a:t>Insights</a:t>
            </a:r>
            <a:endParaRPr sz="900">
              <a:solidFill>
                <a:schemeClr val="lt1"/>
              </a:solidFill>
              <a:latin typeface="Nunito Light"/>
              <a:ea typeface="Nunito Light"/>
              <a:cs typeface="Nunito Light"/>
              <a:sym typeface="Nunito Light"/>
            </a:endParaRPr>
          </a:p>
        </p:txBody>
      </p:sp>
      <p:sp>
        <p:nvSpPr>
          <p:cNvPr id="136" name="Google Shape;136;g3b17ddeb428_0_227"/>
          <p:cNvSpPr/>
          <p:nvPr/>
        </p:nvSpPr>
        <p:spPr>
          <a:xfrm>
            <a:off x="6477446" y="3265855"/>
            <a:ext cx="2092500" cy="365700"/>
          </a:xfrm>
          <a:prstGeom prst="chevron">
            <a:avLst>
              <a:gd fmla="val 50000" name="adj"/>
            </a:avLst>
          </a:prstGeom>
          <a:solidFill>
            <a:srgbClr val="3D85C6"/>
          </a:solidFill>
          <a:ln>
            <a:noFill/>
          </a:ln>
          <a:effectLst>
            <a:outerShdw blurRad="57150" rotWithShape="0" algn="bl" dir="3600000" dist="19050">
              <a:srgbClr val="000000">
                <a:alpha val="3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900">
                <a:solidFill>
                  <a:schemeClr val="lt1"/>
                </a:solidFill>
                <a:latin typeface="Nunito"/>
                <a:ea typeface="Nunito"/>
                <a:cs typeface="Nunito"/>
                <a:sym typeface="Nunito"/>
              </a:rPr>
              <a:t>Monitoring &amp; </a:t>
            </a:r>
            <a:endParaRPr sz="900">
              <a:solidFill>
                <a:schemeClr val="lt1"/>
              </a:solidFill>
              <a:latin typeface="Nunito"/>
              <a:ea typeface="Nunito"/>
              <a:cs typeface="Nunito"/>
              <a:sym typeface="Nunito"/>
            </a:endParaRPr>
          </a:p>
          <a:p>
            <a:pPr indent="0" lvl="0" marL="0" marR="0" rtl="0" algn="ctr">
              <a:lnSpc>
                <a:spcPct val="100000"/>
              </a:lnSpc>
              <a:spcBef>
                <a:spcPts val="0"/>
              </a:spcBef>
              <a:spcAft>
                <a:spcPts val="0"/>
              </a:spcAft>
              <a:buNone/>
            </a:pPr>
            <a:r>
              <a:rPr lang="en" sz="900">
                <a:solidFill>
                  <a:schemeClr val="lt1"/>
                </a:solidFill>
                <a:latin typeface="Nunito"/>
                <a:ea typeface="Nunito"/>
                <a:cs typeface="Nunito"/>
                <a:sym typeface="Nunito"/>
              </a:rPr>
              <a:t>Value assessment</a:t>
            </a:r>
            <a:endParaRPr sz="900">
              <a:solidFill>
                <a:schemeClr val="lt1"/>
              </a:solidFill>
              <a:latin typeface="Nunito"/>
              <a:ea typeface="Nunito"/>
              <a:cs typeface="Nunito"/>
              <a:sym typeface="Nunito"/>
            </a:endParaRPr>
          </a:p>
        </p:txBody>
      </p:sp>
      <p:sp>
        <p:nvSpPr>
          <p:cNvPr id="137" name="Google Shape;137;g3b17ddeb428_0_227"/>
          <p:cNvSpPr txBox="1"/>
          <p:nvPr/>
        </p:nvSpPr>
        <p:spPr>
          <a:xfrm>
            <a:off x="1155050" y="3657600"/>
            <a:ext cx="1629900" cy="14160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Data gathering</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Cleaning</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Feature engineering</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Understanding patterns and insights</a:t>
            </a:r>
            <a:endParaRPr sz="1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1000">
              <a:solidFill>
                <a:schemeClr val="dk2"/>
              </a:solidFill>
              <a:latin typeface="Nunito"/>
              <a:ea typeface="Nunito"/>
              <a:cs typeface="Nunito"/>
              <a:sym typeface="Nunito"/>
            </a:endParaRPr>
          </a:p>
        </p:txBody>
      </p:sp>
      <p:sp>
        <p:nvSpPr>
          <p:cNvPr id="138" name="Google Shape;138;g3b17ddeb428_0_227"/>
          <p:cNvSpPr txBox="1"/>
          <p:nvPr/>
        </p:nvSpPr>
        <p:spPr>
          <a:xfrm>
            <a:off x="3055325" y="3657600"/>
            <a:ext cx="1629900" cy="12468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Machine Learning modeling</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Data validation</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Optimize model for better performance</a:t>
            </a:r>
            <a:endParaRPr sz="1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1000">
              <a:solidFill>
                <a:schemeClr val="dk2"/>
              </a:solidFill>
              <a:latin typeface="Nunito"/>
              <a:ea typeface="Nunito"/>
              <a:cs typeface="Nunito"/>
              <a:sym typeface="Nunito"/>
            </a:endParaRPr>
          </a:p>
        </p:txBody>
      </p:sp>
      <p:sp>
        <p:nvSpPr>
          <p:cNvPr id="139" name="Google Shape;139;g3b17ddeb428_0_227"/>
          <p:cNvSpPr txBox="1"/>
          <p:nvPr/>
        </p:nvSpPr>
        <p:spPr>
          <a:xfrm>
            <a:off x="4757600" y="3657600"/>
            <a:ext cx="1629900" cy="14160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Case Drivers</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Process improvements</a:t>
            </a:r>
            <a:endParaRPr sz="1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1000">
              <a:solidFill>
                <a:schemeClr val="dk2"/>
              </a:solidFill>
              <a:latin typeface="Nunito"/>
              <a:ea typeface="Nunito"/>
              <a:cs typeface="Nunito"/>
              <a:sym typeface="Nunito"/>
            </a:endParaRPr>
          </a:p>
        </p:txBody>
      </p:sp>
      <p:sp>
        <p:nvSpPr>
          <p:cNvPr id="140" name="Google Shape;140;g3b17ddeb428_0_227"/>
          <p:cNvSpPr txBox="1"/>
          <p:nvPr/>
        </p:nvSpPr>
        <p:spPr>
          <a:xfrm>
            <a:off x="6657875" y="3657600"/>
            <a:ext cx="1629900" cy="12468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Monitor model  performance</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ROI measurement</a:t>
            </a:r>
            <a:endParaRPr sz="1000">
              <a:solidFill>
                <a:schemeClr val="dk1"/>
              </a:solidFill>
              <a:latin typeface="Nunito"/>
              <a:ea typeface="Nunito"/>
              <a:cs typeface="Nunito"/>
              <a:sym typeface="Nunito"/>
            </a:endParaRPr>
          </a:p>
          <a:p>
            <a:pPr indent="-279400" lvl="0" marL="274320" rtl="0" algn="l">
              <a:lnSpc>
                <a:spcPct val="115000"/>
              </a:lnSpc>
              <a:spcBef>
                <a:spcPts val="0"/>
              </a:spcBef>
              <a:spcAft>
                <a:spcPts val="0"/>
              </a:spcAft>
              <a:buClr>
                <a:schemeClr val="dk1"/>
              </a:buClr>
              <a:buSzPts val="800"/>
              <a:buFont typeface="Nunito"/>
              <a:buChar char="●"/>
            </a:pPr>
            <a:r>
              <a:rPr lang="en" sz="1000">
                <a:solidFill>
                  <a:schemeClr val="dk1"/>
                </a:solidFill>
                <a:latin typeface="Nunito"/>
                <a:ea typeface="Nunito"/>
                <a:cs typeface="Nunito"/>
                <a:sym typeface="Nunito"/>
              </a:rPr>
              <a:t>Improve and iterate</a:t>
            </a:r>
            <a:endParaRPr sz="1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1000">
              <a:solidFill>
                <a:schemeClr val="dk2"/>
              </a:solidFill>
              <a:latin typeface="Nunito"/>
              <a:ea typeface="Nunito"/>
              <a:cs typeface="Nunito"/>
              <a:sym typeface="Nunito"/>
            </a:endParaRPr>
          </a:p>
        </p:txBody>
      </p:sp>
      <p:sp>
        <p:nvSpPr>
          <p:cNvPr id="141" name="Google Shape;141;g3b17ddeb428_0_227"/>
          <p:cNvSpPr txBox="1"/>
          <p:nvPr/>
        </p:nvSpPr>
        <p:spPr>
          <a:xfrm>
            <a:off x="340200" y="722825"/>
            <a:ext cx="4890900" cy="1852500"/>
          </a:xfrm>
          <a:prstGeom prst="rect">
            <a:avLst/>
          </a:prstGeom>
          <a:noFill/>
          <a:ln>
            <a:noFill/>
          </a:ln>
        </p:spPr>
        <p:txBody>
          <a:bodyPr anchorCtr="0" anchor="t" bIns="91425" lIns="91425" spcFirstLastPara="1" rIns="91425" wrap="square" tIns="91425">
            <a:noAutofit/>
          </a:bodyPr>
          <a:lstStyle/>
          <a:p>
            <a:pPr indent="0" lvl="0" marL="182880" marR="182880" rtl="0" algn="l">
              <a:lnSpc>
                <a:spcPct val="115000"/>
              </a:lnSpc>
              <a:spcBef>
                <a:spcPts val="0"/>
              </a:spcBef>
              <a:spcAft>
                <a:spcPts val="0"/>
              </a:spcAft>
              <a:buNone/>
            </a:pPr>
            <a:r>
              <a:rPr b="1" lang="en" sz="1300">
                <a:solidFill>
                  <a:schemeClr val="dk1"/>
                </a:solidFill>
                <a:latin typeface="Nunito"/>
                <a:ea typeface="Nunito"/>
                <a:cs typeface="Nunito"/>
                <a:sym typeface="Nunito"/>
              </a:rPr>
              <a:t>Business Problem</a:t>
            </a:r>
            <a:endParaRPr b="1" sz="1300">
              <a:solidFill>
                <a:schemeClr val="dk1"/>
              </a:solidFill>
              <a:latin typeface="Nunito"/>
              <a:ea typeface="Nunito"/>
              <a:cs typeface="Nunito"/>
              <a:sym typeface="Nunito"/>
            </a:endParaRPr>
          </a:p>
          <a:p>
            <a:pPr indent="0" lvl="0" marL="182880" marR="182880" rtl="0" algn="just">
              <a:lnSpc>
                <a:spcPct val="115000"/>
              </a:lnSpc>
              <a:spcBef>
                <a:spcPts val="1000"/>
              </a:spcBef>
              <a:spcAft>
                <a:spcPts val="0"/>
              </a:spcAft>
              <a:buNone/>
            </a:pPr>
            <a:r>
              <a:rPr lang="en" sz="1200">
                <a:solidFill>
                  <a:schemeClr val="dk1"/>
                </a:solidFill>
                <a:latin typeface="Nunito"/>
                <a:ea typeface="Nunito"/>
                <a:cs typeface="Nunito"/>
                <a:sym typeface="Nunito"/>
              </a:rPr>
              <a:t>The US Immigration and Nationality Act (INA) allows US employers to hire foreign workers on both temporary and permanent visa bases. To do so, the employers must file job certification applications seeking approvals from Office of Foreign Labor Certification (OLFC). </a:t>
            </a:r>
            <a:endParaRPr sz="1200">
              <a:solidFill>
                <a:schemeClr val="dk1"/>
              </a:solidFill>
              <a:latin typeface="Nunito"/>
              <a:ea typeface="Nunito"/>
              <a:cs typeface="Nunito"/>
              <a:sym typeface="Nunito"/>
            </a:endParaRPr>
          </a:p>
          <a:p>
            <a:pPr indent="0" lvl="0" marL="182880" marR="182880" rtl="0" algn="just">
              <a:lnSpc>
                <a:spcPct val="115000"/>
              </a:lnSpc>
              <a:spcBef>
                <a:spcPts val="0"/>
              </a:spcBef>
              <a:spcAft>
                <a:spcPts val="0"/>
              </a:spcAft>
              <a:buNone/>
            </a:pPr>
            <a:r>
              <a:t/>
            </a:r>
            <a:endParaRPr sz="1200">
              <a:solidFill>
                <a:schemeClr val="dk1"/>
              </a:solidFill>
              <a:latin typeface="Nunito"/>
              <a:ea typeface="Nunito"/>
              <a:cs typeface="Nunito"/>
              <a:sym typeface="Nunito"/>
            </a:endParaRPr>
          </a:p>
          <a:p>
            <a:pPr indent="0" lvl="0" marL="182880" marR="182880" rtl="0" algn="just">
              <a:lnSpc>
                <a:spcPct val="115000"/>
              </a:lnSpc>
              <a:spcBef>
                <a:spcPts val="0"/>
              </a:spcBef>
              <a:spcAft>
                <a:spcPts val="0"/>
              </a:spcAft>
              <a:buNone/>
            </a:pPr>
            <a:r>
              <a:rPr lang="en" sz="1200">
                <a:solidFill>
                  <a:schemeClr val="dk1"/>
                </a:solidFill>
                <a:latin typeface="Nunito"/>
                <a:ea typeface="Nunito"/>
                <a:cs typeface="Nunito"/>
                <a:sym typeface="Nunito"/>
              </a:rPr>
              <a:t>The volume of these job applications is increasing significantly year over year making the manual review increasingly ineffective and tedious.</a:t>
            </a:r>
            <a:endParaRPr sz="1700">
              <a:solidFill>
                <a:schemeClr val="dk1"/>
              </a:solidFill>
              <a:latin typeface="Nunito"/>
              <a:ea typeface="Nunito"/>
              <a:cs typeface="Nunito"/>
              <a:sym typeface="Nunito"/>
            </a:endParaRPr>
          </a:p>
        </p:txBody>
      </p:sp>
      <p:sp>
        <p:nvSpPr>
          <p:cNvPr id="142" name="Google Shape;142;g3b17ddeb428_0_227"/>
          <p:cNvSpPr txBox="1"/>
          <p:nvPr/>
        </p:nvSpPr>
        <p:spPr>
          <a:xfrm>
            <a:off x="5109386" y="727900"/>
            <a:ext cx="3620100" cy="2133000"/>
          </a:xfrm>
          <a:prstGeom prst="rect">
            <a:avLst/>
          </a:prstGeom>
          <a:noFill/>
          <a:ln>
            <a:noFill/>
          </a:ln>
        </p:spPr>
        <p:txBody>
          <a:bodyPr anchorCtr="0" anchor="t" bIns="91425" lIns="91425" spcFirstLastPara="1" rIns="91425" wrap="square" tIns="91425">
            <a:noAutofit/>
          </a:bodyPr>
          <a:lstStyle/>
          <a:p>
            <a:pPr indent="0" lvl="0" marL="182880" marR="182880" rtl="0" algn="l">
              <a:lnSpc>
                <a:spcPct val="115000"/>
              </a:lnSpc>
              <a:spcBef>
                <a:spcPts val="0"/>
              </a:spcBef>
              <a:spcAft>
                <a:spcPts val="0"/>
              </a:spcAft>
              <a:buNone/>
            </a:pPr>
            <a:r>
              <a:rPr b="1" lang="en" sz="1300">
                <a:solidFill>
                  <a:schemeClr val="dk1"/>
                </a:solidFill>
                <a:latin typeface="Nunito"/>
                <a:ea typeface="Nunito"/>
                <a:cs typeface="Nunito"/>
                <a:sym typeface="Nunito"/>
              </a:rPr>
              <a:t>Objective</a:t>
            </a:r>
            <a:endParaRPr b="1" sz="1200">
              <a:solidFill>
                <a:schemeClr val="dk1"/>
              </a:solidFill>
              <a:latin typeface="Nunito"/>
              <a:ea typeface="Nunito"/>
              <a:cs typeface="Nunito"/>
              <a:sym typeface="Nunito"/>
            </a:endParaRPr>
          </a:p>
          <a:p>
            <a:pPr indent="0" lvl="0" marL="182880" marR="182880" rtl="0" algn="just">
              <a:lnSpc>
                <a:spcPct val="115000"/>
              </a:lnSpc>
              <a:spcBef>
                <a:spcPts val="1000"/>
              </a:spcBef>
              <a:spcAft>
                <a:spcPts val="0"/>
              </a:spcAft>
              <a:buNone/>
            </a:pPr>
            <a:r>
              <a:rPr lang="en" sz="1200">
                <a:solidFill>
                  <a:schemeClr val="dk1"/>
                </a:solidFill>
                <a:latin typeface="Nunito"/>
                <a:ea typeface="Nunito"/>
                <a:cs typeface="Nunito"/>
                <a:sym typeface="Nunito"/>
              </a:rPr>
              <a:t>To develop a data driven solution that streamlines the process by identifying the applications with higher chance of approvals.</a:t>
            </a:r>
            <a:endParaRPr sz="1200">
              <a:solidFill>
                <a:schemeClr val="dk1"/>
              </a:solidFill>
              <a:latin typeface="Nunito"/>
              <a:ea typeface="Nunito"/>
              <a:cs typeface="Nunito"/>
              <a:sym typeface="Nunito"/>
            </a:endParaRPr>
          </a:p>
          <a:p>
            <a:pPr indent="0" lvl="0" marL="182880" marR="182880" rtl="0" algn="just">
              <a:lnSpc>
                <a:spcPct val="115000"/>
              </a:lnSpc>
              <a:spcBef>
                <a:spcPts val="1000"/>
              </a:spcBef>
              <a:spcAft>
                <a:spcPts val="0"/>
              </a:spcAft>
              <a:buNone/>
            </a:pPr>
            <a:r>
              <a:rPr lang="en" sz="1200">
                <a:solidFill>
                  <a:schemeClr val="dk1"/>
                </a:solidFill>
                <a:latin typeface="Nunito"/>
                <a:ea typeface="Nunito"/>
                <a:cs typeface="Nunito"/>
                <a:sym typeface="Nunito"/>
              </a:rPr>
              <a:t>The solution will enable OLFC to prioritize review efforts efficiently and significantly reduce manual processing time.</a:t>
            </a:r>
            <a:endParaRPr sz="1300">
              <a:solidFill>
                <a:schemeClr val="dk1"/>
              </a:solidFill>
              <a:latin typeface="Nunito"/>
              <a:ea typeface="Nunito"/>
              <a:cs typeface="Nunito"/>
              <a:sym typeface="Nunito"/>
            </a:endParaRPr>
          </a:p>
          <a:p>
            <a:pPr indent="0" lvl="0" marL="0" rtl="0" algn="l">
              <a:spcBef>
                <a:spcPts val="1000"/>
              </a:spcBef>
              <a:spcAft>
                <a:spcPts val="0"/>
              </a:spcAft>
              <a:buNone/>
            </a:pPr>
            <a:r>
              <a:t/>
            </a:r>
            <a:endParaRPr sz="1500">
              <a:solidFill>
                <a:schemeClr val="dk2"/>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b0ae7f9920_0_43"/>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Overview</a:t>
            </a:r>
            <a:endParaRPr/>
          </a:p>
        </p:txBody>
      </p:sp>
      <p:sp>
        <p:nvSpPr>
          <p:cNvPr id="148" name="Google Shape;148;g3b0ae7f9920_0_43"/>
          <p:cNvSpPr txBox="1"/>
          <p:nvPr/>
        </p:nvSpPr>
        <p:spPr>
          <a:xfrm>
            <a:off x="872724" y="943441"/>
            <a:ext cx="1938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Data Source</a:t>
            </a:r>
            <a:endParaRPr b="1" sz="1200">
              <a:solidFill>
                <a:schemeClr val="dk2"/>
              </a:solidFill>
              <a:latin typeface="Nunito"/>
              <a:ea typeface="Nunito"/>
              <a:cs typeface="Nunito"/>
              <a:sym typeface="Nunito"/>
            </a:endParaRPr>
          </a:p>
          <a:p>
            <a:pPr indent="0" lvl="0" marL="0" rtl="0" algn="l">
              <a:spcBef>
                <a:spcPts val="0"/>
              </a:spcBef>
              <a:spcAft>
                <a:spcPts val="0"/>
              </a:spcAft>
              <a:buNone/>
            </a:pPr>
            <a:r>
              <a:rPr lang="en" sz="1100">
                <a:solidFill>
                  <a:schemeClr val="dk2"/>
                </a:solidFill>
                <a:latin typeface="Nunito"/>
                <a:ea typeface="Nunito"/>
                <a:cs typeface="Nunito"/>
                <a:sym typeface="Nunito"/>
              </a:rPr>
              <a:t>EasyVisa.csv</a:t>
            </a:r>
            <a:endParaRPr sz="1100">
              <a:solidFill>
                <a:schemeClr val="dk2"/>
              </a:solidFill>
              <a:latin typeface="Nunito"/>
              <a:ea typeface="Nunito"/>
              <a:cs typeface="Nunito"/>
              <a:sym typeface="Nunito"/>
            </a:endParaRPr>
          </a:p>
        </p:txBody>
      </p:sp>
      <p:sp>
        <p:nvSpPr>
          <p:cNvPr id="149" name="Google Shape;149;g3b0ae7f9920_0_43"/>
          <p:cNvSpPr/>
          <p:nvPr/>
        </p:nvSpPr>
        <p:spPr>
          <a:xfrm>
            <a:off x="470425" y="1065241"/>
            <a:ext cx="402300" cy="329100"/>
          </a:xfrm>
          <a:prstGeom prst="can">
            <a:avLst>
              <a:gd fmla="val 25000" name="adj"/>
            </a:avLst>
          </a:prstGeom>
          <a:solidFill>
            <a:schemeClr val="accent6"/>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150" name="Google Shape;150;g3b0ae7f9920_0_43"/>
          <p:cNvSpPr/>
          <p:nvPr/>
        </p:nvSpPr>
        <p:spPr>
          <a:xfrm>
            <a:off x="2640930" y="943439"/>
            <a:ext cx="1828800" cy="572700"/>
          </a:xfrm>
          <a:prstGeom prst="bracket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Nunito"/>
                <a:ea typeface="Nunito"/>
                <a:cs typeface="Nunito"/>
                <a:sym typeface="Nunito"/>
              </a:rPr>
              <a:t> Size of the Data</a:t>
            </a:r>
            <a:endParaRPr b="1" sz="1200">
              <a:solidFill>
                <a:schemeClr val="dk1"/>
              </a:solidFill>
              <a:latin typeface="Nunito"/>
              <a:ea typeface="Nunito"/>
              <a:cs typeface="Nunito"/>
              <a:sym typeface="Nunito"/>
            </a:endParaRPr>
          </a:p>
          <a:p>
            <a:pPr indent="9144" lvl="0" marL="0" rtl="0" algn="ctr">
              <a:spcBef>
                <a:spcPts val="0"/>
              </a:spcBef>
              <a:spcAft>
                <a:spcPts val="0"/>
              </a:spcAft>
              <a:buNone/>
            </a:pPr>
            <a:r>
              <a:rPr lang="en" sz="1100">
                <a:solidFill>
                  <a:schemeClr val="dk1"/>
                </a:solidFill>
                <a:latin typeface="Nunito"/>
                <a:ea typeface="Nunito"/>
                <a:cs typeface="Nunito"/>
                <a:sym typeface="Nunito"/>
              </a:rPr>
              <a:t> </a:t>
            </a:r>
            <a:r>
              <a:rPr lang="en" sz="1000">
                <a:solidFill>
                  <a:schemeClr val="dk1"/>
                </a:solidFill>
                <a:latin typeface="Nunito"/>
                <a:ea typeface="Nunito"/>
                <a:cs typeface="Nunito"/>
                <a:sym typeface="Nunito"/>
              </a:rPr>
              <a:t>25,480 rows |  12 cols</a:t>
            </a:r>
            <a:endParaRPr sz="1100">
              <a:solidFill>
                <a:schemeClr val="lt1"/>
              </a:solidFill>
              <a:latin typeface="Nunito"/>
              <a:ea typeface="Nunito"/>
              <a:cs typeface="Nunito"/>
              <a:sym typeface="Nunito"/>
            </a:endParaRPr>
          </a:p>
        </p:txBody>
      </p:sp>
      <p:sp>
        <p:nvSpPr>
          <p:cNvPr id="151" name="Google Shape;151;g3b0ae7f9920_0_43"/>
          <p:cNvSpPr txBox="1"/>
          <p:nvPr/>
        </p:nvSpPr>
        <p:spPr>
          <a:xfrm>
            <a:off x="627650" y="1520666"/>
            <a:ext cx="1828800" cy="24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Nunito"/>
                <a:ea typeface="Nunito"/>
                <a:cs typeface="Nunito"/>
                <a:sym typeface="Nunito"/>
              </a:rPr>
              <a:t>Online orders made by Foodhub customers</a:t>
            </a:r>
            <a:endParaRPr sz="1000">
              <a:solidFill>
                <a:srgbClr val="666666"/>
              </a:solidFill>
              <a:latin typeface="Nunito"/>
              <a:ea typeface="Nunito"/>
              <a:cs typeface="Nunito"/>
              <a:sym typeface="Nunito"/>
            </a:endParaRPr>
          </a:p>
        </p:txBody>
      </p:sp>
      <p:sp>
        <p:nvSpPr>
          <p:cNvPr id="152" name="Google Shape;152;g3b0ae7f9920_0_43"/>
          <p:cNvSpPr txBox="1"/>
          <p:nvPr/>
        </p:nvSpPr>
        <p:spPr>
          <a:xfrm>
            <a:off x="5059342" y="809800"/>
            <a:ext cx="3790500" cy="840000"/>
          </a:xfrm>
          <a:prstGeom prst="rect">
            <a:avLst/>
          </a:prstGeom>
          <a:noFill/>
          <a:ln>
            <a:noFill/>
          </a:ln>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25,480 applications</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5 regions of employment</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Applications</a:t>
            </a:r>
            <a:r>
              <a:rPr lang="en" sz="1000">
                <a:solidFill>
                  <a:schemeClr val="dk2"/>
                </a:solidFill>
                <a:latin typeface="Nunito"/>
                <a:ea typeface="Nunito"/>
                <a:cs typeface="Nunito"/>
                <a:sym typeface="Nunito"/>
              </a:rPr>
              <a:t> from 5 continents and </a:t>
            </a:r>
            <a:r>
              <a:rPr lang="en" sz="1000">
                <a:solidFill>
                  <a:schemeClr val="dk2"/>
                </a:solidFill>
                <a:latin typeface="Nunito"/>
                <a:ea typeface="Nunito"/>
                <a:cs typeface="Nunito"/>
                <a:sym typeface="Nunito"/>
              </a:rPr>
              <a:t>Oceania</a:t>
            </a:r>
            <a:r>
              <a:rPr lang="en" sz="1000">
                <a:solidFill>
                  <a:schemeClr val="dk2"/>
                </a:solidFill>
                <a:latin typeface="Nunito"/>
                <a:ea typeface="Nunito"/>
                <a:cs typeface="Nunito"/>
                <a:sym typeface="Nunito"/>
              </a:rPr>
              <a:t> region</a:t>
            </a:r>
            <a:endParaRPr sz="1000">
              <a:solidFill>
                <a:schemeClr val="dk2"/>
              </a:solidFill>
              <a:latin typeface="Nunito"/>
              <a:ea typeface="Nunito"/>
              <a:cs typeface="Nunito"/>
              <a:sym typeface="Nunito"/>
            </a:endParaRPr>
          </a:p>
          <a:p>
            <a:pPr indent="-292100" lvl="0" marL="45720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66.8% of certified applications.</a:t>
            </a:r>
            <a:endParaRPr sz="1000">
              <a:solidFill>
                <a:schemeClr val="dk2"/>
              </a:solidFill>
              <a:latin typeface="Nunito"/>
              <a:ea typeface="Nunito"/>
              <a:cs typeface="Nunito"/>
              <a:sym typeface="Nunito"/>
            </a:endParaRPr>
          </a:p>
        </p:txBody>
      </p:sp>
      <p:pic>
        <p:nvPicPr>
          <p:cNvPr id="153" name="Google Shape;153;g3b0ae7f9920_0_43"/>
          <p:cNvPicPr preferRelativeResize="0"/>
          <p:nvPr/>
        </p:nvPicPr>
        <p:blipFill>
          <a:blip r:embed="rId3">
            <a:alphaModFix/>
          </a:blip>
          <a:stretch>
            <a:fillRect/>
          </a:stretch>
        </p:blipFill>
        <p:spPr>
          <a:xfrm>
            <a:off x="406400" y="1841225"/>
            <a:ext cx="8644475" cy="2854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5"/>
          <p:cNvSpPr txBox="1"/>
          <p:nvPr>
            <p:ph type="title"/>
          </p:nvPr>
        </p:nvSpPr>
        <p:spPr>
          <a:xfrm>
            <a:off x="202550" y="18342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EDA : Applicants Education</a:t>
            </a:r>
            <a:endParaRPr>
              <a:solidFill>
                <a:srgbClr val="000000"/>
              </a:solidFill>
            </a:endParaRPr>
          </a:p>
        </p:txBody>
      </p:sp>
      <p:pic>
        <p:nvPicPr>
          <p:cNvPr id="159" name="Google Shape;159;p5"/>
          <p:cNvPicPr preferRelativeResize="0"/>
          <p:nvPr/>
        </p:nvPicPr>
        <p:blipFill>
          <a:blip r:embed="rId3">
            <a:alphaModFix/>
          </a:blip>
          <a:stretch>
            <a:fillRect/>
          </a:stretch>
        </p:blipFill>
        <p:spPr>
          <a:xfrm>
            <a:off x="171450" y="777292"/>
            <a:ext cx="3439601" cy="2630200"/>
          </a:xfrm>
          <a:prstGeom prst="rect">
            <a:avLst/>
          </a:prstGeom>
          <a:noFill/>
          <a:ln>
            <a:noFill/>
          </a:ln>
        </p:spPr>
      </p:pic>
      <p:sp>
        <p:nvSpPr>
          <p:cNvPr id="160" name="Google Shape;160;p5"/>
          <p:cNvSpPr txBox="1"/>
          <p:nvPr/>
        </p:nvSpPr>
        <p:spPr>
          <a:xfrm>
            <a:off x="384850" y="3560225"/>
            <a:ext cx="3226200" cy="970200"/>
          </a:xfrm>
          <a:prstGeom prst="rect">
            <a:avLst/>
          </a:prstGeom>
          <a:noFill/>
          <a:ln>
            <a:noFill/>
          </a:ln>
        </p:spPr>
        <p:txBody>
          <a:bodyPr anchorCtr="0" anchor="t" bIns="91425" lIns="91425" spcFirstLastPara="1" rIns="91425" wrap="square" tIns="91425">
            <a:noAutofit/>
          </a:bodyPr>
          <a:lstStyle/>
          <a:p>
            <a:pPr indent="-200659" lvl="0" marL="182880" marR="0" rtl="0" algn="l">
              <a:lnSpc>
                <a:spcPct val="135714"/>
              </a:lnSpc>
              <a:spcBef>
                <a:spcPts val="0"/>
              </a:spcBef>
              <a:spcAft>
                <a:spcPts val="0"/>
              </a:spcAft>
              <a:buClr>
                <a:srgbClr val="1F1F1F"/>
              </a:buClr>
              <a:buSzPts val="1000"/>
              <a:buChar char="●"/>
            </a:pPr>
            <a:r>
              <a:rPr lang="en" sz="1000">
                <a:solidFill>
                  <a:srgbClr val="1F1F1F"/>
                </a:solidFill>
                <a:highlight>
                  <a:srgbClr val="FFFFFF"/>
                </a:highlight>
              </a:rPr>
              <a:t>Nearly 87% of applicants hold a Bachelor's degree or higher educational qualification.</a:t>
            </a:r>
            <a:endParaRPr sz="1000">
              <a:solidFill>
                <a:srgbClr val="1F1F1F"/>
              </a:solidFill>
              <a:highlight>
                <a:srgbClr val="FFFFFF"/>
              </a:highlight>
            </a:endParaRPr>
          </a:p>
          <a:p>
            <a:pPr indent="-200659" lvl="0" marL="182880" marR="0" rtl="0" algn="l">
              <a:lnSpc>
                <a:spcPct val="135714"/>
              </a:lnSpc>
              <a:spcBef>
                <a:spcPts val="0"/>
              </a:spcBef>
              <a:spcAft>
                <a:spcPts val="0"/>
              </a:spcAft>
              <a:buClr>
                <a:srgbClr val="1F1F1F"/>
              </a:buClr>
              <a:buSzPts val="1000"/>
              <a:buChar char="●"/>
            </a:pPr>
            <a:r>
              <a:rPr lang="en" sz="1000">
                <a:solidFill>
                  <a:srgbClr val="1F1F1F"/>
                </a:solidFill>
                <a:highlight>
                  <a:srgbClr val="FFFFFF"/>
                </a:highlight>
              </a:rPr>
              <a:t>The remaining 13% of applicants possess a high school education</a:t>
            </a:r>
            <a:endParaRPr sz="1000">
              <a:solidFill>
                <a:srgbClr val="1F1F1F"/>
              </a:solidFill>
              <a:highlight>
                <a:srgbClr val="FFFFFF"/>
              </a:highlight>
            </a:endParaRPr>
          </a:p>
          <a:p>
            <a:pPr indent="0" lvl="0" marL="0" rtl="0" algn="l">
              <a:spcBef>
                <a:spcPts val="0"/>
              </a:spcBef>
              <a:spcAft>
                <a:spcPts val="0"/>
              </a:spcAft>
              <a:buNone/>
            </a:pPr>
            <a:r>
              <a:t/>
            </a:r>
            <a:endParaRPr sz="1000">
              <a:solidFill>
                <a:srgbClr val="1F1F1F"/>
              </a:solidFill>
              <a:highlight>
                <a:srgbClr val="FFFFFF"/>
              </a:highlight>
            </a:endParaRPr>
          </a:p>
        </p:txBody>
      </p:sp>
      <p:pic>
        <p:nvPicPr>
          <p:cNvPr id="161" name="Google Shape;161;p5"/>
          <p:cNvPicPr preferRelativeResize="0"/>
          <p:nvPr/>
        </p:nvPicPr>
        <p:blipFill>
          <a:blip r:embed="rId4">
            <a:alphaModFix/>
          </a:blip>
          <a:stretch>
            <a:fillRect/>
          </a:stretch>
        </p:blipFill>
        <p:spPr>
          <a:xfrm>
            <a:off x="4442738" y="756125"/>
            <a:ext cx="3348477" cy="2633473"/>
          </a:xfrm>
          <a:prstGeom prst="rect">
            <a:avLst/>
          </a:prstGeom>
          <a:noFill/>
          <a:ln>
            <a:noFill/>
          </a:ln>
        </p:spPr>
      </p:pic>
      <p:sp>
        <p:nvSpPr>
          <p:cNvPr id="162" name="Google Shape;162;p5"/>
          <p:cNvSpPr txBox="1"/>
          <p:nvPr/>
        </p:nvSpPr>
        <p:spPr>
          <a:xfrm>
            <a:off x="4275425" y="3317525"/>
            <a:ext cx="3683100" cy="12129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Education level demonstrates a strong positive correlation with application approval rates.</a:t>
            </a:r>
            <a:endParaRPr sz="1000">
              <a:solidFill>
                <a:schemeClr val="dk2"/>
              </a:solidFill>
              <a:latin typeface="Nunito"/>
              <a:ea typeface="Nunito"/>
              <a:cs typeface="Nunito"/>
              <a:sym typeface="Nunito"/>
            </a:endParaRPr>
          </a:p>
          <a:p>
            <a:pPr indent="-292100" lvl="0" marL="457200" marR="0" rtl="0" algn="l">
              <a:lnSpc>
                <a:spcPct val="115000"/>
              </a:lnSpc>
              <a:spcBef>
                <a:spcPts val="1000"/>
              </a:spcBef>
              <a:spcAft>
                <a:spcPts val="0"/>
              </a:spcAft>
              <a:buClr>
                <a:schemeClr val="dk2"/>
              </a:buClr>
              <a:buSzPts val="1000"/>
              <a:buFont typeface="Nunito"/>
              <a:buChar char="●"/>
            </a:pPr>
            <a:r>
              <a:rPr lang="en" sz="1000">
                <a:solidFill>
                  <a:schemeClr val="dk2"/>
                </a:solidFill>
                <a:latin typeface="Nunito"/>
                <a:ea typeface="Nunito"/>
                <a:cs typeface="Nunito"/>
                <a:sym typeface="Nunito"/>
              </a:rPr>
              <a:t>Specifically, 85% of doctorate-level applications and 80% of master's-level applications have received approvals.</a:t>
            </a:r>
            <a:endParaRPr sz="1000">
              <a:solidFill>
                <a:schemeClr val="dk2"/>
              </a:solidFill>
              <a:latin typeface="Nunito"/>
              <a:ea typeface="Nunito"/>
              <a:cs typeface="Nunito"/>
              <a:sym typeface="Nunito"/>
            </a:endParaRPr>
          </a:p>
          <a:p>
            <a:pPr indent="0" lvl="0" marL="457200" rtl="0" algn="l">
              <a:spcBef>
                <a:spcPts val="0"/>
              </a:spcBef>
              <a:spcAft>
                <a:spcPts val="0"/>
              </a:spcAft>
              <a:buNone/>
            </a:pPr>
            <a:r>
              <a:t/>
            </a:r>
            <a:endParaRPr sz="1000">
              <a:solidFill>
                <a:schemeClr val="dk2"/>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b0ae7f9920_0_167"/>
          <p:cNvSpPr txBox="1"/>
          <p:nvPr>
            <p:ph type="title"/>
          </p:nvPr>
        </p:nvSpPr>
        <p:spPr>
          <a:xfrm>
            <a:off x="202550" y="18342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EDA : Applicant’s Continent</a:t>
            </a:r>
            <a:endParaRPr>
              <a:solidFill>
                <a:srgbClr val="000000"/>
              </a:solidFill>
            </a:endParaRPr>
          </a:p>
        </p:txBody>
      </p:sp>
      <p:pic>
        <p:nvPicPr>
          <p:cNvPr id="168" name="Google Shape;168;g3b0ae7f9920_0_167"/>
          <p:cNvPicPr preferRelativeResize="0"/>
          <p:nvPr/>
        </p:nvPicPr>
        <p:blipFill>
          <a:blip r:embed="rId3">
            <a:alphaModFix/>
          </a:blip>
          <a:stretch>
            <a:fillRect/>
          </a:stretch>
        </p:blipFill>
        <p:spPr>
          <a:xfrm>
            <a:off x="436499" y="756126"/>
            <a:ext cx="3768400" cy="3026350"/>
          </a:xfrm>
          <a:prstGeom prst="rect">
            <a:avLst/>
          </a:prstGeom>
          <a:noFill/>
          <a:ln>
            <a:noFill/>
          </a:ln>
        </p:spPr>
      </p:pic>
      <p:sp>
        <p:nvSpPr>
          <p:cNvPr id="169" name="Google Shape;169;g3b0ae7f9920_0_167"/>
          <p:cNvSpPr txBox="1"/>
          <p:nvPr/>
        </p:nvSpPr>
        <p:spPr>
          <a:xfrm>
            <a:off x="289942" y="3941775"/>
            <a:ext cx="4337100" cy="398700"/>
          </a:xfrm>
          <a:prstGeom prst="rect">
            <a:avLst/>
          </a:prstGeom>
          <a:noFill/>
          <a:ln>
            <a:noFill/>
          </a:ln>
        </p:spPr>
        <p:txBody>
          <a:bodyPr anchorCtr="0" anchor="t" bIns="91425" lIns="91425" spcFirstLastPara="1" rIns="91425" wrap="square" tIns="91425">
            <a:noAutofit/>
          </a:bodyPr>
          <a:lstStyle/>
          <a:p>
            <a:pPr indent="-200659" lvl="0" marL="182880" rtl="0" algn="l">
              <a:lnSpc>
                <a:spcPct val="135714"/>
              </a:lnSpc>
              <a:spcBef>
                <a:spcPts val="0"/>
              </a:spcBef>
              <a:spcAft>
                <a:spcPts val="0"/>
              </a:spcAft>
              <a:buClr>
                <a:srgbClr val="1F1F1F"/>
              </a:buClr>
              <a:buSzPts val="1000"/>
              <a:buChar char="●"/>
            </a:pPr>
            <a:r>
              <a:rPr lang="en" sz="1000">
                <a:solidFill>
                  <a:srgbClr val="1F1F1F"/>
                </a:solidFill>
                <a:highlight>
                  <a:srgbClr val="FFFFFF"/>
                </a:highlight>
              </a:rPr>
              <a:t>A significant (66%) majority of the applications are from Asia.</a:t>
            </a:r>
            <a:endParaRPr sz="1000">
              <a:solidFill>
                <a:srgbClr val="1F1F1F"/>
              </a:solidFill>
              <a:highlight>
                <a:srgbClr val="FFFFFF"/>
              </a:highlight>
            </a:endParaRPr>
          </a:p>
          <a:p>
            <a:pPr indent="0" lvl="0" marL="0" rtl="0" algn="l">
              <a:spcBef>
                <a:spcPts val="0"/>
              </a:spcBef>
              <a:spcAft>
                <a:spcPts val="0"/>
              </a:spcAft>
              <a:buNone/>
            </a:pPr>
            <a:r>
              <a:t/>
            </a:r>
            <a:endParaRPr sz="1500">
              <a:solidFill>
                <a:schemeClr val="dk2"/>
              </a:solidFill>
              <a:latin typeface="Nunito"/>
              <a:ea typeface="Nunito"/>
              <a:cs typeface="Nunito"/>
              <a:sym typeface="Nunito"/>
            </a:endParaRPr>
          </a:p>
        </p:txBody>
      </p:sp>
      <p:pic>
        <p:nvPicPr>
          <p:cNvPr id="170" name="Google Shape;170;g3b0ae7f9920_0_167"/>
          <p:cNvPicPr preferRelativeResize="0"/>
          <p:nvPr/>
        </p:nvPicPr>
        <p:blipFill>
          <a:blip r:embed="rId4">
            <a:alphaModFix/>
          </a:blip>
          <a:stretch>
            <a:fillRect/>
          </a:stretch>
        </p:blipFill>
        <p:spPr>
          <a:xfrm>
            <a:off x="4353702" y="652451"/>
            <a:ext cx="4369449" cy="3026664"/>
          </a:xfrm>
          <a:prstGeom prst="rect">
            <a:avLst/>
          </a:prstGeom>
          <a:noFill/>
          <a:ln>
            <a:noFill/>
          </a:ln>
        </p:spPr>
      </p:pic>
      <p:sp>
        <p:nvSpPr>
          <p:cNvPr id="171" name="Google Shape;171;g3b0ae7f9920_0_167"/>
          <p:cNvSpPr txBox="1"/>
          <p:nvPr/>
        </p:nvSpPr>
        <p:spPr>
          <a:xfrm>
            <a:off x="4572000" y="3701925"/>
            <a:ext cx="3683100" cy="8784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Nearly 80% of applications from Europe are approved.</a:t>
            </a:r>
            <a:endParaRPr sz="1000">
              <a:solidFill>
                <a:schemeClr val="dk2"/>
              </a:solidFill>
              <a:latin typeface="Nunito"/>
              <a:ea typeface="Nunito"/>
              <a:cs typeface="Nunito"/>
              <a:sym typeface="Nunito"/>
            </a:endParaRPr>
          </a:p>
          <a:p>
            <a:pPr indent="-292100" lvl="0" marL="457200" marR="0" rtl="0" algn="l">
              <a:lnSpc>
                <a:spcPct val="115000"/>
              </a:lnSpc>
              <a:spcBef>
                <a:spcPts val="1000"/>
              </a:spcBef>
              <a:spcAft>
                <a:spcPts val="0"/>
              </a:spcAft>
              <a:buClr>
                <a:schemeClr val="dk2"/>
              </a:buClr>
              <a:buSzPts val="1000"/>
              <a:buFont typeface="Nunito"/>
              <a:buChar char="●"/>
            </a:pPr>
            <a:r>
              <a:rPr lang="en" sz="1000">
                <a:solidFill>
                  <a:schemeClr val="dk2"/>
                </a:solidFill>
                <a:latin typeface="Nunito"/>
                <a:ea typeface="Nunito"/>
                <a:cs typeface="Nunito"/>
                <a:sym typeface="Nunito"/>
              </a:rPr>
              <a:t>South America records the lowest approval rate across all continents, at 58%</a:t>
            </a:r>
            <a:r>
              <a:rPr lang="en" sz="1200">
                <a:solidFill>
                  <a:srgbClr val="0A0A0A"/>
                </a:solidFill>
                <a:highlight>
                  <a:srgbClr val="FFFFFF"/>
                </a:highlight>
                <a:latin typeface="Roboto"/>
                <a:ea typeface="Roboto"/>
                <a:cs typeface="Roboto"/>
                <a:sym typeface="Roboto"/>
              </a:rPr>
              <a:t>.</a:t>
            </a:r>
            <a:endParaRPr sz="1200">
              <a:solidFill>
                <a:srgbClr val="0A0A0A"/>
              </a:solidFill>
              <a:highlight>
                <a:srgbClr val="FFFFFF"/>
              </a:highlight>
              <a:latin typeface="Roboto"/>
              <a:ea typeface="Roboto"/>
              <a:cs typeface="Roboto"/>
              <a:sym typeface="Roboto"/>
            </a:endParaRPr>
          </a:p>
          <a:p>
            <a:pPr indent="0" lvl="0" marL="457200" rtl="0" algn="l">
              <a:spcBef>
                <a:spcPts val="1000"/>
              </a:spcBef>
              <a:spcAft>
                <a:spcPts val="0"/>
              </a:spcAft>
              <a:buNone/>
            </a:pPr>
            <a:r>
              <a:t/>
            </a:r>
            <a:endParaRPr sz="1000">
              <a:solidFill>
                <a:schemeClr val="dk2"/>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b0ae7f9920_0_141"/>
          <p:cNvSpPr txBox="1"/>
          <p:nvPr>
            <p:ph type="title"/>
          </p:nvPr>
        </p:nvSpPr>
        <p:spPr>
          <a:xfrm>
            <a:off x="202550" y="18342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EDA : Applicants Experience &amp; Training requirement</a:t>
            </a:r>
            <a:endParaRPr>
              <a:solidFill>
                <a:srgbClr val="000000"/>
              </a:solidFill>
            </a:endParaRPr>
          </a:p>
        </p:txBody>
      </p:sp>
      <p:pic>
        <p:nvPicPr>
          <p:cNvPr id="177" name="Google Shape;177;g3b0ae7f9920_0_141"/>
          <p:cNvPicPr preferRelativeResize="0"/>
          <p:nvPr/>
        </p:nvPicPr>
        <p:blipFill>
          <a:blip r:embed="rId3">
            <a:alphaModFix/>
          </a:blip>
          <a:stretch>
            <a:fillRect/>
          </a:stretch>
        </p:blipFill>
        <p:spPr>
          <a:xfrm>
            <a:off x="393700" y="874175"/>
            <a:ext cx="2465926" cy="1897351"/>
          </a:xfrm>
          <a:prstGeom prst="rect">
            <a:avLst/>
          </a:prstGeom>
          <a:noFill/>
          <a:ln>
            <a:noFill/>
          </a:ln>
        </p:spPr>
      </p:pic>
      <p:sp>
        <p:nvSpPr>
          <p:cNvPr id="178" name="Google Shape;178;g3b0ae7f9920_0_141"/>
          <p:cNvSpPr txBox="1"/>
          <p:nvPr/>
        </p:nvSpPr>
        <p:spPr>
          <a:xfrm>
            <a:off x="2547473" y="965375"/>
            <a:ext cx="2169600" cy="16740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Forty-two percent of candidates reported having no prior job experience.</a:t>
            </a:r>
            <a:endParaRPr sz="1000">
              <a:solidFill>
                <a:schemeClr val="dk2"/>
              </a:solidFill>
              <a:latin typeface="Nunito"/>
              <a:ea typeface="Nunito"/>
              <a:cs typeface="Nunito"/>
              <a:sym typeface="Nunito"/>
            </a:endParaRPr>
          </a:p>
          <a:p>
            <a:pPr indent="-292100" lvl="0" marL="457200" marR="0" rtl="0" algn="l">
              <a:lnSpc>
                <a:spcPct val="115000"/>
              </a:lnSpc>
              <a:spcBef>
                <a:spcPts val="1000"/>
              </a:spcBef>
              <a:spcAft>
                <a:spcPts val="1000"/>
              </a:spcAft>
              <a:buClr>
                <a:schemeClr val="dk2"/>
              </a:buClr>
              <a:buSzPts val="1000"/>
              <a:buFont typeface="Nunito"/>
              <a:buChar char="●"/>
            </a:pPr>
            <a:r>
              <a:rPr lang="en" sz="1000">
                <a:solidFill>
                  <a:schemeClr val="dk2"/>
                </a:solidFill>
                <a:latin typeface="Nunito"/>
                <a:ea typeface="Nunito"/>
                <a:cs typeface="Nunito"/>
                <a:sym typeface="Nunito"/>
              </a:rPr>
              <a:t>Applicants who do possess relevant job experience exhibit higher approval rates.</a:t>
            </a:r>
            <a:endParaRPr sz="1000">
              <a:solidFill>
                <a:schemeClr val="dk2"/>
              </a:solidFill>
              <a:latin typeface="Nunito"/>
              <a:ea typeface="Nunito"/>
              <a:cs typeface="Nunito"/>
              <a:sym typeface="Nunito"/>
            </a:endParaRPr>
          </a:p>
        </p:txBody>
      </p:sp>
      <p:pic>
        <p:nvPicPr>
          <p:cNvPr id="179" name="Google Shape;179;g3b0ae7f9920_0_141"/>
          <p:cNvPicPr preferRelativeResize="0"/>
          <p:nvPr/>
        </p:nvPicPr>
        <p:blipFill>
          <a:blip r:embed="rId4">
            <a:alphaModFix/>
          </a:blip>
          <a:stretch>
            <a:fillRect/>
          </a:stretch>
        </p:blipFill>
        <p:spPr>
          <a:xfrm>
            <a:off x="261451" y="3164750"/>
            <a:ext cx="2286025" cy="1847450"/>
          </a:xfrm>
          <a:prstGeom prst="rect">
            <a:avLst/>
          </a:prstGeom>
          <a:noFill/>
          <a:ln>
            <a:noFill/>
          </a:ln>
        </p:spPr>
      </p:pic>
      <p:sp>
        <p:nvSpPr>
          <p:cNvPr id="180" name="Google Shape;180;g3b0ae7f9920_0_141"/>
          <p:cNvSpPr txBox="1"/>
          <p:nvPr/>
        </p:nvSpPr>
        <p:spPr>
          <a:xfrm>
            <a:off x="2705675" y="3261950"/>
            <a:ext cx="2011500" cy="1547100"/>
          </a:xfrm>
          <a:prstGeom prst="rect">
            <a:avLst/>
          </a:prstGeom>
          <a:noFill/>
          <a:ln>
            <a:noFill/>
          </a:ln>
        </p:spPr>
        <p:txBody>
          <a:bodyPr anchorCtr="0" anchor="t" bIns="91425" lIns="91425" spcFirstLastPara="1" rIns="91425" wrap="square" tIns="91425">
            <a:noAutofit/>
          </a:bodyPr>
          <a:lstStyle/>
          <a:p>
            <a:pPr indent="-200659" lvl="0" marL="18288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Twelve percent of applicants indicate a requirement for job training.</a:t>
            </a:r>
            <a:endParaRPr sz="1000">
              <a:solidFill>
                <a:schemeClr val="dk2"/>
              </a:solidFill>
              <a:latin typeface="Nunito"/>
              <a:ea typeface="Nunito"/>
              <a:cs typeface="Nunito"/>
              <a:sym typeface="Nunito"/>
            </a:endParaRPr>
          </a:p>
          <a:p>
            <a:pPr indent="-200659" lvl="0" marL="182880" marR="0" rtl="0" algn="l">
              <a:lnSpc>
                <a:spcPct val="115000"/>
              </a:lnSpc>
              <a:spcBef>
                <a:spcPts val="1000"/>
              </a:spcBef>
              <a:spcAft>
                <a:spcPts val="1000"/>
              </a:spcAft>
              <a:buClr>
                <a:schemeClr val="dk2"/>
              </a:buClr>
              <a:buSzPts val="1000"/>
              <a:buFont typeface="Nunito"/>
              <a:buChar char="●"/>
            </a:pPr>
            <a:r>
              <a:rPr lang="en" sz="1000">
                <a:solidFill>
                  <a:schemeClr val="dk2"/>
                </a:solidFill>
                <a:latin typeface="Nunito"/>
                <a:ea typeface="Nunito"/>
                <a:cs typeface="Nunito"/>
                <a:sym typeface="Nunito"/>
              </a:rPr>
              <a:t>Approval rates remain similar for these applicants compared to those who do not require training.</a:t>
            </a:r>
            <a:endParaRPr sz="1000">
              <a:solidFill>
                <a:schemeClr val="dk2"/>
              </a:solidFill>
              <a:latin typeface="Nunito"/>
              <a:ea typeface="Nunito"/>
              <a:cs typeface="Nunito"/>
              <a:sym typeface="Nunito"/>
            </a:endParaRPr>
          </a:p>
        </p:txBody>
      </p:sp>
      <p:pic>
        <p:nvPicPr>
          <p:cNvPr id="181" name="Google Shape;181;g3b0ae7f9920_0_141"/>
          <p:cNvPicPr preferRelativeResize="0"/>
          <p:nvPr/>
        </p:nvPicPr>
        <p:blipFill>
          <a:blip r:embed="rId5">
            <a:alphaModFix/>
          </a:blip>
          <a:stretch>
            <a:fillRect/>
          </a:stretch>
        </p:blipFill>
        <p:spPr>
          <a:xfrm>
            <a:off x="4929483" y="877824"/>
            <a:ext cx="3152143" cy="1897350"/>
          </a:xfrm>
          <a:prstGeom prst="rect">
            <a:avLst/>
          </a:prstGeom>
          <a:noFill/>
          <a:ln>
            <a:noFill/>
          </a:ln>
        </p:spPr>
      </p:pic>
      <p:pic>
        <p:nvPicPr>
          <p:cNvPr id="182" name="Google Shape;182;g3b0ae7f9920_0_141"/>
          <p:cNvPicPr preferRelativeResize="0"/>
          <p:nvPr/>
        </p:nvPicPr>
        <p:blipFill>
          <a:blip r:embed="rId6">
            <a:alphaModFix/>
          </a:blip>
          <a:stretch>
            <a:fillRect/>
          </a:stretch>
        </p:blipFill>
        <p:spPr>
          <a:xfrm>
            <a:off x="4869473" y="2927574"/>
            <a:ext cx="3192396" cy="20635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b0ae7f9920_0_183"/>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2200"/>
              <a:buFont typeface="Arial"/>
              <a:buNone/>
            </a:pPr>
            <a:r>
              <a:rPr lang="en">
                <a:solidFill>
                  <a:srgbClr val="000000"/>
                </a:solidFill>
              </a:rPr>
              <a:t>EDA : Company’s Region of employment</a:t>
            </a:r>
            <a:endParaRPr>
              <a:solidFill>
                <a:srgbClr val="000000"/>
              </a:solidFill>
            </a:endParaRPr>
          </a:p>
          <a:p>
            <a:pPr indent="0" lvl="0" marL="0" rtl="0" algn="l">
              <a:spcBef>
                <a:spcPts val="0"/>
              </a:spcBef>
              <a:spcAft>
                <a:spcPts val="0"/>
              </a:spcAft>
              <a:buNone/>
            </a:pPr>
            <a:r>
              <a:t/>
            </a:r>
            <a:endParaRPr/>
          </a:p>
        </p:txBody>
      </p:sp>
      <p:pic>
        <p:nvPicPr>
          <p:cNvPr id="188" name="Google Shape;188;g3b0ae7f9920_0_183"/>
          <p:cNvPicPr preferRelativeResize="0"/>
          <p:nvPr/>
        </p:nvPicPr>
        <p:blipFill>
          <a:blip r:embed="rId3">
            <a:alphaModFix/>
          </a:blip>
          <a:stretch>
            <a:fillRect/>
          </a:stretch>
        </p:blipFill>
        <p:spPr>
          <a:xfrm>
            <a:off x="309025" y="757850"/>
            <a:ext cx="3069176" cy="2719825"/>
          </a:xfrm>
          <a:prstGeom prst="rect">
            <a:avLst/>
          </a:prstGeom>
          <a:noFill/>
          <a:ln>
            <a:noFill/>
          </a:ln>
        </p:spPr>
      </p:pic>
      <p:pic>
        <p:nvPicPr>
          <p:cNvPr id="189" name="Google Shape;189;g3b0ae7f9920_0_183"/>
          <p:cNvPicPr preferRelativeResize="0"/>
          <p:nvPr/>
        </p:nvPicPr>
        <p:blipFill>
          <a:blip r:embed="rId4">
            <a:alphaModFix/>
          </a:blip>
          <a:stretch>
            <a:fillRect/>
          </a:stretch>
        </p:blipFill>
        <p:spPr>
          <a:xfrm>
            <a:off x="3860498" y="861976"/>
            <a:ext cx="4559601" cy="2603674"/>
          </a:xfrm>
          <a:prstGeom prst="rect">
            <a:avLst/>
          </a:prstGeom>
          <a:noFill/>
          <a:ln>
            <a:noFill/>
          </a:ln>
        </p:spPr>
      </p:pic>
      <p:sp>
        <p:nvSpPr>
          <p:cNvPr id="190" name="Google Shape;190;g3b0ae7f9920_0_183"/>
          <p:cNvSpPr txBox="1"/>
          <p:nvPr/>
        </p:nvSpPr>
        <p:spPr>
          <a:xfrm>
            <a:off x="473125" y="3581400"/>
            <a:ext cx="3180300" cy="9735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North east has the highest employment for foreign workers.</a:t>
            </a:r>
            <a:endParaRPr sz="1000">
              <a:solidFill>
                <a:schemeClr val="dk2"/>
              </a:solidFill>
              <a:latin typeface="Nunito"/>
              <a:ea typeface="Nunito"/>
              <a:cs typeface="Nunito"/>
              <a:sym typeface="Nunito"/>
            </a:endParaRPr>
          </a:p>
          <a:p>
            <a:pPr indent="-292100" lvl="0" marL="457200" marR="0" rtl="0" algn="l">
              <a:lnSpc>
                <a:spcPct val="115000"/>
              </a:lnSpc>
              <a:spcBef>
                <a:spcPts val="1000"/>
              </a:spcBef>
              <a:spcAft>
                <a:spcPts val="1000"/>
              </a:spcAft>
              <a:buClr>
                <a:schemeClr val="dk2"/>
              </a:buClr>
              <a:buSzPts val="1000"/>
              <a:buFont typeface="Nunito"/>
              <a:buChar char="●"/>
            </a:pPr>
            <a:r>
              <a:rPr lang="en" sz="1000">
                <a:solidFill>
                  <a:schemeClr val="dk2"/>
                </a:solidFill>
                <a:latin typeface="Nunito"/>
                <a:ea typeface="Nunito"/>
                <a:cs typeface="Nunito"/>
                <a:sym typeface="Nunito"/>
              </a:rPr>
              <a:t>In mainland US, midwest has the least employment for foreign workers.</a:t>
            </a:r>
            <a:endParaRPr sz="1000">
              <a:solidFill>
                <a:schemeClr val="dk2"/>
              </a:solidFill>
              <a:latin typeface="Nunito"/>
              <a:ea typeface="Nunito"/>
              <a:cs typeface="Nunito"/>
              <a:sym typeface="Nunito"/>
            </a:endParaRPr>
          </a:p>
        </p:txBody>
      </p:sp>
      <p:sp>
        <p:nvSpPr>
          <p:cNvPr id="191" name="Google Shape;191;g3b0ae7f9920_0_183"/>
          <p:cNvSpPr txBox="1"/>
          <p:nvPr/>
        </p:nvSpPr>
        <p:spPr>
          <a:xfrm>
            <a:off x="4128625" y="3659725"/>
            <a:ext cx="3990900" cy="9735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Midwest has the higher approvals compared to other regions in US.</a:t>
            </a:r>
            <a:endParaRPr sz="1000">
              <a:solidFill>
                <a:schemeClr val="dk2"/>
              </a:solidFill>
              <a:latin typeface="Nunito"/>
              <a:ea typeface="Nunito"/>
              <a:cs typeface="Nunito"/>
              <a:sym typeface="Nunito"/>
            </a:endParaRPr>
          </a:p>
          <a:p>
            <a:pPr indent="0" lvl="0" marL="457200" marR="0" rtl="0" algn="l">
              <a:lnSpc>
                <a:spcPct val="115000"/>
              </a:lnSpc>
              <a:spcBef>
                <a:spcPts val="1000"/>
              </a:spcBef>
              <a:spcAft>
                <a:spcPts val="1000"/>
              </a:spcAft>
              <a:buNone/>
            </a:pPr>
            <a:r>
              <a:t/>
            </a:r>
            <a:endParaRPr sz="1000">
              <a:solidFill>
                <a:schemeClr val="dk2"/>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b0ae7f9920_0_192"/>
          <p:cNvSpPr txBox="1"/>
          <p:nvPr>
            <p:ph type="title"/>
          </p:nvPr>
        </p:nvSpPr>
        <p:spPr>
          <a:xfrm>
            <a:off x="202550" y="289279"/>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EDA : Job and Wage type</a:t>
            </a:r>
            <a:endParaRPr>
              <a:solidFill>
                <a:srgbClr val="000000"/>
              </a:solidFill>
            </a:endParaRPr>
          </a:p>
          <a:p>
            <a:pPr indent="0" lvl="0" marL="0" rtl="0" algn="l">
              <a:spcBef>
                <a:spcPts val="0"/>
              </a:spcBef>
              <a:spcAft>
                <a:spcPts val="0"/>
              </a:spcAft>
              <a:buNone/>
            </a:pPr>
            <a:r>
              <a:t/>
            </a:r>
            <a:endParaRPr/>
          </a:p>
        </p:txBody>
      </p:sp>
      <p:sp>
        <p:nvSpPr>
          <p:cNvPr id="197" name="Google Shape;197;g3b0ae7f9920_0_192"/>
          <p:cNvSpPr txBox="1"/>
          <p:nvPr/>
        </p:nvSpPr>
        <p:spPr>
          <a:xfrm>
            <a:off x="473125" y="3581400"/>
            <a:ext cx="3180300" cy="9735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1000"/>
              </a:spcAft>
              <a:buClr>
                <a:schemeClr val="dk2"/>
              </a:buClr>
              <a:buSzPts val="1000"/>
              <a:buFont typeface="Nunito"/>
              <a:buChar char="●"/>
            </a:pPr>
            <a:r>
              <a:rPr lang="en" sz="1000">
                <a:solidFill>
                  <a:schemeClr val="dk2"/>
                </a:solidFill>
                <a:latin typeface="Nunito"/>
                <a:ea typeface="Nunito"/>
                <a:cs typeface="Nunito"/>
                <a:sym typeface="Nunito"/>
              </a:rPr>
              <a:t>Sixty five percent of the positions are approved in both full and part time positions, indicating an identical approvals. </a:t>
            </a:r>
            <a:endParaRPr sz="1000">
              <a:solidFill>
                <a:schemeClr val="dk2"/>
              </a:solidFill>
              <a:latin typeface="Nunito"/>
              <a:ea typeface="Nunito"/>
              <a:cs typeface="Nunito"/>
              <a:sym typeface="Nunito"/>
            </a:endParaRPr>
          </a:p>
        </p:txBody>
      </p:sp>
      <p:sp>
        <p:nvSpPr>
          <p:cNvPr id="198" name="Google Shape;198;g3b0ae7f9920_0_192"/>
          <p:cNvSpPr txBox="1"/>
          <p:nvPr/>
        </p:nvSpPr>
        <p:spPr>
          <a:xfrm>
            <a:off x="4128625" y="3659725"/>
            <a:ext cx="3990900" cy="973500"/>
          </a:xfrm>
          <a:prstGeom prst="rect">
            <a:avLst/>
          </a:prstGeom>
          <a:noFill/>
          <a:ln>
            <a:noFill/>
          </a:ln>
        </p:spPr>
        <p:txBody>
          <a:bodyPr anchorCtr="0" anchor="t" bIns="91425" lIns="91425" spcFirstLastPara="1" rIns="91425" wrap="square" tIns="91425">
            <a:noAutofit/>
          </a:bodyPr>
          <a:lstStyle/>
          <a:p>
            <a:pPr indent="-292100" lvl="0" marL="457200" marR="0" rtl="0" algn="l">
              <a:lnSpc>
                <a:spcPct val="115000"/>
              </a:lnSpc>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Jobs with annual wages are highest approved compared to other wage types.</a:t>
            </a:r>
            <a:endParaRPr sz="1000">
              <a:solidFill>
                <a:schemeClr val="dk2"/>
              </a:solidFill>
              <a:latin typeface="Nunito"/>
              <a:ea typeface="Nunito"/>
              <a:cs typeface="Nunito"/>
              <a:sym typeface="Nunito"/>
            </a:endParaRPr>
          </a:p>
          <a:p>
            <a:pPr indent="0" lvl="0" marL="457200" marR="0" rtl="0" algn="l">
              <a:lnSpc>
                <a:spcPct val="115000"/>
              </a:lnSpc>
              <a:spcBef>
                <a:spcPts val="1000"/>
              </a:spcBef>
              <a:spcAft>
                <a:spcPts val="1000"/>
              </a:spcAft>
              <a:buNone/>
            </a:pPr>
            <a:r>
              <a:t/>
            </a:r>
            <a:endParaRPr sz="1000">
              <a:solidFill>
                <a:schemeClr val="dk2"/>
              </a:solidFill>
              <a:latin typeface="Nunito"/>
              <a:ea typeface="Nunito"/>
              <a:cs typeface="Nunito"/>
              <a:sym typeface="Nunito"/>
            </a:endParaRPr>
          </a:p>
        </p:txBody>
      </p:sp>
      <p:pic>
        <p:nvPicPr>
          <p:cNvPr id="199" name="Google Shape;199;g3b0ae7f9920_0_192"/>
          <p:cNvPicPr preferRelativeResize="0"/>
          <p:nvPr/>
        </p:nvPicPr>
        <p:blipFill>
          <a:blip r:embed="rId3">
            <a:alphaModFix/>
          </a:blip>
          <a:stretch>
            <a:fillRect/>
          </a:stretch>
        </p:blipFill>
        <p:spPr>
          <a:xfrm>
            <a:off x="4028075" y="861979"/>
            <a:ext cx="4410403" cy="2492946"/>
          </a:xfrm>
          <a:prstGeom prst="rect">
            <a:avLst/>
          </a:prstGeom>
          <a:noFill/>
          <a:ln>
            <a:noFill/>
          </a:ln>
        </p:spPr>
      </p:pic>
      <p:pic>
        <p:nvPicPr>
          <p:cNvPr id="200" name="Google Shape;200;g3b0ae7f9920_0_192"/>
          <p:cNvPicPr preferRelativeResize="0"/>
          <p:nvPr/>
        </p:nvPicPr>
        <p:blipFill>
          <a:blip r:embed="rId4">
            <a:alphaModFix/>
          </a:blip>
          <a:stretch>
            <a:fillRect/>
          </a:stretch>
        </p:blipFill>
        <p:spPr>
          <a:xfrm>
            <a:off x="201638" y="908529"/>
            <a:ext cx="3723276" cy="227462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b0ae7f9920_0_235"/>
          <p:cNvSpPr txBox="1"/>
          <p:nvPr>
            <p:ph type="title"/>
          </p:nvPr>
        </p:nvSpPr>
        <p:spPr>
          <a:xfrm>
            <a:off x="255450" y="119954"/>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EDA : Summary</a:t>
            </a:r>
            <a:endParaRPr>
              <a:solidFill>
                <a:srgbClr val="000000"/>
              </a:solidFill>
            </a:endParaRPr>
          </a:p>
          <a:p>
            <a:pPr indent="0" lvl="0" marL="0" rtl="0" algn="l">
              <a:spcBef>
                <a:spcPts val="0"/>
              </a:spcBef>
              <a:spcAft>
                <a:spcPts val="0"/>
              </a:spcAft>
              <a:buNone/>
            </a:pPr>
            <a:r>
              <a:t/>
            </a:r>
            <a:endParaRPr/>
          </a:p>
        </p:txBody>
      </p:sp>
      <p:sp>
        <p:nvSpPr>
          <p:cNvPr id="206" name="Google Shape;206;g3b0ae7f9920_0_235"/>
          <p:cNvSpPr txBox="1"/>
          <p:nvPr/>
        </p:nvSpPr>
        <p:spPr>
          <a:xfrm>
            <a:off x="340133" y="692650"/>
            <a:ext cx="2769000" cy="4330500"/>
          </a:xfrm>
          <a:prstGeom prst="rect">
            <a:avLst/>
          </a:prstGeom>
          <a:solidFill>
            <a:srgbClr val="6FA8DC"/>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100">
                <a:solidFill>
                  <a:schemeClr val="lt1"/>
                </a:solidFill>
                <a:latin typeface="Nunito"/>
                <a:ea typeface="Nunito"/>
                <a:cs typeface="Nunito"/>
                <a:sym typeface="Nunito"/>
              </a:rPr>
              <a:t>Demographics and Geography</a:t>
            </a:r>
            <a:endParaRPr b="1" sz="1100">
              <a:solidFill>
                <a:schemeClr val="lt1"/>
              </a:solidFill>
              <a:latin typeface="Nunito"/>
              <a:ea typeface="Nunito"/>
              <a:cs typeface="Nunito"/>
              <a:sym typeface="Nunito"/>
            </a:endParaRPr>
          </a:p>
          <a:p>
            <a:pPr indent="-200659" lvl="0" marL="18288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A significant majority (66%) of all applications originate from Asia.</a:t>
            </a:r>
            <a:endParaRPr sz="1000">
              <a:solidFill>
                <a:schemeClr val="lt1"/>
              </a:solidFill>
              <a:latin typeface="Nunito"/>
              <a:ea typeface="Nunito"/>
              <a:cs typeface="Nunito"/>
              <a:sym typeface="Nunito"/>
            </a:endParaRPr>
          </a:p>
          <a:p>
            <a:pPr indent="-200659" lvl="0" marL="18288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Ninety-nine percent of job applications are from the continental U.S. Within the mainland U.S., the Northeast region submits the highest volume of applications, while the Midwest submits the lowest.</a:t>
            </a:r>
            <a:endParaRPr sz="1000">
              <a:solidFill>
                <a:schemeClr val="lt1"/>
              </a:solidFill>
              <a:latin typeface="Nunito"/>
              <a:ea typeface="Nunito"/>
              <a:cs typeface="Nunito"/>
              <a:sym typeface="Nunito"/>
            </a:endParaRPr>
          </a:p>
          <a:p>
            <a:pPr indent="-200659" lvl="0" marL="18288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Approval rates vary geographically: The Europe region exhibits the highest visa approval rate overall, whereas South America reports the lowest approval rate across all continents.</a:t>
            </a:r>
            <a:endParaRPr sz="1000">
              <a:solidFill>
                <a:schemeClr val="lt1"/>
              </a:solidFill>
              <a:latin typeface="Nunito"/>
              <a:ea typeface="Nunito"/>
              <a:cs typeface="Nunito"/>
              <a:sym typeface="Nunito"/>
            </a:endParaRPr>
          </a:p>
          <a:p>
            <a:pPr indent="-200659" lvl="0" marL="18288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Midwest Approval Anomaly: Despite having the lowest application volume in the U.S., the Midwest region demonstrates higher approval rates compared to other U.S. regions.</a:t>
            </a:r>
            <a:endParaRPr sz="1000">
              <a:solidFill>
                <a:schemeClr val="lt1"/>
              </a:solidFill>
              <a:latin typeface="Nunito"/>
              <a:ea typeface="Nunito"/>
              <a:cs typeface="Nunito"/>
              <a:sym typeface="Nunito"/>
            </a:endParaRPr>
          </a:p>
        </p:txBody>
      </p:sp>
      <p:sp>
        <p:nvSpPr>
          <p:cNvPr id="207" name="Google Shape;207;g3b0ae7f9920_0_235"/>
          <p:cNvSpPr txBox="1"/>
          <p:nvPr/>
        </p:nvSpPr>
        <p:spPr>
          <a:xfrm>
            <a:off x="3225023" y="692650"/>
            <a:ext cx="2769000" cy="4330500"/>
          </a:xfrm>
          <a:prstGeom prst="rect">
            <a:avLst/>
          </a:prstGeom>
          <a:solidFill>
            <a:srgbClr val="F1C232"/>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100">
                <a:solidFill>
                  <a:schemeClr val="dk1"/>
                </a:solidFill>
                <a:latin typeface="Nunito"/>
                <a:ea typeface="Nunito"/>
                <a:cs typeface="Nunito"/>
                <a:sym typeface="Nunito"/>
              </a:rPr>
              <a:t>Education and Experience</a:t>
            </a:r>
            <a:endParaRPr b="1" sz="1100">
              <a:solidFill>
                <a:schemeClr val="dk1"/>
              </a:solidFill>
              <a:latin typeface="Nunito"/>
              <a:ea typeface="Nunito"/>
              <a:cs typeface="Nunito"/>
              <a:sym typeface="Nunito"/>
            </a:endParaRPr>
          </a:p>
          <a:p>
            <a:pPr indent="-200659" lvl="0" marL="182880" marR="0" rtl="0" algn="l">
              <a:lnSpc>
                <a:spcPct val="125000"/>
              </a:lnSpc>
              <a:spcBef>
                <a:spcPts val="1000"/>
              </a:spcBef>
              <a:spcAft>
                <a:spcPts val="0"/>
              </a:spcAft>
              <a:buClr>
                <a:schemeClr val="dk1"/>
              </a:buClr>
              <a:buSzPts val="1000"/>
              <a:buFont typeface="Nunito"/>
              <a:buChar char="●"/>
            </a:pPr>
            <a:r>
              <a:rPr lang="en" sz="1000">
                <a:solidFill>
                  <a:schemeClr val="dk1"/>
                </a:solidFill>
                <a:latin typeface="Nunito"/>
                <a:ea typeface="Nunito"/>
                <a:cs typeface="Nunito"/>
                <a:sym typeface="Nunito"/>
              </a:rPr>
              <a:t>Applicant education level shows a strong positive correlation with visa approval rates. More than 80% of both doctorate-level and master's-level applications receive approvals.</a:t>
            </a:r>
            <a:endParaRPr sz="1000">
              <a:solidFill>
                <a:schemeClr val="dk1"/>
              </a:solidFill>
              <a:latin typeface="Nunito"/>
              <a:ea typeface="Nunito"/>
              <a:cs typeface="Nunito"/>
              <a:sym typeface="Nunito"/>
            </a:endParaRPr>
          </a:p>
          <a:p>
            <a:pPr indent="-200659" lvl="0" marL="182880" marR="0" rtl="0" algn="l">
              <a:lnSpc>
                <a:spcPct val="125000"/>
              </a:lnSpc>
              <a:spcBef>
                <a:spcPts val="1000"/>
              </a:spcBef>
              <a:spcAft>
                <a:spcPts val="0"/>
              </a:spcAft>
              <a:buClr>
                <a:schemeClr val="dk1"/>
              </a:buClr>
              <a:buSzPts val="1000"/>
              <a:buFont typeface="Nunito"/>
              <a:buChar char="●"/>
            </a:pPr>
            <a:r>
              <a:rPr lang="en" sz="1000">
                <a:solidFill>
                  <a:schemeClr val="dk1"/>
                </a:solidFill>
                <a:latin typeface="Nunito"/>
                <a:ea typeface="Nunito"/>
                <a:cs typeface="Nunito"/>
                <a:sym typeface="Nunito"/>
              </a:rPr>
              <a:t>Prior job experience is a strong indicator of approval. Applicants who possess relevant job experience consistently receive higher approval ratings than those without experience.</a:t>
            </a:r>
            <a:endParaRPr sz="1500">
              <a:solidFill>
                <a:schemeClr val="dk1"/>
              </a:solidFill>
              <a:latin typeface="Nunito"/>
              <a:ea typeface="Nunito"/>
              <a:cs typeface="Nunito"/>
              <a:sym typeface="Nunito"/>
            </a:endParaRPr>
          </a:p>
          <a:p>
            <a:pPr indent="0" lvl="0" marL="182880" rtl="0" algn="l">
              <a:lnSpc>
                <a:spcPct val="125000"/>
              </a:lnSpc>
              <a:spcBef>
                <a:spcPts val="1000"/>
              </a:spcBef>
              <a:spcAft>
                <a:spcPts val="0"/>
              </a:spcAft>
              <a:buNone/>
            </a:pPr>
            <a:r>
              <a:t/>
            </a:r>
            <a:endParaRPr b="1" sz="1100">
              <a:solidFill>
                <a:schemeClr val="dk1"/>
              </a:solidFill>
              <a:latin typeface="Nunito"/>
              <a:ea typeface="Nunito"/>
              <a:cs typeface="Nunito"/>
              <a:sym typeface="Nunito"/>
            </a:endParaRPr>
          </a:p>
        </p:txBody>
      </p:sp>
      <p:sp>
        <p:nvSpPr>
          <p:cNvPr id="208" name="Google Shape;208;g3b0ae7f9920_0_235"/>
          <p:cNvSpPr txBox="1"/>
          <p:nvPr/>
        </p:nvSpPr>
        <p:spPr>
          <a:xfrm>
            <a:off x="6109934" y="692650"/>
            <a:ext cx="2769000" cy="4330500"/>
          </a:xfrm>
          <a:prstGeom prst="rect">
            <a:avLst/>
          </a:prstGeom>
          <a:solidFill>
            <a:srgbClr val="3D85C6"/>
          </a:solid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marR="0" rtl="0" algn="l">
              <a:lnSpc>
                <a:spcPct val="125000"/>
              </a:lnSpc>
              <a:spcBef>
                <a:spcPts val="0"/>
              </a:spcBef>
              <a:spcAft>
                <a:spcPts val="0"/>
              </a:spcAft>
              <a:buNone/>
            </a:pPr>
            <a:r>
              <a:rPr b="1" lang="en" sz="1100">
                <a:solidFill>
                  <a:schemeClr val="lt1"/>
                </a:solidFill>
                <a:latin typeface="Nunito"/>
                <a:ea typeface="Nunito"/>
                <a:cs typeface="Nunito"/>
                <a:sym typeface="Nunito"/>
              </a:rPr>
              <a:t>Job Details and Requirements</a:t>
            </a:r>
            <a:endParaRPr sz="1000">
              <a:solidFill>
                <a:schemeClr val="lt1"/>
              </a:solidFill>
              <a:latin typeface="Nunito"/>
              <a:ea typeface="Nunito"/>
              <a:cs typeface="Nunito"/>
              <a:sym typeface="Nunito"/>
            </a:endParaRPr>
          </a:p>
          <a:p>
            <a:pPr indent="-200659" lvl="0" marL="182880" marR="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Wage Type Matters: Applications listing annual wages have the highest approval rates compared to those with other wage structures (e.g., hourly wages).</a:t>
            </a:r>
            <a:endParaRPr sz="1000">
              <a:solidFill>
                <a:schemeClr val="lt1"/>
              </a:solidFill>
              <a:latin typeface="Nunito"/>
              <a:ea typeface="Nunito"/>
              <a:cs typeface="Nunito"/>
              <a:sym typeface="Nunito"/>
            </a:endParaRPr>
          </a:p>
          <a:p>
            <a:pPr indent="-200659" lvl="0" marL="182880" marR="0" rtl="0" algn="l">
              <a:lnSpc>
                <a:spcPct val="125000"/>
              </a:lnSpc>
              <a:spcBef>
                <a:spcPts val="1000"/>
              </a:spcBef>
              <a:spcAft>
                <a:spcPts val="0"/>
              </a:spcAft>
              <a:buClr>
                <a:schemeClr val="lt1"/>
              </a:buClr>
              <a:buSzPts val="1000"/>
              <a:buFont typeface="Nunito"/>
              <a:buChar char="●"/>
            </a:pPr>
            <a:r>
              <a:rPr lang="en" sz="1000">
                <a:solidFill>
                  <a:schemeClr val="lt1"/>
                </a:solidFill>
                <a:latin typeface="Nunito"/>
                <a:ea typeface="Nunito"/>
                <a:cs typeface="Nunito"/>
                <a:sym typeface="Nunito"/>
              </a:rPr>
              <a:t>Position Type is Neutral: Approval rates are identical between full-time and part-time positions.</a:t>
            </a:r>
            <a:endParaRPr sz="1000">
              <a:solidFill>
                <a:schemeClr val="lt1"/>
              </a:solidFill>
              <a:latin typeface="Nunito"/>
              <a:ea typeface="Nunito"/>
              <a:cs typeface="Nunito"/>
              <a:sym typeface="Nunito"/>
            </a:endParaRPr>
          </a:p>
          <a:p>
            <a:pPr indent="-200659" lvl="0" marL="182880" marR="0" rtl="0" algn="l">
              <a:lnSpc>
                <a:spcPct val="125000"/>
              </a:lnSpc>
              <a:spcBef>
                <a:spcPts val="1000"/>
              </a:spcBef>
              <a:spcAft>
                <a:spcPts val="1000"/>
              </a:spcAft>
              <a:buClr>
                <a:schemeClr val="lt1"/>
              </a:buClr>
              <a:buSzPts val="1000"/>
              <a:buFont typeface="Nunito"/>
              <a:buChar char="●"/>
            </a:pPr>
            <a:r>
              <a:rPr lang="en" sz="1000">
                <a:solidFill>
                  <a:schemeClr val="lt1"/>
                </a:solidFill>
                <a:latin typeface="Nunito"/>
                <a:ea typeface="Nunito"/>
                <a:cs typeface="Nunito"/>
                <a:sym typeface="Nunito"/>
              </a:rPr>
              <a:t>Training Not a Factor: While a majority of applicants do not require job training, the approval rating is identical for applicants who require training and those who do not.</a:t>
            </a:r>
            <a:endParaRPr sz="1000">
              <a:solidFill>
                <a:schemeClr val="lt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0ae7f9920_0_245"/>
          <p:cNvSpPr txBox="1"/>
          <p:nvPr>
            <p:ph type="title"/>
          </p:nvPr>
        </p:nvSpPr>
        <p:spPr>
          <a:xfrm>
            <a:off x="257150" y="15210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Data Preprocessing </a:t>
            </a:r>
            <a:endParaRPr>
              <a:solidFill>
                <a:srgbClr val="000000"/>
              </a:solidFill>
            </a:endParaRPr>
          </a:p>
        </p:txBody>
      </p:sp>
      <p:sp>
        <p:nvSpPr>
          <p:cNvPr id="214" name="Google Shape;214;g3b0ae7f9920_0_245"/>
          <p:cNvSpPr txBox="1"/>
          <p:nvPr/>
        </p:nvSpPr>
        <p:spPr>
          <a:xfrm>
            <a:off x="184425" y="724800"/>
            <a:ext cx="8028600" cy="33927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1000"/>
              </a:spcBef>
              <a:spcAft>
                <a:spcPts val="0"/>
              </a:spcAft>
              <a:buClr>
                <a:srgbClr val="2D3B45"/>
              </a:buClr>
              <a:buSzPts val="1400"/>
              <a:buFont typeface="Nunito"/>
              <a:buChar char="●"/>
            </a:pPr>
            <a:r>
              <a:rPr b="1" lang="en">
                <a:solidFill>
                  <a:srgbClr val="2D3B45"/>
                </a:solidFill>
                <a:highlight>
                  <a:schemeClr val="lt1"/>
                </a:highlight>
                <a:latin typeface="Nunito"/>
                <a:ea typeface="Nunito"/>
                <a:cs typeface="Nunito"/>
                <a:sym typeface="Nunito"/>
              </a:rPr>
              <a:t>Duplicate check:</a:t>
            </a:r>
            <a:r>
              <a:rPr lang="en">
                <a:solidFill>
                  <a:srgbClr val="2D3B45"/>
                </a:solidFill>
                <a:highlight>
                  <a:schemeClr val="lt1"/>
                </a:highlight>
                <a:latin typeface="Nunito"/>
                <a:ea typeface="Nunito"/>
                <a:cs typeface="Nunito"/>
                <a:sym typeface="Nunito"/>
              </a:rPr>
              <a:t> No duplicate rows are present in the training data.</a:t>
            </a:r>
            <a:endParaRPr>
              <a:solidFill>
                <a:srgbClr val="2D3B45"/>
              </a:solidFill>
              <a:highlight>
                <a:schemeClr val="lt1"/>
              </a:highlight>
              <a:latin typeface="Nunito"/>
              <a:ea typeface="Nunito"/>
              <a:cs typeface="Nunito"/>
              <a:sym typeface="Nunito"/>
            </a:endParaRPr>
          </a:p>
          <a:p>
            <a:pPr indent="-317500" lvl="0" marL="457200" rtl="0" algn="l">
              <a:lnSpc>
                <a:spcPct val="150000"/>
              </a:lnSpc>
              <a:spcBef>
                <a:spcPts val="0"/>
              </a:spcBef>
              <a:spcAft>
                <a:spcPts val="0"/>
              </a:spcAft>
              <a:buClr>
                <a:srgbClr val="2D3B45"/>
              </a:buClr>
              <a:buSzPts val="1400"/>
              <a:buFont typeface="Nunito"/>
              <a:buChar char="●"/>
            </a:pPr>
            <a:r>
              <a:rPr b="1" lang="en">
                <a:solidFill>
                  <a:srgbClr val="2D3B45"/>
                </a:solidFill>
                <a:highlight>
                  <a:schemeClr val="lt1"/>
                </a:highlight>
                <a:latin typeface="Nunito"/>
                <a:ea typeface="Nunito"/>
                <a:cs typeface="Nunito"/>
                <a:sym typeface="Nunito"/>
              </a:rPr>
              <a:t>Missing value check: </a:t>
            </a:r>
            <a:r>
              <a:rPr lang="en">
                <a:solidFill>
                  <a:srgbClr val="2D3B45"/>
                </a:solidFill>
                <a:highlight>
                  <a:schemeClr val="lt1"/>
                </a:highlight>
                <a:latin typeface="Nunito"/>
                <a:ea typeface="Nunito"/>
                <a:cs typeface="Nunito"/>
                <a:sym typeface="Nunito"/>
              </a:rPr>
              <a:t>Training data has no missing values.</a:t>
            </a:r>
            <a:endParaRPr>
              <a:solidFill>
                <a:srgbClr val="2D3B45"/>
              </a:solidFill>
              <a:highlight>
                <a:schemeClr val="lt1"/>
              </a:highlight>
              <a:latin typeface="Nunito"/>
              <a:ea typeface="Nunito"/>
              <a:cs typeface="Nunito"/>
              <a:sym typeface="Nunito"/>
            </a:endParaRPr>
          </a:p>
          <a:p>
            <a:pPr indent="-317500" lvl="0" marL="457200" rtl="0" algn="l">
              <a:lnSpc>
                <a:spcPct val="150000"/>
              </a:lnSpc>
              <a:spcBef>
                <a:spcPts val="0"/>
              </a:spcBef>
              <a:spcAft>
                <a:spcPts val="0"/>
              </a:spcAft>
              <a:buClr>
                <a:srgbClr val="2D3B45"/>
              </a:buClr>
              <a:buSzPts val="1400"/>
              <a:buFont typeface="Nunito"/>
              <a:buChar char="●"/>
            </a:pPr>
            <a:r>
              <a:rPr b="1" lang="en">
                <a:solidFill>
                  <a:srgbClr val="2D3B45"/>
                </a:solidFill>
                <a:highlight>
                  <a:schemeClr val="lt1"/>
                </a:highlight>
                <a:latin typeface="Nunito"/>
                <a:ea typeface="Nunito"/>
                <a:cs typeface="Nunito"/>
                <a:sym typeface="Nunito"/>
              </a:rPr>
              <a:t>Outlier Detection: </a:t>
            </a:r>
            <a:r>
              <a:rPr lang="en">
                <a:solidFill>
                  <a:srgbClr val="2D3B45"/>
                </a:solidFill>
                <a:highlight>
                  <a:schemeClr val="lt1"/>
                </a:highlight>
                <a:latin typeface="Nunito"/>
                <a:ea typeface="Nunito"/>
                <a:cs typeface="Nunito"/>
                <a:sym typeface="Nunito"/>
              </a:rPr>
              <a:t>The ‘number of employees’, ‘year of establishment’, and ‘prevailing wage’ features have outliers, however given the variability in the data set, these values are expected. Therefore no outliers treatment is performed.</a:t>
            </a:r>
            <a:endParaRPr>
              <a:solidFill>
                <a:srgbClr val="2D3B45"/>
              </a:solidFill>
              <a:highlight>
                <a:schemeClr val="lt1"/>
              </a:highlight>
              <a:latin typeface="Nunito"/>
              <a:ea typeface="Nunito"/>
              <a:cs typeface="Nunito"/>
              <a:sym typeface="Nunito"/>
            </a:endParaRPr>
          </a:p>
          <a:p>
            <a:pPr indent="-317500" lvl="0" marL="457200" rtl="0" algn="l">
              <a:lnSpc>
                <a:spcPct val="150000"/>
              </a:lnSpc>
              <a:spcBef>
                <a:spcPts val="0"/>
              </a:spcBef>
              <a:spcAft>
                <a:spcPts val="0"/>
              </a:spcAft>
              <a:buClr>
                <a:srgbClr val="2D3B45"/>
              </a:buClr>
              <a:buSzPts val="1400"/>
              <a:buFont typeface="Nunito"/>
              <a:buChar char="●"/>
            </a:pPr>
            <a:r>
              <a:rPr b="1" lang="en">
                <a:solidFill>
                  <a:srgbClr val="2D3B45"/>
                </a:solidFill>
                <a:highlight>
                  <a:schemeClr val="lt1"/>
                </a:highlight>
                <a:latin typeface="Nunito"/>
                <a:ea typeface="Nunito"/>
                <a:cs typeface="Nunito"/>
                <a:sym typeface="Nunito"/>
              </a:rPr>
              <a:t>Feature Engineering: </a:t>
            </a:r>
            <a:r>
              <a:rPr lang="en">
                <a:solidFill>
                  <a:srgbClr val="2D3B45"/>
                </a:solidFill>
                <a:highlight>
                  <a:schemeClr val="lt1"/>
                </a:highlight>
                <a:latin typeface="Nunito"/>
                <a:ea typeface="Nunito"/>
                <a:cs typeface="Nunito"/>
                <a:sym typeface="Nunito"/>
              </a:rPr>
              <a:t>is the process to transform the raw data into features that help machine learning algorithm perform better.</a:t>
            </a:r>
            <a:endParaRPr>
              <a:solidFill>
                <a:srgbClr val="2D3B45"/>
              </a:solidFill>
              <a:highlight>
                <a:schemeClr val="lt1"/>
              </a:highlight>
              <a:latin typeface="Nunito"/>
              <a:ea typeface="Nunito"/>
              <a:cs typeface="Nunito"/>
              <a:sym typeface="Nunito"/>
            </a:endParaRPr>
          </a:p>
          <a:p>
            <a:pPr indent="-317500" lvl="1" marL="914400" rtl="0" algn="l">
              <a:lnSpc>
                <a:spcPct val="150000"/>
              </a:lnSpc>
              <a:spcBef>
                <a:spcPts val="0"/>
              </a:spcBef>
              <a:spcAft>
                <a:spcPts val="0"/>
              </a:spcAft>
              <a:buClr>
                <a:srgbClr val="2D3B45"/>
              </a:buClr>
              <a:buSzPts val="1400"/>
              <a:buFont typeface="Nunito"/>
              <a:buChar char="○"/>
            </a:pPr>
            <a:r>
              <a:rPr lang="en">
                <a:solidFill>
                  <a:srgbClr val="2D3B45"/>
                </a:solidFill>
                <a:highlight>
                  <a:schemeClr val="lt1"/>
                </a:highlight>
                <a:latin typeface="Nunito"/>
                <a:ea typeface="Nunito"/>
                <a:cs typeface="Nunito"/>
                <a:sym typeface="Nunito"/>
              </a:rPr>
              <a:t>No new features are created.</a:t>
            </a:r>
            <a:endParaRPr>
              <a:solidFill>
                <a:srgbClr val="2D3B45"/>
              </a:solidFill>
              <a:highlight>
                <a:schemeClr val="lt1"/>
              </a:highlight>
              <a:latin typeface="Nunito"/>
              <a:ea typeface="Nunito"/>
              <a:cs typeface="Nunito"/>
              <a:sym typeface="Nunito"/>
            </a:endParaRPr>
          </a:p>
          <a:p>
            <a:pPr indent="-317500" lvl="1" marL="914400" rtl="0" algn="l">
              <a:lnSpc>
                <a:spcPct val="150000"/>
              </a:lnSpc>
              <a:spcBef>
                <a:spcPts val="0"/>
              </a:spcBef>
              <a:spcAft>
                <a:spcPts val="0"/>
              </a:spcAft>
              <a:buClr>
                <a:srgbClr val="2D3B45"/>
              </a:buClr>
              <a:buSzPts val="1400"/>
              <a:buFont typeface="Nunito"/>
              <a:buChar char="○"/>
            </a:pPr>
            <a:r>
              <a:rPr lang="en">
                <a:solidFill>
                  <a:srgbClr val="2D3B45"/>
                </a:solidFill>
                <a:highlight>
                  <a:schemeClr val="lt1"/>
                </a:highlight>
                <a:latin typeface="Nunito"/>
                <a:ea typeface="Nunito"/>
                <a:cs typeface="Nunito"/>
                <a:sym typeface="Nunito"/>
              </a:rPr>
              <a:t>Data transformed to handle the categorical features.</a:t>
            </a:r>
            <a:endParaRPr>
              <a:solidFill>
                <a:srgbClr val="2D3B45"/>
              </a:solidFill>
              <a:highlight>
                <a:schemeClr val="lt1"/>
              </a:highlight>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b17ddeb428_0_6"/>
          <p:cNvSpPr txBox="1"/>
          <p:nvPr>
            <p:ph type="title"/>
          </p:nvPr>
        </p:nvSpPr>
        <p:spPr>
          <a:xfrm>
            <a:off x="257150" y="15210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Data Preprocessing </a:t>
            </a:r>
            <a:endParaRPr>
              <a:solidFill>
                <a:srgbClr val="000000"/>
              </a:solidFill>
            </a:endParaRPr>
          </a:p>
        </p:txBody>
      </p:sp>
      <p:sp>
        <p:nvSpPr>
          <p:cNvPr id="220" name="Google Shape;220;g3b17ddeb428_0_6"/>
          <p:cNvSpPr txBox="1"/>
          <p:nvPr/>
        </p:nvSpPr>
        <p:spPr>
          <a:xfrm>
            <a:off x="184425" y="724800"/>
            <a:ext cx="7501200" cy="914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1000"/>
              </a:spcBef>
              <a:spcAft>
                <a:spcPts val="0"/>
              </a:spcAft>
              <a:buClr>
                <a:srgbClr val="2D3B45"/>
              </a:buClr>
              <a:buSzPts val="1200"/>
              <a:buFont typeface="Nunito"/>
              <a:buChar char="●"/>
            </a:pPr>
            <a:r>
              <a:rPr b="1" lang="en" sz="1200">
                <a:solidFill>
                  <a:srgbClr val="2D3B45"/>
                </a:solidFill>
                <a:highlight>
                  <a:schemeClr val="lt1"/>
                </a:highlight>
                <a:latin typeface="Nunito"/>
                <a:ea typeface="Nunito"/>
                <a:cs typeface="Nunito"/>
                <a:sym typeface="Nunito"/>
              </a:rPr>
              <a:t>Data preparation for modeling:</a:t>
            </a:r>
            <a:endParaRPr b="1" sz="1200">
              <a:solidFill>
                <a:srgbClr val="2D3B45"/>
              </a:solidFill>
              <a:highlight>
                <a:schemeClr val="lt1"/>
              </a:highlight>
              <a:latin typeface="Nunito"/>
              <a:ea typeface="Nunito"/>
              <a:cs typeface="Nunito"/>
              <a:sym typeface="Nunito"/>
            </a:endParaRPr>
          </a:p>
          <a:p>
            <a:pPr indent="-304800" lvl="1" marL="914400" rtl="0" algn="l">
              <a:lnSpc>
                <a:spcPct val="150000"/>
              </a:lnSpc>
              <a:spcBef>
                <a:spcPts val="0"/>
              </a:spcBef>
              <a:spcAft>
                <a:spcPts val="0"/>
              </a:spcAft>
              <a:buClr>
                <a:srgbClr val="2D3B45"/>
              </a:buClr>
              <a:buSzPts val="1200"/>
              <a:buFont typeface="Nunito"/>
              <a:buChar char="○"/>
            </a:pPr>
            <a:r>
              <a:rPr b="1" lang="en" sz="1200">
                <a:solidFill>
                  <a:srgbClr val="2D3B45"/>
                </a:solidFill>
                <a:highlight>
                  <a:schemeClr val="lt1"/>
                </a:highlight>
                <a:latin typeface="Nunito"/>
                <a:ea typeface="Nunito"/>
                <a:cs typeface="Nunito"/>
                <a:sym typeface="Nunito"/>
              </a:rPr>
              <a:t>Encoding</a:t>
            </a:r>
            <a:r>
              <a:rPr lang="en" sz="1200">
                <a:solidFill>
                  <a:srgbClr val="2D3B45"/>
                </a:solidFill>
                <a:highlight>
                  <a:schemeClr val="lt1"/>
                </a:highlight>
                <a:latin typeface="Nunito"/>
                <a:ea typeface="Nunito"/>
                <a:cs typeface="Nunito"/>
                <a:sym typeface="Nunito"/>
              </a:rPr>
              <a:t>: Following categorical features are encoded using pandas get dummies function with drop_first option.</a:t>
            </a:r>
            <a:endParaRPr sz="1200">
              <a:solidFill>
                <a:srgbClr val="2D3B45"/>
              </a:solidFill>
              <a:highlight>
                <a:schemeClr val="lt1"/>
              </a:highlight>
              <a:latin typeface="Nunito"/>
              <a:ea typeface="Nunito"/>
              <a:cs typeface="Nunito"/>
              <a:sym typeface="Nunito"/>
            </a:endParaRPr>
          </a:p>
          <a:p>
            <a:pPr indent="0" lvl="0" marL="0" rtl="0" algn="l">
              <a:lnSpc>
                <a:spcPct val="150000"/>
              </a:lnSpc>
              <a:spcBef>
                <a:spcPts val="1000"/>
              </a:spcBef>
              <a:spcAft>
                <a:spcPts val="0"/>
              </a:spcAft>
              <a:buNone/>
            </a:pPr>
            <a:r>
              <a:t/>
            </a:r>
            <a:endParaRPr>
              <a:solidFill>
                <a:srgbClr val="2D3B45"/>
              </a:solidFill>
              <a:highlight>
                <a:schemeClr val="lt1"/>
              </a:highlight>
              <a:latin typeface="Nunito"/>
              <a:ea typeface="Nunito"/>
              <a:cs typeface="Nunito"/>
              <a:sym typeface="Nunito"/>
            </a:endParaRPr>
          </a:p>
          <a:p>
            <a:pPr indent="0" lvl="0" marL="0" rtl="0" algn="l">
              <a:lnSpc>
                <a:spcPct val="150000"/>
              </a:lnSpc>
              <a:spcBef>
                <a:spcPts val="0"/>
              </a:spcBef>
              <a:spcAft>
                <a:spcPts val="0"/>
              </a:spcAft>
              <a:buNone/>
            </a:pPr>
            <a:r>
              <a:t/>
            </a:r>
            <a:endParaRPr sz="1500">
              <a:solidFill>
                <a:schemeClr val="dk2"/>
              </a:solidFill>
              <a:latin typeface="Nunito"/>
              <a:ea typeface="Nunito"/>
              <a:cs typeface="Nunito"/>
              <a:sym typeface="Nunito"/>
            </a:endParaRPr>
          </a:p>
        </p:txBody>
      </p:sp>
      <p:sp>
        <p:nvSpPr>
          <p:cNvPr id="221" name="Google Shape;221;g3b17ddeb428_0_6"/>
          <p:cNvSpPr txBox="1"/>
          <p:nvPr/>
        </p:nvSpPr>
        <p:spPr>
          <a:xfrm>
            <a:off x="203475" y="1550856"/>
            <a:ext cx="3128100" cy="914400"/>
          </a:xfrm>
          <a:prstGeom prst="rect">
            <a:avLst/>
          </a:prstGeom>
          <a:noFill/>
          <a:ln>
            <a:noFill/>
          </a:ln>
        </p:spPr>
        <p:txBody>
          <a:bodyPr anchorCtr="0" anchor="t" bIns="91425" lIns="91425" spcFirstLastPara="1" rIns="91425" wrap="square" tIns="91425">
            <a:noAutofit/>
          </a:bodyPr>
          <a:lstStyle/>
          <a:p>
            <a:pPr indent="-292100" lvl="2" marL="1371600" rtl="0" algn="l">
              <a:lnSpc>
                <a:spcPct val="150000"/>
              </a:lnSpc>
              <a:spcBef>
                <a:spcPts val="100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Continent</a:t>
            </a:r>
            <a:endParaRPr sz="1000">
              <a:solidFill>
                <a:srgbClr val="2D3B45"/>
              </a:solidFill>
              <a:highlight>
                <a:schemeClr val="lt1"/>
              </a:highlight>
              <a:latin typeface="Nunito"/>
              <a:ea typeface="Nunito"/>
              <a:cs typeface="Nunito"/>
              <a:sym typeface="Nunito"/>
            </a:endParaRPr>
          </a:p>
          <a:p>
            <a:pPr indent="-292100" lvl="2" marL="1371600" rtl="0" algn="l">
              <a:lnSpc>
                <a:spcPct val="150000"/>
              </a:lnSpc>
              <a:spcBef>
                <a:spcPts val="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Education of Employee</a:t>
            </a:r>
            <a:endParaRPr sz="1000">
              <a:solidFill>
                <a:srgbClr val="2D3B45"/>
              </a:solidFill>
              <a:highlight>
                <a:schemeClr val="lt1"/>
              </a:highlight>
              <a:latin typeface="Nunito"/>
              <a:ea typeface="Nunito"/>
              <a:cs typeface="Nunito"/>
              <a:sym typeface="Nunito"/>
            </a:endParaRPr>
          </a:p>
          <a:p>
            <a:pPr indent="-292100" lvl="2" marL="1371600" rtl="0" algn="l">
              <a:lnSpc>
                <a:spcPct val="150000"/>
              </a:lnSpc>
              <a:spcBef>
                <a:spcPts val="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Has job experience</a:t>
            </a:r>
            <a:endParaRPr sz="1000">
              <a:solidFill>
                <a:srgbClr val="2D3B45"/>
              </a:solidFill>
              <a:highlight>
                <a:schemeClr val="lt1"/>
              </a:highlight>
              <a:latin typeface="Nunito"/>
              <a:ea typeface="Nunito"/>
              <a:cs typeface="Nunito"/>
              <a:sym typeface="Nunito"/>
            </a:endParaRPr>
          </a:p>
          <a:p>
            <a:pPr indent="-292100" lvl="2" marL="1371600" rtl="0" algn="l">
              <a:lnSpc>
                <a:spcPct val="150000"/>
              </a:lnSpc>
              <a:spcBef>
                <a:spcPts val="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Requires job training</a:t>
            </a:r>
            <a:endParaRPr sz="1000">
              <a:solidFill>
                <a:srgbClr val="2D3B45"/>
              </a:solidFill>
              <a:highlight>
                <a:schemeClr val="lt1"/>
              </a:highlight>
              <a:latin typeface="Nunito"/>
              <a:ea typeface="Nunito"/>
              <a:cs typeface="Nunito"/>
              <a:sym typeface="Nunito"/>
            </a:endParaRPr>
          </a:p>
          <a:p>
            <a:pPr indent="0" lvl="0" marL="0" rtl="0" algn="l">
              <a:lnSpc>
                <a:spcPct val="150000"/>
              </a:lnSpc>
              <a:spcBef>
                <a:spcPts val="0"/>
              </a:spcBef>
              <a:spcAft>
                <a:spcPts val="0"/>
              </a:spcAft>
              <a:buNone/>
            </a:pPr>
            <a:r>
              <a:t/>
            </a:r>
            <a:endParaRPr sz="1000">
              <a:solidFill>
                <a:schemeClr val="dk2"/>
              </a:solidFill>
              <a:latin typeface="Nunito"/>
              <a:ea typeface="Nunito"/>
              <a:cs typeface="Nunito"/>
              <a:sym typeface="Nunito"/>
            </a:endParaRPr>
          </a:p>
        </p:txBody>
      </p:sp>
      <p:sp>
        <p:nvSpPr>
          <p:cNvPr id="222" name="Google Shape;222;g3b17ddeb428_0_6"/>
          <p:cNvSpPr txBox="1"/>
          <p:nvPr/>
        </p:nvSpPr>
        <p:spPr>
          <a:xfrm>
            <a:off x="3400050" y="1553947"/>
            <a:ext cx="2346900" cy="914400"/>
          </a:xfrm>
          <a:prstGeom prst="rect">
            <a:avLst/>
          </a:prstGeom>
          <a:noFill/>
          <a:ln>
            <a:noFill/>
          </a:ln>
        </p:spPr>
        <p:txBody>
          <a:bodyPr anchorCtr="0" anchor="t" bIns="91425" lIns="91425" spcFirstLastPara="1" rIns="91425" wrap="square" tIns="91425">
            <a:noAutofit/>
          </a:bodyPr>
          <a:lstStyle/>
          <a:p>
            <a:pPr indent="-292100" lvl="2" marL="457200" rtl="0" algn="l">
              <a:lnSpc>
                <a:spcPct val="150000"/>
              </a:lnSpc>
              <a:spcBef>
                <a:spcPts val="100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Region of employment</a:t>
            </a:r>
            <a:endParaRPr sz="1000">
              <a:solidFill>
                <a:srgbClr val="2D3B45"/>
              </a:solidFill>
              <a:highlight>
                <a:schemeClr val="lt1"/>
              </a:highlight>
              <a:latin typeface="Nunito"/>
              <a:ea typeface="Nunito"/>
              <a:cs typeface="Nunito"/>
              <a:sym typeface="Nunito"/>
            </a:endParaRPr>
          </a:p>
          <a:p>
            <a:pPr indent="-292100" lvl="2" marL="457200" rtl="0" algn="l">
              <a:lnSpc>
                <a:spcPct val="150000"/>
              </a:lnSpc>
              <a:spcBef>
                <a:spcPts val="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Unit of wage</a:t>
            </a:r>
            <a:endParaRPr sz="1000">
              <a:solidFill>
                <a:srgbClr val="2D3B45"/>
              </a:solidFill>
              <a:highlight>
                <a:schemeClr val="lt1"/>
              </a:highlight>
              <a:latin typeface="Nunito"/>
              <a:ea typeface="Nunito"/>
              <a:cs typeface="Nunito"/>
              <a:sym typeface="Nunito"/>
            </a:endParaRPr>
          </a:p>
          <a:p>
            <a:pPr indent="-292100" lvl="2" marL="457200" rtl="0" algn="l">
              <a:lnSpc>
                <a:spcPct val="150000"/>
              </a:lnSpc>
              <a:spcBef>
                <a:spcPts val="0"/>
              </a:spcBef>
              <a:spcAft>
                <a:spcPts val="0"/>
              </a:spcAft>
              <a:buClr>
                <a:srgbClr val="2D3B45"/>
              </a:buClr>
              <a:buSzPts val="1000"/>
              <a:buFont typeface="Nunito"/>
              <a:buChar char="■"/>
            </a:pPr>
            <a:r>
              <a:rPr lang="en" sz="1000">
                <a:solidFill>
                  <a:srgbClr val="2D3B45"/>
                </a:solidFill>
                <a:highlight>
                  <a:schemeClr val="lt1"/>
                </a:highlight>
                <a:latin typeface="Nunito"/>
                <a:ea typeface="Nunito"/>
                <a:cs typeface="Nunito"/>
                <a:sym typeface="Nunito"/>
              </a:rPr>
              <a:t>Full time position</a:t>
            </a:r>
            <a:endParaRPr sz="1000">
              <a:solidFill>
                <a:srgbClr val="2D3B45"/>
              </a:solidFill>
              <a:highlight>
                <a:schemeClr val="lt1"/>
              </a:highlight>
              <a:latin typeface="Nunito"/>
              <a:ea typeface="Nunito"/>
              <a:cs typeface="Nunito"/>
              <a:sym typeface="Nunito"/>
            </a:endParaRPr>
          </a:p>
          <a:p>
            <a:pPr indent="0" lvl="0" marL="0" rtl="0" algn="l">
              <a:lnSpc>
                <a:spcPct val="150000"/>
              </a:lnSpc>
              <a:spcBef>
                <a:spcPts val="0"/>
              </a:spcBef>
              <a:spcAft>
                <a:spcPts val="0"/>
              </a:spcAft>
              <a:buNone/>
            </a:pPr>
            <a:r>
              <a:t/>
            </a:r>
            <a:endParaRPr sz="1000">
              <a:solidFill>
                <a:schemeClr val="dk2"/>
              </a:solidFill>
              <a:latin typeface="Nunito"/>
              <a:ea typeface="Nunito"/>
              <a:cs typeface="Nunito"/>
              <a:sym typeface="Nunito"/>
            </a:endParaRPr>
          </a:p>
        </p:txBody>
      </p:sp>
      <p:sp>
        <p:nvSpPr>
          <p:cNvPr id="223" name="Google Shape;223;g3b17ddeb428_0_6"/>
          <p:cNvSpPr txBox="1"/>
          <p:nvPr/>
        </p:nvSpPr>
        <p:spPr>
          <a:xfrm>
            <a:off x="172475" y="2507449"/>
            <a:ext cx="7501200" cy="2050200"/>
          </a:xfrm>
          <a:prstGeom prst="rect">
            <a:avLst/>
          </a:prstGeom>
          <a:noFill/>
          <a:ln>
            <a:noFill/>
          </a:ln>
        </p:spPr>
        <p:txBody>
          <a:bodyPr anchorCtr="0" anchor="t" bIns="91425" lIns="91425" spcFirstLastPara="1" rIns="91425" wrap="square" tIns="91425">
            <a:noAutofit/>
          </a:bodyPr>
          <a:lstStyle/>
          <a:p>
            <a:pPr indent="-304800" lvl="1" marL="914400" rtl="0" algn="l">
              <a:lnSpc>
                <a:spcPct val="150000"/>
              </a:lnSpc>
              <a:spcBef>
                <a:spcPts val="1000"/>
              </a:spcBef>
              <a:spcAft>
                <a:spcPts val="0"/>
              </a:spcAft>
              <a:buClr>
                <a:srgbClr val="2D3B45"/>
              </a:buClr>
              <a:buSzPts val="1200"/>
              <a:buFont typeface="Nunito"/>
              <a:buChar char="○"/>
            </a:pPr>
            <a:r>
              <a:rPr b="1" lang="en" sz="1200">
                <a:solidFill>
                  <a:srgbClr val="2D3B45"/>
                </a:solidFill>
                <a:highlight>
                  <a:schemeClr val="lt1"/>
                </a:highlight>
                <a:latin typeface="Nunito"/>
                <a:ea typeface="Nunito"/>
                <a:cs typeface="Nunito"/>
                <a:sym typeface="Nunito"/>
              </a:rPr>
              <a:t>Data Split</a:t>
            </a:r>
            <a:r>
              <a:rPr lang="en" sz="1200">
                <a:solidFill>
                  <a:srgbClr val="2D3B45"/>
                </a:solidFill>
                <a:highlight>
                  <a:schemeClr val="lt1"/>
                </a:highlight>
                <a:latin typeface="Nunito"/>
                <a:ea typeface="Nunito"/>
                <a:cs typeface="Nunito"/>
                <a:sym typeface="Nunito"/>
              </a:rPr>
              <a:t>: </a:t>
            </a:r>
            <a:endParaRPr sz="1200">
              <a:solidFill>
                <a:srgbClr val="2D3B45"/>
              </a:solidFill>
              <a:highlight>
                <a:schemeClr val="lt1"/>
              </a:highlight>
              <a:latin typeface="Nunito"/>
              <a:ea typeface="Nunito"/>
              <a:cs typeface="Nunito"/>
              <a:sym typeface="Nunito"/>
            </a:endParaRPr>
          </a:p>
          <a:p>
            <a:pPr indent="-304800" lvl="2" marL="1371600" rtl="0" algn="l">
              <a:lnSpc>
                <a:spcPct val="150000"/>
              </a:lnSpc>
              <a:spcBef>
                <a:spcPts val="0"/>
              </a:spcBef>
              <a:spcAft>
                <a:spcPts val="0"/>
              </a:spcAft>
              <a:buClr>
                <a:srgbClr val="2D3B45"/>
              </a:buClr>
              <a:buSzPts val="1200"/>
              <a:buFont typeface="Nunito"/>
              <a:buChar char="■"/>
            </a:pPr>
            <a:r>
              <a:rPr lang="en" sz="1200">
                <a:solidFill>
                  <a:srgbClr val="2D3B45"/>
                </a:solidFill>
                <a:highlight>
                  <a:schemeClr val="lt1"/>
                </a:highlight>
                <a:latin typeface="Nunito"/>
                <a:ea typeface="Nunito"/>
                <a:cs typeface="Nunito"/>
                <a:sym typeface="Nunito"/>
              </a:rPr>
              <a:t>Data is split into three sets using stratify-  train, validation and test </a:t>
            </a:r>
            <a:endParaRPr sz="1200">
              <a:solidFill>
                <a:srgbClr val="2D3B45"/>
              </a:solidFill>
              <a:highlight>
                <a:schemeClr val="lt1"/>
              </a:highlight>
              <a:latin typeface="Nunito"/>
              <a:ea typeface="Nunito"/>
              <a:cs typeface="Nunito"/>
              <a:sym typeface="Nunito"/>
            </a:endParaRPr>
          </a:p>
          <a:p>
            <a:pPr indent="-304800" lvl="2" marL="1371600" rtl="0" algn="l">
              <a:lnSpc>
                <a:spcPct val="150000"/>
              </a:lnSpc>
              <a:spcBef>
                <a:spcPts val="0"/>
              </a:spcBef>
              <a:spcAft>
                <a:spcPts val="0"/>
              </a:spcAft>
              <a:buClr>
                <a:srgbClr val="2D3B45"/>
              </a:buClr>
              <a:buSzPts val="1200"/>
              <a:buFont typeface="Nunito"/>
              <a:buChar char="■"/>
            </a:pPr>
            <a:r>
              <a:rPr lang="en" sz="1200">
                <a:solidFill>
                  <a:srgbClr val="2D3B45"/>
                </a:solidFill>
                <a:highlight>
                  <a:schemeClr val="lt1"/>
                </a:highlight>
                <a:latin typeface="Nunito"/>
                <a:ea typeface="Nunito"/>
                <a:cs typeface="Nunito"/>
                <a:sym typeface="Nunito"/>
              </a:rPr>
              <a:t>Stratify ensures the proportion of target class in each of train, validation and test data sets are maintained.</a:t>
            </a:r>
            <a:endParaRPr sz="1200">
              <a:solidFill>
                <a:srgbClr val="2D3B45"/>
              </a:solidFill>
              <a:highlight>
                <a:schemeClr val="lt1"/>
              </a:highlight>
              <a:latin typeface="Nunito"/>
              <a:ea typeface="Nunito"/>
              <a:cs typeface="Nunito"/>
              <a:sym typeface="Nunito"/>
            </a:endParaRPr>
          </a:p>
          <a:p>
            <a:pPr indent="-304800" lvl="2" marL="1371600" rtl="0" algn="l">
              <a:lnSpc>
                <a:spcPct val="150000"/>
              </a:lnSpc>
              <a:spcBef>
                <a:spcPts val="0"/>
              </a:spcBef>
              <a:spcAft>
                <a:spcPts val="0"/>
              </a:spcAft>
              <a:buClr>
                <a:srgbClr val="2D3B45"/>
              </a:buClr>
              <a:buSzPts val="1200"/>
              <a:buFont typeface="Nunito"/>
              <a:buChar char="■"/>
            </a:pPr>
            <a:r>
              <a:rPr lang="en" sz="1200">
                <a:solidFill>
                  <a:srgbClr val="2D3B45"/>
                </a:solidFill>
                <a:highlight>
                  <a:schemeClr val="lt1"/>
                </a:highlight>
                <a:latin typeface="Nunito"/>
                <a:ea typeface="Nunito"/>
                <a:cs typeface="Nunito"/>
                <a:sym typeface="Nunito"/>
              </a:rPr>
              <a:t>train set is used for model training.</a:t>
            </a:r>
            <a:endParaRPr sz="1200">
              <a:solidFill>
                <a:srgbClr val="2D3B45"/>
              </a:solidFill>
              <a:highlight>
                <a:schemeClr val="lt1"/>
              </a:highlight>
              <a:latin typeface="Nunito"/>
              <a:ea typeface="Nunito"/>
              <a:cs typeface="Nunito"/>
              <a:sym typeface="Nunito"/>
            </a:endParaRPr>
          </a:p>
          <a:p>
            <a:pPr indent="-304800" lvl="2" marL="1371600" rtl="0" algn="l">
              <a:lnSpc>
                <a:spcPct val="150000"/>
              </a:lnSpc>
              <a:spcBef>
                <a:spcPts val="0"/>
              </a:spcBef>
              <a:spcAft>
                <a:spcPts val="0"/>
              </a:spcAft>
              <a:buClr>
                <a:srgbClr val="2D3B45"/>
              </a:buClr>
              <a:buSzPts val="1200"/>
              <a:buFont typeface="Nunito"/>
              <a:buChar char="■"/>
            </a:pPr>
            <a:r>
              <a:rPr lang="en" sz="1200">
                <a:solidFill>
                  <a:srgbClr val="2D3B45"/>
                </a:solidFill>
                <a:highlight>
                  <a:schemeClr val="lt1"/>
                </a:highlight>
                <a:latin typeface="Nunito"/>
                <a:ea typeface="Nunito"/>
                <a:cs typeface="Nunito"/>
                <a:sym typeface="Nunito"/>
              </a:rPr>
              <a:t>validation set is used for hyper parameter turning to improve the model performance.</a:t>
            </a:r>
            <a:endParaRPr sz="1200">
              <a:solidFill>
                <a:srgbClr val="2D3B45"/>
              </a:solidFill>
              <a:highlight>
                <a:schemeClr val="lt1"/>
              </a:highlight>
              <a:latin typeface="Nunito"/>
              <a:ea typeface="Nunito"/>
              <a:cs typeface="Nunito"/>
              <a:sym typeface="Nunito"/>
            </a:endParaRPr>
          </a:p>
          <a:p>
            <a:pPr indent="-304800" lvl="2" marL="1371600" rtl="0" algn="l">
              <a:lnSpc>
                <a:spcPct val="150000"/>
              </a:lnSpc>
              <a:spcBef>
                <a:spcPts val="0"/>
              </a:spcBef>
              <a:spcAft>
                <a:spcPts val="0"/>
              </a:spcAft>
              <a:buClr>
                <a:srgbClr val="2D3B45"/>
              </a:buClr>
              <a:buSzPts val="1200"/>
              <a:buFont typeface="Nunito"/>
              <a:buChar char="■"/>
            </a:pPr>
            <a:r>
              <a:rPr lang="en" sz="1200">
                <a:solidFill>
                  <a:srgbClr val="2D3B45"/>
                </a:solidFill>
                <a:highlight>
                  <a:schemeClr val="lt1"/>
                </a:highlight>
                <a:latin typeface="Nunito"/>
                <a:ea typeface="Nunito"/>
                <a:cs typeface="Nunito"/>
                <a:sym typeface="Nunito"/>
              </a:rPr>
              <a:t>test set is used to evaluate the final model performance.</a:t>
            </a:r>
            <a:endParaRPr sz="1200">
              <a:solidFill>
                <a:srgbClr val="2D3B45"/>
              </a:solidFill>
              <a:highlight>
                <a:schemeClr val="lt1"/>
              </a:highlight>
              <a:latin typeface="Nunito"/>
              <a:ea typeface="Nunito"/>
              <a:cs typeface="Nunito"/>
              <a:sym typeface="Nunito"/>
            </a:endParaRPr>
          </a:p>
          <a:p>
            <a:pPr indent="0" lvl="0" marL="0" rtl="0" algn="l">
              <a:lnSpc>
                <a:spcPct val="150000"/>
              </a:lnSpc>
              <a:spcBef>
                <a:spcPts val="0"/>
              </a:spcBef>
              <a:spcAft>
                <a:spcPts val="0"/>
              </a:spcAft>
              <a:buNone/>
            </a:pPr>
            <a:r>
              <a:t/>
            </a:r>
            <a:endParaRPr sz="1500">
              <a:solidFill>
                <a:schemeClr val="dk2"/>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b133478bdc_0_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Methodology: Modeling, Optimization, and Evaluation</a:t>
            </a:r>
            <a:endParaRPr>
              <a:solidFill>
                <a:srgbClr val="000000"/>
              </a:solidFill>
            </a:endParaRPr>
          </a:p>
        </p:txBody>
      </p:sp>
      <p:sp>
        <p:nvSpPr>
          <p:cNvPr id="229" name="Google Shape;229;g3b133478bdc_0_0"/>
          <p:cNvSpPr txBox="1"/>
          <p:nvPr/>
        </p:nvSpPr>
        <p:spPr>
          <a:xfrm>
            <a:off x="3898565" y="4128689"/>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sp>
        <p:nvSpPr>
          <p:cNvPr id="230" name="Google Shape;230;g3b133478bdc_0_0"/>
          <p:cNvSpPr/>
          <p:nvPr/>
        </p:nvSpPr>
        <p:spPr>
          <a:xfrm>
            <a:off x="291568" y="1050715"/>
            <a:ext cx="1870200" cy="866400"/>
          </a:xfrm>
          <a:prstGeom prst="homePlate">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Evaluation </a:t>
            </a:r>
            <a:endParaRPr>
              <a:solidFill>
                <a:schemeClr val="lt1"/>
              </a:solidFill>
              <a:latin typeface="Nunito"/>
              <a:ea typeface="Nunito"/>
              <a:cs typeface="Nunito"/>
              <a:sym typeface="Nunito"/>
            </a:endParaRPr>
          </a:p>
          <a:p>
            <a:pPr indent="0" lvl="0" marL="0" rtl="0" algn="ctr">
              <a:spcBef>
                <a:spcPts val="0"/>
              </a:spcBef>
              <a:spcAft>
                <a:spcPts val="0"/>
              </a:spcAft>
              <a:buNone/>
            </a:pPr>
            <a:r>
              <a:rPr lang="en">
                <a:solidFill>
                  <a:schemeClr val="lt1"/>
                </a:solidFill>
                <a:latin typeface="Nunito"/>
                <a:ea typeface="Nunito"/>
                <a:cs typeface="Nunito"/>
                <a:sym typeface="Nunito"/>
              </a:rPr>
              <a:t>Criteria</a:t>
            </a:r>
            <a:endParaRPr>
              <a:solidFill>
                <a:schemeClr val="lt1"/>
              </a:solidFill>
              <a:latin typeface="Nunito"/>
              <a:ea typeface="Nunito"/>
              <a:cs typeface="Nunito"/>
              <a:sym typeface="Nunito"/>
            </a:endParaRPr>
          </a:p>
        </p:txBody>
      </p:sp>
      <p:sp>
        <p:nvSpPr>
          <p:cNvPr id="231" name="Google Shape;231;g3b133478bdc_0_0"/>
          <p:cNvSpPr/>
          <p:nvPr/>
        </p:nvSpPr>
        <p:spPr>
          <a:xfrm>
            <a:off x="1759670" y="1050665"/>
            <a:ext cx="20394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Data </a:t>
            </a:r>
            <a:r>
              <a:rPr lang="en">
                <a:solidFill>
                  <a:schemeClr val="lt1"/>
                </a:solidFill>
                <a:latin typeface="Nunito"/>
                <a:ea typeface="Nunito"/>
                <a:cs typeface="Nunito"/>
                <a:sym typeface="Nunito"/>
              </a:rPr>
              <a:t>Preparation</a:t>
            </a:r>
            <a:endParaRPr sz="900">
              <a:solidFill>
                <a:schemeClr val="lt1"/>
              </a:solidFill>
              <a:latin typeface="Nunito"/>
              <a:ea typeface="Nunito"/>
              <a:cs typeface="Nunito"/>
              <a:sym typeface="Nunito"/>
            </a:endParaRPr>
          </a:p>
        </p:txBody>
      </p:sp>
      <p:sp>
        <p:nvSpPr>
          <p:cNvPr id="232" name="Google Shape;232;g3b133478bdc_0_0"/>
          <p:cNvSpPr/>
          <p:nvPr/>
        </p:nvSpPr>
        <p:spPr>
          <a:xfrm>
            <a:off x="3401885" y="1051560"/>
            <a:ext cx="20394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Baseline Modeling </a:t>
            </a:r>
            <a:r>
              <a:rPr lang="en" sz="800">
                <a:solidFill>
                  <a:schemeClr val="lt1"/>
                </a:solidFill>
                <a:latin typeface="Nunito"/>
                <a:ea typeface="Nunito"/>
                <a:cs typeface="Nunito"/>
                <a:sym typeface="Nunito"/>
              </a:rPr>
              <a:t>(Default Parameters)</a:t>
            </a:r>
            <a:endParaRPr sz="800">
              <a:solidFill>
                <a:schemeClr val="lt1"/>
              </a:solidFill>
              <a:latin typeface="Nunito"/>
              <a:ea typeface="Nunito"/>
              <a:cs typeface="Nunito"/>
              <a:sym typeface="Nunito"/>
            </a:endParaRPr>
          </a:p>
        </p:txBody>
      </p:sp>
      <p:sp>
        <p:nvSpPr>
          <p:cNvPr id="233" name="Google Shape;233;g3b133478bdc_0_0"/>
          <p:cNvSpPr/>
          <p:nvPr/>
        </p:nvSpPr>
        <p:spPr>
          <a:xfrm>
            <a:off x="3432266" y="1954943"/>
            <a:ext cx="20394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Ensemble Modeling</a:t>
            </a:r>
            <a:endParaRPr sz="900">
              <a:solidFill>
                <a:schemeClr val="lt1"/>
              </a:solidFill>
              <a:latin typeface="Nunito"/>
              <a:ea typeface="Nunito"/>
              <a:cs typeface="Nunito"/>
              <a:sym typeface="Nunito"/>
            </a:endParaRPr>
          </a:p>
        </p:txBody>
      </p:sp>
      <p:sp>
        <p:nvSpPr>
          <p:cNvPr id="234" name="Google Shape;234;g3b133478bdc_0_0"/>
          <p:cNvSpPr/>
          <p:nvPr/>
        </p:nvSpPr>
        <p:spPr>
          <a:xfrm>
            <a:off x="1773425" y="2863775"/>
            <a:ext cx="23592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Hyperparameter Tuning</a:t>
            </a:r>
            <a:endParaRPr>
              <a:solidFill>
                <a:schemeClr val="lt1"/>
              </a:solidFill>
              <a:latin typeface="Nunito"/>
              <a:ea typeface="Nunito"/>
              <a:cs typeface="Nunito"/>
              <a:sym typeface="Nunito"/>
            </a:endParaRPr>
          </a:p>
        </p:txBody>
      </p:sp>
      <p:sp>
        <p:nvSpPr>
          <p:cNvPr id="235" name="Google Shape;235;g3b133478bdc_0_0"/>
          <p:cNvSpPr/>
          <p:nvPr/>
        </p:nvSpPr>
        <p:spPr>
          <a:xfrm>
            <a:off x="3745852" y="2863767"/>
            <a:ext cx="21018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Final Model Selection</a:t>
            </a:r>
            <a:endParaRPr>
              <a:solidFill>
                <a:schemeClr val="lt1"/>
              </a:solidFill>
              <a:latin typeface="Nunito"/>
              <a:ea typeface="Nunito"/>
              <a:cs typeface="Nunito"/>
              <a:sym typeface="Nunito"/>
            </a:endParaRPr>
          </a:p>
        </p:txBody>
      </p:sp>
      <p:sp>
        <p:nvSpPr>
          <p:cNvPr id="236" name="Google Shape;236;g3b133478bdc_0_0"/>
          <p:cNvSpPr/>
          <p:nvPr/>
        </p:nvSpPr>
        <p:spPr>
          <a:xfrm>
            <a:off x="5463485" y="2863750"/>
            <a:ext cx="22317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Feature Importance &amp;  Interpretation</a:t>
            </a:r>
            <a:endParaRPr>
              <a:solidFill>
                <a:schemeClr val="lt1"/>
              </a:solidFill>
              <a:latin typeface="Nunito"/>
              <a:ea typeface="Nunito"/>
              <a:cs typeface="Nunito"/>
              <a:sym typeface="Nunito"/>
            </a:endParaRPr>
          </a:p>
        </p:txBody>
      </p:sp>
      <p:sp>
        <p:nvSpPr>
          <p:cNvPr id="237" name="Google Shape;237;g3b133478bdc_0_0"/>
          <p:cNvSpPr/>
          <p:nvPr/>
        </p:nvSpPr>
        <p:spPr>
          <a:xfrm>
            <a:off x="1773432" y="1957229"/>
            <a:ext cx="2039400" cy="866400"/>
          </a:xfrm>
          <a:prstGeom prst="chevron">
            <a:avLst>
              <a:gd fmla="val 50000" name="adj"/>
            </a:avLst>
          </a:prstGeom>
          <a:solidFill>
            <a:srgbClr val="1974D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Nunito"/>
                <a:ea typeface="Nunito"/>
                <a:cs typeface="Nunito"/>
                <a:sym typeface="Nunito"/>
              </a:rPr>
              <a:t>Class </a:t>
            </a:r>
            <a:endParaRPr>
              <a:solidFill>
                <a:schemeClr val="lt1"/>
              </a:solidFill>
              <a:latin typeface="Nunito"/>
              <a:ea typeface="Nunito"/>
              <a:cs typeface="Nunito"/>
              <a:sym typeface="Nunito"/>
            </a:endParaRPr>
          </a:p>
          <a:p>
            <a:pPr indent="0" lvl="0" marL="0" rtl="0" algn="ctr">
              <a:spcBef>
                <a:spcPts val="0"/>
              </a:spcBef>
              <a:spcAft>
                <a:spcPts val="0"/>
              </a:spcAft>
              <a:buNone/>
            </a:pPr>
            <a:r>
              <a:rPr lang="en">
                <a:solidFill>
                  <a:schemeClr val="lt1"/>
                </a:solidFill>
                <a:latin typeface="Nunito"/>
                <a:ea typeface="Nunito"/>
                <a:cs typeface="Nunito"/>
                <a:sym typeface="Nunito"/>
              </a:rPr>
              <a:t>Imbalance Mitigation</a:t>
            </a:r>
            <a:endParaRPr>
              <a:solidFill>
                <a:schemeClr val="lt1"/>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pSp>
        <p:nvGrpSpPr>
          <p:cNvPr id="242" name="Google Shape;242;g3b17ddeb428_0_26"/>
          <p:cNvGrpSpPr/>
          <p:nvPr/>
        </p:nvGrpSpPr>
        <p:grpSpPr>
          <a:xfrm>
            <a:off x="289379" y="1071925"/>
            <a:ext cx="5309149" cy="2743500"/>
            <a:chOff x="581900" y="1071925"/>
            <a:chExt cx="5309149" cy="2743500"/>
          </a:xfrm>
        </p:grpSpPr>
        <p:sp>
          <p:nvSpPr>
            <p:cNvPr id="243" name="Google Shape;243;g3b17ddeb428_0_26"/>
            <p:cNvSpPr txBox="1"/>
            <p:nvPr/>
          </p:nvSpPr>
          <p:spPr>
            <a:xfrm>
              <a:off x="581900" y="1071925"/>
              <a:ext cx="4832100" cy="274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Model Predictions:</a:t>
              </a:r>
              <a:endParaRPr b="1" sz="1500">
                <a:solidFill>
                  <a:schemeClr val="dk2"/>
                </a:solidFill>
                <a:latin typeface="Nunito"/>
                <a:ea typeface="Nunito"/>
                <a:cs typeface="Nunito"/>
                <a:sym typeface="Nunito"/>
              </a:endParaRPr>
            </a:p>
            <a:p>
              <a:pPr indent="-304800" lvl="0" marL="457200" rtl="0" algn="l">
                <a:lnSpc>
                  <a:spcPct val="115000"/>
                </a:lnSpc>
                <a:spcBef>
                  <a:spcPts val="600"/>
                </a:spcBef>
                <a:spcAft>
                  <a:spcPts val="0"/>
                </a:spcAft>
                <a:buClr>
                  <a:srgbClr val="1F1F1F"/>
                </a:buClr>
                <a:buSzPts val="1200"/>
                <a:buFont typeface="Nunito"/>
                <a:buAutoNum type="arabicPeriod"/>
              </a:pPr>
              <a:r>
                <a:rPr lang="en" sz="1200">
                  <a:solidFill>
                    <a:srgbClr val="1F1F1F"/>
                  </a:solidFill>
                  <a:highlight>
                    <a:srgbClr val="FFFFFF"/>
                  </a:highlight>
                  <a:latin typeface="Nunito"/>
                  <a:ea typeface="Nunito"/>
                  <a:cs typeface="Nunito"/>
                  <a:sym typeface="Nunito"/>
                </a:rPr>
                <a:t>Model predicts that visa application will get certified but in reality, the visa application should get certified.   </a:t>
              </a:r>
              <a:endParaRPr sz="1200">
                <a:solidFill>
                  <a:srgbClr val="1F1F1F"/>
                </a:solidFill>
                <a:highlight>
                  <a:srgbClr val="FFFFFF"/>
                </a:highlight>
                <a:latin typeface="Nunito"/>
                <a:ea typeface="Nunito"/>
                <a:cs typeface="Nunito"/>
                <a:sym typeface="Nunito"/>
              </a:endParaRPr>
            </a:p>
            <a:p>
              <a:pPr indent="-304800" lvl="0" marL="457200" rtl="0" algn="l">
                <a:lnSpc>
                  <a:spcPct val="115000"/>
                </a:lnSpc>
                <a:spcBef>
                  <a:spcPts val="1000"/>
                </a:spcBef>
                <a:spcAft>
                  <a:spcPts val="0"/>
                </a:spcAft>
                <a:buClr>
                  <a:srgbClr val="1F1F1F"/>
                </a:buClr>
                <a:buSzPts val="1200"/>
                <a:buFont typeface="Nunito"/>
                <a:buAutoNum type="arabicPeriod"/>
              </a:pPr>
              <a:r>
                <a:rPr lang="en" sz="1200">
                  <a:solidFill>
                    <a:srgbClr val="1F1F1F"/>
                  </a:solidFill>
                  <a:highlight>
                    <a:srgbClr val="FFFFFF"/>
                  </a:highlight>
                  <a:latin typeface="Nunito"/>
                  <a:ea typeface="Nunito"/>
                  <a:cs typeface="Nunito"/>
                  <a:sym typeface="Nunito"/>
                </a:rPr>
                <a:t>Model predicts that the visa application will get certified but in reality, the visa application should get denied.</a:t>
              </a:r>
              <a:endParaRPr sz="1200">
                <a:solidFill>
                  <a:srgbClr val="1F1F1F"/>
                </a:solidFill>
                <a:highlight>
                  <a:srgbClr val="FFFFFF"/>
                </a:highlight>
                <a:latin typeface="Nunito"/>
                <a:ea typeface="Nunito"/>
                <a:cs typeface="Nunito"/>
                <a:sym typeface="Nunito"/>
              </a:endParaRPr>
            </a:p>
            <a:p>
              <a:pPr indent="-304800" lvl="0" marL="457200" rtl="0" algn="l">
                <a:lnSpc>
                  <a:spcPct val="115000"/>
                </a:lnSpc>
                <a:spcBef>
                  <a:spcPts val="1000"/>
                </a:spcBef>
                <a:spcAft>
                  <a:spcPts val="0"/>
                </a:spcAft>
                <a:buClr>
                  <a:srgbClr val="1F1F1F"/>
                </a:buClr>
                <a:buSzPts val="1200"/>
                <a:buFont typeface="Nunito"/>
                <a:buAutoNum type="arabicPeriod"/>
              </a:pPr>
              <a:r>
                <a:rPr lang="en" sz="1200">
                  <a:solidFill>
                    <a:srgbClr val="1F1F1F"/>
                  </a:solidFill>
                  <a:highlight>
                    <a:srgbClr val="FFFFFF"/>
                  </a:highlight>
                  <a:latin typeface="Nunito"/>
                  <a:ea typeface="Nunito"/>
                  <a:cs typeface="Nunito"/>
                  <a:sym typeface="Nunito"/>
                </a:rPr>
                <a:t>Model predicts that the visa application will not get certified but in reality, the visa application should get certified.</a:t>
              </a:r>
              <a:endParaRPr sz="1200">
                <a:solidFill>
                  <a:srgbClr val="1F1F1F"/>
                </a:solidFill>
                <a:highlight>
                  <a:srgbClr val="FFFFFF"/>
                </a:highlight>
                <a:latin typeface="Nunito"/>
                <a:ea typeface="Nunito"/>
                <a:cs typeface="Nunito"/>
                <a:sym typeface="Nunito"/>
              </a:endParaRPr>
            </a:p>
            <a:p>
              <a:pPr indent="-304800" lvl="0" marL="457200" rtl="0" algn="l">
                <a:lnSpc>
                  <a:spcPct val="115000"/>
                </a:lnSpc>
                <a:spcBef>
                  <a:spcPts val="1000"/>
                </a:spcBef>
                <a:spcAft>
                  <a:spcPts val="0"/>
                </a:spcAft>
                <a:buClr>
                  <a:srgbClr val="1F1F1F"/>
                </a:buClr>
                <a:buSzPts val="1200"/>
                <a:buFont typeface="Nunito"/>
                <a:buAutoNum type="arabicPeriod"/>
              </a:pPr>
              <a:r>
                <a:rPr lang="en" sz="1200">
                  <a:solidFill>
                    <a:srgbClr val="1F1F1F"/>
                  </a:solidFill>
                  <a:highlight>
                    <a:srgbClr val="FFFFFF"/>
                  </a:highlight>
                  <a:latin typeface="Nunito"/>
                  <a:ea typeface="Nunito"/>
                  <a:cs typeface="Nunito"/>
                  <a:sym typeface="Nunito"/>
                </a:rPr>
                <a:t>Model predicts that the visa application will not get certified but in reality, the visa application should get denied.</a:t>
              </a:r>
              <a:endParaRPr sz="1200">
                <a:solidFill>
                  <a:srgbClr val="1F1F1F"/>
                </a:solidFill>
                <a:highlight>
                  <a:srgbClr val="FFFFFF"/>
                </a:highlight>
                <a:latin typeface="Nunito"/>
                <a:ea typeface="Nunito"/>
                <a:cs typeface="Nunito"/>
                <a:sym typeface="Nunito"/>
              </a:endParaRPr>
            </a:p>
            <a:p>
              <a:pPr indent="0" lvl="0" marL="457200" rtl="0" algn="l">
                <a:lnSpc>
                  <a:spcPct val="115000"/>
                </a:lnSpc>
                <a:spcBef>
                  <a:spcPts val="1000"/>
                </a:spcBef>
                <a:spcAft>
                  <a:spcPts val="0"/>
                </a:spcAft>
                <a:buNone/>
              </a:pPr>
              <a:r>
                <a:t/>
              </a:r>
              <a:endParaRPr sz="1200">
                <a:solidFill>
                  <a:srgbClr val="1F1F1F"/>
                </a:solidFill>
                <a:highlight>
                  <a:srgbClr val="FFFFFF"/>
                </a:highlight>
                <a:latin typeface="Nunito"/>
                <a:ea typeface="Nunito"/>
                <a:cs typeface="Nunito"/>
                <a:sym typeface="Nunito"/>
              </a:endParaRPr>
            </a:p>
            <a:p>
              <a:pPr indent="0" lvl="0" marL="0" rtl="0" algn="l">
                <a:spcBef>
                  <a:spcPts val="1000"/>
                </a:spcBef>
                <a:spcAft>
                  <a:spcPts val="0"/>
                </a:spcAft>
                <a:buNone/>
              </a:pPr>
              <a:r>
                <a:t/>
              </a:r>
              <a:endParaRPr sz="1500">
                <a:solidFill>
                  <a:schemeClr val="dk2"/>
                </a:solidFill>
                <a:latin typeface="Nunito"/>
                <a:ea typeface="Nunito"/>
                <a:cs typeface="Nunito"/>
                <a:sym typeface="Nunito"/>
              </a:endParaRPr>
            </a:p>
          </p:txBody>
        </p:sp>
        <p:pic>
          <p:nvPicPr>
            <p:cNvPr descr="Check mark vector icon. Checkmark right symbol tick sign. Ok button correct circle icon. (Provided by Getty Images)" id="244" name="Google Shape;244;g3b17ddeb428_0_26"/>
            <p:cNvPicPr preferRelativeResize="0"/>
            <p:nvPr/>
          </p:nvPicPr>
          <p:blipFill>
            <a:blip r:embed="rId3">
              <a:alphaModFix/>
            </a:blip>
            <a:stretch>
              <a:fillRect/>
            </a:stretch>
          </p:blipFill>
          <p:spPr>
            <a:xfrm>
              <a:off x="5280025" y="1251625"/>
              <a:ext cx="609398" cy="609398"/>
            </a:xfrm>
            <a:prstGeom prst="rect">
              <a:avLst/>
            </a:prstGeom>
            <a:noFill/>
            <a:ln>
              <a:noFill/>
            </a:ln>
          </p:spPr>
        </p:pic>
        <p:pic>
          <p:nvPicPr>
            <p:cNvPr descr="3D Wrong Button in Circle Shape. (Provided by Getty Images)" id="245" name="Google Shape;245;g3b17ddeb428_0_26"/>
            <p:cNvPicPr preferRelativeResize="0"/>
            <p:nvPr/>
          </p:nvPicPr>
          <p:blipFill>
            <a:blip r:embed="rId4">
              <a:alphaModFix/>
            </a:blip>
            <a:stretch>
              <a:fillRect/>
            </a:stretch>
          </p:blipFill>
          <p:spPr>
            <a:xfrm>
              <a:off x="5278400" y="1806775"/>
              <a:ext cx="612649" cy="612649"/>
            </a:xfrm>
            <a:prstGeom prst="rect">
              <a:avLst/>
            </a:prstGeom>
            <a:noFill/>
            <a:ln>
              <a:noFill/>
            </a:ln>
          </p:spPr>
        </p:pic>
        <p:pic>
          <p:nvPicPr>
            <p:cNvPr descr="Check mark vector icon. Checkmark right symbol tick sign. Ok button correct circle icon. (Provided by Getty Images)" id="246" name="Google Shape;246;g3b17ddeb428_0_26"/>
            <p:cNvPicPr preferRelativeResize="0"/>
            <p:nvPr/>
          </p:nvPicPr>
          <p:blipFill>
            <a:blip r:embed="rId3">
              <a:alphaModFix/>
            </a:blip>
            <a:stretch>
              <a:fillRect/>
            </a:stretch>
          </p:blipFill>
          <p:spPr>
            <a:xfrm>
              <a:off x="5276001" y="3083643"/>
              <a:ext cx="609398" cy="609398"/>
            </a:xfrm>
            <a:prstGeom prst="rect">
              <a:avLst/>
            </a:prstGeom>
            <a:noFill/>
            <a:ln>
              <a:noFill/>
            </a:ln>
          </p:spPr>
        </p:pic>
        <p:pic>
          <p:nvPicPr>
            <p:cNvPr descr="3D Wrong Button in Circle Shape. (Provided by Getty Images)" id="247" name="Google Shape;247;g3b17ddeb428_0_26"/>
            <p:cNvPicPr preferRelativeResize="0"/>
            <p:nvPr/>
          </p:nvPicPr>
          <p:blipFill>
            <a:blip r:embed="rId4">
              <a:alphaModFix/>
            </a:blip>
            <a:stretch>
              <a:fillRect/>
            </a:stretch>
          </p:blipFill>
          <p:spPr>
            <a:xfrm>
              <a:off x="5276001" y="2419419"/>
              <a:ext cx="612649" cy="612649"/>
            </a:xfrm>
            <a:prstGeom prst="rect">
              <a:avLst/>
            </a:prstGeom>
            <a:noFill/>
            <a:ln>
              <a:noFill/>
            </a:ln>
          </p:spPr>
        </p:pic>
      </p:grpSp>
      <p:sp>
        <p:nvSpPr>
          <p:cNvPr id="248" name="Google Shape;248;g3b17ddeb428_0_26"/>
          <p:cNvSpPr/>
          <p:nvPr/>
        </p:nvSpPr>
        <p:spPr>
          <a:xfrm>
            <a:off x="6376950" y="1925725"/>
            <a:ext cx="158400" cy="12063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249" name="Google Shape;249;g3b17ddeb428_0_26"/>
          <p:cNvSpPr txBox="1"/>
          <p:nvPr/>
        </p:nvSpPr>
        <p:spPr>
          <a:xfrm>
            <a:off x="6791375" y="1833175"/>
            <a:ext cx="2011200" cy="1391400"/>
          </a:xfrm>
          <a:prstGeom prst="rect">
            <a:avLst/>
          </a:prstGeom>
          <a:solidFill>
            <a:srgbClr val="5B9BD5"/>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500">
                <a:solidFill>
                  <a:schemeClr val="lt1"/>
                </a:solidFill>
                <a:latin typeface="Nunito"/>
                <a:ea typeface="Nunito"/>
                <a:cs typeface="Nunito"/>
                <a:sym typeface="Nunito"/>
              </a:rPr>
              <a:t>Important, otherwise a wrong person will get the position or US will lose a qualified resource</a:t>
            </a:r>
            <a:endParaRPr sz="1500">
              <a:solidFill>
                <a:schemeClr val="lt1"/>
              </a:solidFill>
              <a:latin typeface="Nunito"/>
              <a:ea typeface="Nunito"/>
              <a:cs typeface="Nunito"/>
              <a:sym typeface="Nunito"/>
            </a:endParaRPr>
          </a:p>
        </p:txBody>
      </p:sp>
      <p:sp>
        <p:nvSpPr>
          <p:cNvPr id="250" name="Google Shape;250;g3b17ddeb428_0_26"/>
          <p:cNvSpPr txBox="1"/>
          <p:nvPr/>
        </p:nvSpPr>
        <p:spPr>
          <a:xfrm>
            <a:off x="5591673" y="1876971"/>
            <a:ext cx="743400" cy="4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False Positive</a:t>
            </a:r>
            <a:endParaRPr b="1" sz="1200">
              <a:solidFill>
                <a:schemeClr val="dk2"/>
              </a:solidFill>
              <a:latin typeface="Nunito"/>
              <a:ea typeface="Nunito"/>
              <a:cs typeface="Nunito"/>
              <a:sym typeface="Nunito"/>
            </a:endParaRPr>
          </a:p>
        </p:txBody>
      </p:sp>
      <p:sp>
        <p:nvSpPr>
          <p:cNvPr id="251" name="Google Shape;251;g3b17ddeb428_0_26"/>
          <p:cNvSpPr txBox="1"/>
          <p:nvPr/>
        </p:nvSpPr>
        <p:spPr>
          <a:xfrm>
            <a:off x="5645689" y="2474243"/>
            <a:ext cx="823500" cy="4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Nunito"/>
                <a:ea typeface="Nunito"/>
                <a:cs typeface="Nunito"/>
                <a:sym typeface="Nunito"/>
              </a:rPr>
              <a:t>False Negative</a:t>
            </a:r>
            <a:endParaRPr b="1" sz="1200">
              <a:solidFill>
                <a:schemeClr val="dk2"/>
              </a:solidFill>
              <a:latin typeface="Nunito"/>
              <a:ea typeface="Nunito"/>
              <a:cs typeface="Nunito"/>
              <a:sym typeface="Nunito"/>
            </a:endParaRPr>
          </a:p>
        </p:txBody>
      </p:sp>
      <p:sp>
        <p:nvSpPr>
          <p:cNvPr id="252" name="Google Shape;252;g3b17ddeb428_0_26"/>
          <p:cNvSpPr txBox="1"/>
          <p:nvPr/>
        </p:nvSpPr>
        <p:spPr>
          <a:xfrm>
            <a:off x="794675" y="4039225"/>
            <a:ext cx="6801000" cy="5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Nunito"/>
                <a:ea typeface="Nunito"/>
                <a:cs typeface="Nunito"/>
                <a:sym typeface="Nunito"/>
              </a:rPr>
              <a:t>We will use “F1 Score” to evaluate the model performance, a higher score will minimizes the chances of False Positives and False Negatives</a:t>
            </a:r>
            <a:endParaRPr b="1" sz="1500">
              <a:solidFill>
                <a:schemeClr val="dk2"/>
              </a:solidFill>
              <a:latin typeface="Nunito"/>
              <a:ea typeface="Nunito"/>
              <a:cs typeface="Nunito"/>
              <a:sym typeface="Nunito"/>
            </a:endParaRPr>
          </a:p>
        </p:txBody>
      </p:sp>
      <p:sp>
        <p:nvSpPr>
          <p:cNvPr id="253" name="Google Shape;253;g3b17ddeb428_0_26"/>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Evaluation Criteria</a:t>
            </a:r>
            <a:endParaRPr>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Performance: Base line (Default Parameters)</a:t>
            </a:r>
            <a:endParaRPr>
              <a:solidFill>
                <a:srgbClr val="000000"/>
              </a:solidFill>
            </a:endParaRPr>
          </a:p>
        </p:txBody>
      </p:sp>
      <p:sp>
        <p:nvSpPr>
          <p:cNvPr id="259" name="Google Shape;259;p7"/>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graphicFrame>
        <p:nvGraphicFramePr>
          <p:cNvPr id="260" name="Google Shape;260;p7"/>
          <p:cNvGraphicFramePr/>
          <p:nvPr/>
        </p:nvGraphicFramePr>
        <p:xfrm>
          <a:off x="580373" y="110610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0.9891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0.7736</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1.0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0.8049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0.8204</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0.8180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0.8291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0.8266</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0.8963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0.8079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descr="Check mark vector icon. Checkmark right symbol tick sign. Ok button correct circle icon. (Provided by Getty Images)" id="261" name="Google Shape;261;p7"/>
          <p:cNvPicPr preferRelativeResize="0"/>
          <p:nvPr/>
        </p:nvPicPr>
        <p:blipFill>
          <a:blip r:embed="rId3">
            <a:alphaModFix/>
          </a:blip>
          <a:stretch>
            <a:fillRect/>
          </a:stretch>
        </p:blipFill>
        <p:spPr>
          <a:xfrm>
            <a:off x="7260374" y="2627349"/>
            <a:ext cx="369300" cy="369300"/>
          </a:xfrm>
          <a:prstGeom prst="rect">
            <a:avLst/>
          </a:prstGeom>
          <a:noFill/>
          <a:ln>
            <a:noFill/>
          </a:ln>
        </p:spPr>
      </p:pic>
      <p:pic>
        <p:nvPicPr>
          <p:cNvPr descr="Check mark vector icon. Checkmark right symbol tick sign. Ok button correct circle icon. (Provided by Getty Images)" id="262" name="Google Shape;262;p7"/>
          <p:cNvPicPr preferRelativeResize="0"/>
          <p:nvPr/>
        </p:nvPicPr>
        <p:blipFill>
          <a:blip r:embed="rId3">
            <a:alphaModFix/>
          </a:blip>
          <a:stretch>
            <a:fillRect/>
          </a:stretch>
        </p:blipFill>
        <p:spPr>
          <a:xfrm>
            <a:off x="7260364" y="3022249"/>
            <a:ext cx="369300" cy="369300"/>
          </a:xfrm>
          <a:prstGeom prst="rect">
            <a:avLst/>
          </a:prstGeom>
          <a:noFill/>
          <a:ln>
            <a:noFill/>
          </a:ln>
        </p:spPr>
      </p:pic>
      <p:sp>
        <p:nvSpPr>
          <p:cNvPr id="263" name="Google Shape;263;p7"/>
          <p:cNvSpPr txBox="1"/>
          <p:nvPr/>
        </p:nvSpPr>
        <p:spPr>
          <a:xfrm>
            <a:off x="580850" y="3916234"/>
            <a:ext cx="7764000" cy="963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Font typeface="Nunito"/>
              <a:buChar char="●"/>
            </a:pPr>
            <a:r>
              <a:rPr lang="en" sz="1300">
                <a:solidFill>
                  <a:schemeClr val="dk1"/>
                </a:solidFill>
                <a:latin typeface="Nunito"/>
                <a:ea typeface="Nunito"/>
                <a:cs typeface="Nunito"/>
                <a:sym typeface="Nunito"/>
              </a:rPr>
              <a:t>AdaBoost and Gradient Boost Classifiers are generalizing well, with a fairly good F1 score of 0.82.</a:t>
            </a:r>
            <a:endParaRPr sz="1300">
              <a:solidFill>
                <a:schemeClr val="dk1"/>
              </a:solidFill>
              <a:latin typeface="Nunito"/>
              <a:ea typeface="Nunito"/>
              <a:cs typeface="Nunito"/>
              <a:sym typeface="Nunito"/>
            </a:endParaRPr>
          </a:p>
          <a:p>
            <a:pPr indent="-311150" lvl="0" marL="457200" rtl="0" algn="l">
              <a:lnSpc>
                <a:spcPct val="115000"/>
              </a:lnSpc>
              <a:spcBef>
                <a:spcPts val="0"/>
              </a:spcBef>
              <a:spcAft>
                <a:spcPts val="0"/>
              </a:spcAft>
              <a:buClr>
                <a:schemeClr val="dk1"/>
              </a:buClr>
              <a:buSzPts val="1300"/>
              <a:buFont typeface="Nunito"/>
              <a:buChar char="●"/>
            </a:pPr>
            <a:r>
              <a:rPr lang="en" sz="1300">
                <a:solidFill>
                  <a:schemeClr val="dk1"/>
                </a:solidFill>
                <a:latin typeface="Nunito"/>
                <a:ea typeface="Nunito"/>
                <a:cs typeface="Nunito"/>
                <a:sym typeface="Nunito"/>
              </a:rPr>
              <a:t>Bagging, Random Forest and XGBoost classifier models did well on training data, but not so good on validation data indicating a overfit scenario.</a:t>
            </a:r>
            <a:endParaRPr sz="1300">
              <a:solidFill>
                <a:schemeClr val="dk1"/>
              </a:solidFill>
              <a:latin typeface="Nunito"/>
              <a:ea typeface="Nunito"/>
              <a:cs typeface="Nunito"/>
              <a:sym typeface="Nunito"/>
            </a:endParaRPr>
          </a:p>
          <a:p>
            <a:pPr indent="0" lvl="0" marL="0" rtl="0" algn="l">
              <a:lnSpc>
                <a:spcPct val="115000"/>
              </a:lnSpc>
              <a:spcBef>
                <a:spcPts val="0"/>
              </a:spcBef>
              <a:spcAft>
                <a:spcPts val="0"/>
              </a:spcAft>
              <a:buNone/>
            </a:pPr>
            <a:r>
              <a:t/>
            </a:r>
            <a:endParaRPr sz="1500">
              <a:solidFill>
                <a:schemeClr val="dk2"/>
              </a:solidFill>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b17ddeb428_0_9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a:solidFill>
                  <a:srgbClr val="000000"/>
                </a:solidFill>
              </a:rPr>
              <a:t>Model Performance: Class Oversampling - Default Parameters</a:t>
            </a:r>
            <a:endParaRPr>
              <a:solidFill>
                <a:srgbClr val="000000"/>
              </a:solidFill>
            </a:endParaRPr>
          </a:p>
          <a:p>
            <a:pPr indent="0" lvl="0" marL="0" rtl="0" algn="l">
              <a:lnSpc>
                <a:spcPct val="100000"/>
              </a:lnSpc>
              <a:spcBef>
                <a:spcPts val="0"/>
              </a:spcBef>
              <a:spcAft>
                <a:spcPts val="0"/>
              </a:spcAft>
              <a:buSzPts val="2200"/>
              <a:buNone/>
            </a:pPr>
            <a:r>
              <a:t/>
            </a:r>
            <a:endParaRPr>
              <a:solidFill>
                <a:srgbClr val="000000"/>
              </a:solidFill>
            </a:endParaRPr>
          </a:p>
        </p:txBody>
      </p:sp>
      <p:graphicFrame>
        <p:nvGraphicFramePr>
          <p:cNvPr id="269" name="Google Shape;269;g3b17ddeb428_0_94"/>
          <p:cNvGraphicFramePr/>
          <p:nvPr/>
        </p:nvGraphicFramePr>
        <p:xfrm>
          <a:off x="689973" y="94765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0.9875 </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0.7665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0.9999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0.7965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0.8005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None/>
                      </a:pPr>
                      <a:r>
                        <a:rPr lang="en" sz="1200"/>
                        <a:t>0.8195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0.8072</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None/>
                      </a:pPr>
                      <a:r>
                        <a:rPr lang="en" sz="1200"/>
                        <a:t>0.8173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0.8708</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0.8129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descr="Check mark vector icon. Checkmark right symbol tick sign. Ok button correct circle icon. (Provided by Getty Images)" id="270" name="Google Shape;270;g3b17ddeb428_0_94"/>
          <p:cNvPicPr preferRelativeResize="0"/>
          <p:nvPr/>
        </p:nvPicPr>
        <p:blipFill>
          <a:blip r:embed="rId3">
            <a:alphaModFix/>
          </a:blip>
          <a:stretch>
            <a:fillRect/>
          </a:stretch>
        </p:blipFill>
        <p:spPr>
          <a:xfrm>
            <a:off x="7260374" y="2627349"/>
            <a:ext cx="369300" cy="369300"/>
          </a:xfrm>
          <a:prstGeom prst="rect">
            <a:avLst/>
          </a:prstGeom>
          <a:noFill/>
          <a:ln>
            <a:noFill/>
          </a:ln>
        </p:spPr>
      </p:pic>
      <p:pic>
        <p:nvPicPr>
          <p:cNvPr descr="Check mark vector icon. Checkmark right symbol tick sign. Ok button correct circle icon. (Provided by Getty Images)" id="271" name="Google Shape;271;g3b17ddeb428_0_94"/>
          <p:cNvPicPr preferRelativeResize="0"/>
          <p:nvPr/>
        </p:nvPicPr>
        <p:blipFill>
          <a:blip r:embed="rId3">
            <a:alphaModFix/>
          </a:blip>
          <a:stretch>
            <a:fillRect/>
          </a:stretch>
        </p:blipFill>
        <p:spPr>
          <a:xfrm>
            <a:off x="7260364" y="3022249"/>
            <a:ext cx="369300" cy="369300"/>
          </a:xfrm>
          <a:prstGeom prst="rect">
            <a:avLst/>
          </a:prstGeom>
          <a:noFill/>
          <a:ln>
            <a:noFill/>
          </a:ln>
        </p:spPr>
      </p:pic>
      <p:sp>
        <p:nvSpPr>
          <p:cNvPr id="272" name="Google Shape;272;g3b17ddeb428_0_94"/>
          <p:cNvSpPr txBox="1"/>
          <p:nvPr/>
        </p:nvSpPr>
        <p:spPr>
          <a:xfrm>
            <a:off x="580375" y="3917350"/>
            <a:ext cx="7764000" cy="9993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15000"/>
              </a:lnSpc>
              <a:spcBef>
                <a:spcPts val="0"/>
              </a:spcBef>
              <a:spcAft>
                <a:spcPts val="0"/>
              </a:spcAft>
              <a:buClr>
                <a:schemeClr val="dk1"/>
              </a:buClr>
              <a:buSzPts val="1300"/>
              <a:buFont typeface="Nunito"/>
              <a:buChar char="●"/>
            </a:pPr>
            <a:r>
              <a:rPr lang="en" sz="1300">
                <a:solidFill>
                  <a:schemeClr val="dk2"/>
                </a:solidFill>
                <a:latin typeface="Nunito"/>
                <a:ea typeface="Nunito"/>
                <a:cs typeface="Nunito"/>
                <a:sym typeface="Nunito"/>
              </a:rPr>
              <a:t>AdaBoost </a:t>
            </a:r>
            <a:r>
              <a:rPr lang="en" sz="1100">
                <a:solidFill>
                  <a:schemeClr val="dk1"/>
                </a:solidFill>
                <a:latin typeface="Nunito"/>
                <a:ea typeface="Nunito"/>
                <a:cs typeface="Nunito"/>
                <a:sym typeface="Nunito"/>
              </a:rPr>
              <a:t>and</a:t>
            </a:r>
            <a:r>
              <a:rPr lang="en" sz="1300">
                <a:solidFill>
                  <a:schemeClr val="dk2"/>
                </a:solidFill>
                <a:latin typeface="Nunito"/>
                <a:ea typeface="Nunito"/>
                <a:cs typeface="Nunito"/>
                <a:sym typeface="Nunito"/>
              </a:rPr>
              <a:t> Gradient Boost Classifiers are generalizing well, with a decent F1 score of 0.81, but it is slightly lower than </a:t>
            </a:r>
            <a:r>
              <a:rPr lang="en" sz="1300">
                <a:solidFill>
                  <a:schemeClr val="dk2"/>
                </a:solidFill>
                <a:latin typeface="Nunito"/>
                <a:ea typeface="Nunito"/>
                <a:cs typeface="Nunito"/>
                <a:sym typeface="Nunito"/>
              </a:rPr>
              <a:t>without</a:t>
            </a:r>
            <a:r>
              <a:rPr lang="en" sz="1300">
                <a:solidFill>
                  <a:schemeClr val="dk2"/>
                </a:solidFill>
                <a:latin typeface="Nunito"/>
                <a:ea typeface="Nunito"/>
                <a:cs typeface="Nunito"/>
                <a:sym typeface="Nunito"/>
              </a:rPr>
              <a:t> Class Oversampling.</a:t>
            </a:r>
            <a:endParaRPr sz="1300">
              <a:solidFill>
                <a:schemeClr val="dk2"/>
              </a:solidFill>
              <a:latin typeface="Nunito"/>
              <a:ea typeface="Nunito"/>
              <a:cs typeface="Nunito"/>
              <a:sym typeface="Nunito"/>
            </a:endParaRPr>
          </a:p>
          <a:p>
            <a:pPr indent="-311150" lvl="0" marL="457200" rtl="0" algn="l">
              <a:lnSpc>
                <a:spcPct val="115000"/>
              </a:lnSpc>
              <a:spcBef>
                <a:spcPts val="0"/>
              </a:spcBef>
              <a:spcAft>
                <a:spcPts val="0"/>
              </a:spcAft>
              <a:buClr>
                <a:schemeClr val="dk1"/>
              </a:buClr>
              <a:buSzPts val="1300"/>
              <a:buFont typeface="Nunito"/>
              <a:buChar char="●"/>
            </a:pPr>
            <a:r>
              <a:rPr lang="en" sz="1300">
                <a:solidFill>
                  <a:schemeClr val="dk1"/>
                </a:solidFill>
                <a:latin typeface="Nunito"/>
                <a:ea typeface="Nunito"/>
                <a:cs typeface="Nunito"/>
                <a:sym typeface="Nunito"/>
              </a:rPr>
              <a:t>Bagging, Random Forest and XGBoost classifier models did well on training data, but not so good on validation data indicating a overfit scenario.</a:t>
            </a:r>
            <a:endParaRPr sz="1300">
              <a:solidFill>
                <a:schemeClr val="dk1"/>
              </a:solidFill>
              <a:latin typeface="Nunito"/>
              <a:ea typeface="Nunito"/>
              <a:cs typeface="Nunito"/>
              <a:sym typeface="Nunito"/>
            </a:endParaRPr>
          </a:p>
          <a:p>
            <a:pPr indent="0" lvl="0" marL="457200" marR="0" rtl="0" algn="l">
              <a:lnSpc>
                <a:spcPct val="100000"/>
              </a:lnSpc>
              <a:spcBef>
                <a:spcPts val="0"/>
              </a:spcBef>
              <a:spcAft>
                <a:spcPts val="0"/>
              </a:spcAft>
              <a:buNone/>
            </a:pPr>
            <a:r>
              <a:t/>
            </a:r>
            <a:endParaRPr sz="1300">
              <a:solidFill>
                <a:schemeClr val="dk2"/>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b17ddeb428_0_108"/>
          <p:cNvSpPr txBox="1"/>
          <p:nvPr>
            <p:ph type="title"/>
          </p:nvPr>
        </p:nvSpPr>
        <p:spPr>
          <a:xfrm>
            <a:off x="202100" y="411154"/>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lang="en">
                <a:solidFill>
                  <a:srgbClr val="000000"/>
                </a:solidFill>
              </a:rPr>
              <a:t>Model Performance: Class Undersampling - Default Parameters</a:t>
            </a:r>
            <a:endParaRPr>
              <a:solidFill>
                <a:srgbClr val="000000"/>
              </a:solidFill>
            </a:endParaRPr>
          </a:p>
          <a:p>
            <a:pPr indent="0" lvl="0" marL="0" rtl="0" algn="l">
              <a:lnSpc>
                <a:spcPct val="100000"/>
              </a:lnSpc>
              <a:spcBef>
                <a:spcPts val="0"/>
              </a:spcBef>
              <a:spcAft>
                <a:spcPts val="0"/>
              </a:spcAft>
              <a:buSzPts val="2200"/>
              <a:buNone/>
            </a:pPr>
            <a:r>
              <a:t/>
            </a:r>
            <a:endParaRPr>
              <a:solidFill>
                <a:srgbClr val="000000"/>
              </a:solidFill>
            </a:endParaRPr>
          </a:p>
        </p:txBody>
      </p:sp>
      <p:graphicFrame>
        <p:nvGraphicFramePr>
          <p:cNvPr id="278" name="Google Shape;278;g3b17ddeb428_0_108"/>
          <p:cNvGraphicFramePr/>
          <p:nvPr/>
        </p:nvGraphicFramePr>
        <p:xfrm>
          <a:off x="580373" y="110610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0.9803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0.7057</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1.0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0.7417</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0.7015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0.76599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Underfitting</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0.7281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0.7765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Underfitting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0.8720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0.7459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79" name="Google Shape;279;g3b17ddeb428_0_108"/>
          <p:cNvSpPr txBox="1"/>
          <p:nvPr/>
        </p:nvSpPr>
        <p:spPr>
          <a:xfrm>
            <a:off x="661950" y="3861150"/>
            <a:ext cx="7820100" cy="9825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AdaBoost and Gradient Boost Classifiers did better on validation data, but are making lot more mistakes in prediction.</a:t>
            </a:r>
            <a:endParaRPr sz="1300">
              <a:solidFill>
                <a:schemeClr val="dk2"/>
              </a:solidFill>
              <a:latin typeface="Nunito"/>
              <a:ea typeface="Nunito"/>
              <a:cs typeface="Nunito"/>
              <a:sym typeface="Nunito"/>
            </a:endParaRPr>
          </a:p>
          <a:p>
            <a:pPr indent="-311150" lvl="0" marL="457200" rtl="0" algn="l">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Bagging, Random Forest and XGBoost classifiers did well on training, but performed poorly on validation data indicating the overfitting.</a:t>
            </a:r>
            <a:endParaRPr sz="1300">
              <a:solidFill>
                <a:schemeClr val="dk2"/>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b17ddeb428_0_5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Tuned </a:t>
            </a:r>
            <a:r>
              <a:rPr lang="en">
                <a:solidFill>
                  <a:srgbClr val="000000"/>
                </a:solidFill>
              </a:rPr>
              <a:t>Model Performance - Training Data</a:t>
            </a:r>
            <a:endParaRPr>
              <a:solidFill>
                <a:srgbClr val="000000"/>
              </a:solidFill>
            </a:endParaRPr>
          </a:p>
        </p:txBody>
      </p:sp>
      <p:sp>
        <p:nvSpPr>
          <p:cNvPr id="285" name="Google Shape;285;g3b17ddeb428_0_51"/>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pic>
        <p:nvPicPr>
          <p:cNvPr id="286" name="Google Shape;286;g3b17ddeb428_0_51"/>
          <p:cNvPicPr preferRelativeResize="0"/>
          <p:nvPr/>
        </p:nvPicPr>
        <p:blipFill>
          <a:blip r:embed="rId3">
            <a:alphaModFix/>
          </a:blip>
          <a:stretch>
            <a:fillRect/>
          </a:stretch>
        </p:blipFill>
        <p:spPr>
          <a:xfrm>
            <a:off x="152400" y="1014379"/>
            <a:ext cx="8839198" cy="1849065"/>
          </a:xfrm>
          <a:prstGeom prst="rect">
            <a:avLst/>
          </a:prstGeom>
          <a:noFill/>
          <a:ln>
            <a:noFill/>
          </a:ln>
        </p:spPr>
      </p:pic>
      <p:sp>
        <p:nvSpPr>
          <p:cNvPr id="287" name="Google Shape;287;g3b17ddeb428_0_51"/>
          <p:cNvSpPr txBox="1"/>
          <p:nvPr/>
        </p:nvSpPr>
        <p:spPr>
          <a:xfrm>
            <a:off x="202550" y="3222600"/>
            <a:ext cx="8520600" cy="1255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Nunito"/>
              <a:buChar char="●"/>
            </a:pPr>
            <a:r>
              <a:rPr b="1" lang="en" sz="1500">
                <a:solidFill>
                  <a:schemeClr val="dk2"/>
                </a:solidFill>
                <a:latin typeface="Nunito"/>
                <a:ea typeface="Nunito"/>
                <a:cs typeface="Nunito"/>
                <a:sym typeface="Nunito"/>
              </a:rPr>
              <a:t>Random Forest and XGBoost Classifiers</a:t>
            </a:r>
            <a:r>
              <a:rPr lang="en" sz="1500">
                <a:solidFill>
                  <a:schemeClr val="dk2"/>
                </a:solidFill>
                <a:latin typeface="Nunito"/>
                <a:ea typeface="Nunito"/>
                <a:cs typeface="Nunito"/>
                <a:sym typeface="Nunito"/>
              </a:rPr>
              <a:t> have the best </a:t>
            </a:r>
            <a:r>
              <a:rPr b="1" lang="en" sz="1500">
                <a:solidFill>
                  <a:schemeClr val="dk2"/>
                </a:solidFill>
                <a:latin typeface="Nunito"/>
                <a:ea typeface="Nunito"/>
                <a:cs typeface="Nunito"/>
                <a:sym typeface="Nunito"/>
              </a:rPr>
              <a:t>F1 score</a:t>
            </a:r>
            <a:r>
              <a:rPr lang="en" sz="1500">
                <a:solidFill>
                  <a:schemeClr val="dk2"/>
                </a:solidFill>
                <a:latin typeface="Nunito"/>
                <a:ea typeface="Nunito"/>
                <a:cs typeface="Nunito"/>
                <a:sym typeface="Nunito"/>
              </a:rPr>
              <a:t> on training data.</a:t>
            </a:r>
            <a:endParaRPr sz="1500">
              <a:solidFill>
                <a:schemeClr val="dk2"/>
              </a:solidFill>
              <a:latin typeface="Nunito"/>
              <a:ea typeface="Nunito"/>
              <a:cs typeface="Nunito"/>
              <a:sym typeface="Nunito"/>
            </a:endParaRPr>
          </a:p>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Random Forest has the </a:t>
            </a:r>
            <a:r>
              <a:rPr lang="en" sz="1500">
                <a:solidFill>
                  <a:schemeClr val="dk2"/>
                </a:solidFill>
                <a:latin typeface="Nunito"/>
                <a:ea typeface="Nunito"/>
                <a:cs typeface="Nunito"/>
                <a:sym typeface="Nunito"/>
              </a:rPr>
              <a:t>highest</a:t>
            </a:r>
            <a:r>
              <a:rPr lang="en" sz="1500">
                <a:solidFill>
                  <a:schemeClr val="dk2"/>
                </a:solidFill>
                <a:latin typeface="Nunito"/>
                <a:ea typeface="Nunito"/>
                <a:cs typeface="Nunito"/>
                <a:sym typeface="Nunito"/>
              </a:rPr>
              <a:t> Precision score, ie. lower False Positives</a:t>
            </a:r>
            <a:endParaRPr sz="1500">
              <a:solidFill>
                <a:schemeClr val="dk2"/>
              </a:solidFill>
              <a:latin typeface="Nunito"/>
              <a:ea typeface="Nunito"/>
              <a:cs typeface="Nunito"/>
              <a:sym typeface="Nunito"/>
            </a:endParaRPr>
          </a:p>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XGBoost </a:t>
            </a:r>
            <a:r>
              <a:rPr lang="en" sz="1500">
                <a:solidFill>
                  <a:schemeClr val="dk2"/>
                </a:solidFill>
                <a:latin typeface="Nunito"/>
                <a:ea typeface="Nunito"/>
                <a:cs typeface="Nunito"/>
                <a:sym typeface="Nunito"/>
              </a:rPr>
              <a:t>Classifier</a:t>
            </a:r>
            <a:r>
              <a:rPr lang="en" sz="1500">
                <a:solidFill>
                  <a:schemeClr val="dk2"/>
                </a:solidFill>
                <a:latin typeface="Nunito"/>
                <a:ea typeface="Nunito"/>
                <a:cs typeface="Nunito"/>
                <a:sym typeface="Nunito"/>
              </a:rPr>
              <a:t> has the highest Recall score, ie. lower False Negatives.</a:t>
            </a:r>
            <a:endParaRPr sz="1500">
              <a:solidFill>
                <a:schemeClr val="dk2"/>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b17ddeb428_0_13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Tuned Model Performance</a:t>
            </a:r>
            <a:r>
              <a:rPr lang="en">
                <a:solidFill>
                  <a:srgbClr val="000000"/>
                </a:solidFill>
              </a:rPr>
              <a:t> - Validation Data</a:t>
            </a:r>
            <a:endParaRPr>
              <a:solidFill>
                <a:srgbClr val="000000"/>
              </a:solidFill>
            </a:endParaRPr>
          </a:p>
        </p:txBody>
      </p:sp>
      <p:sp>
        <p:nvSpPr>
          <p:cNvPr id="293" name="Google Shape;293;g3b17ddeb428_0_133"/>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sp>
        <p:nvSpPr>
          <p:cNvPr id="294" name="Google Shape;294;g3b17ddeb428_0_133"/>
          <p:cNvSpPr txBox="1"/>
          <p:nvPr/>
        </p:nvSpPr>
        <p:spPr>
          <a:xfrm>
            <a:off x="202550" y="3222600"/>
            <a:ext cx="8520600" cy="1548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Nunito"/>
              <a:buChar char="●"/>
            </a:pPr>
            <a:r>
              <a:rPr b="1" lang="en" sz="1500">
                <a:solidFill>
                  <a:schemeClr val="dk2"/>
                </a:solidFill>
                <a:latin typeface="Nunito"/>
                <a:ea typeface="Nunito"/>
                <a:cs typeface="Nunito"/>
                <a:sym typeface="Nunito"/>
              </a:rPr>
              <a:t>Gradient Boost Classifier</a:t>
            </a:r>
            <a:r>
              <a:rPr lang="en" sz="1500">
                <a:solidFill>
                  <a:schemeClr val="dk2"/>
                </a:solidFill>
                <a:latin typeface="Nunito"/>
                <a:ea typeface="Nunito"/>
                <a:cs typeface="Nunito"/>
                <a:sym typeface="Nunito"/>
              </a:rPr>
              <a:t> has the best </a:t>
            </a:r>
            <a:r>
              <a:rPr b="1" lang="en" sz="1500">
                <a:solidFill>
                  <a:schemeClr val="dk2"/>
                </a:solidFill>
                <a:latin typeface="Nunito"/>
                <a:ea typeface="Nunito"/>
                <a:cs typeface="Nunito"/>
                <a:sym typeface="Nunito"/>
              </a:rPr>
              <a:t>F1 score</a:t>
            </a:r>
            <a:r>
              <a:rPr lang="en" sz="1500">
                <a:solidFill>
                  <a:schemeClr val="dk2"/>
                </a:solidFill>
                <a:latin typeface="Nunito"/>
                <a:ea typeface="Nunito"/>
                <a:cs typeface="Nunito"/>
                <a:sym typeface="Nunito"/>
              </a:rPr>
              <a:t> indicating lower False positives and False negatives.</a:t>
            </a:r>
            <a:endParaRPr sz="1500">
              <a:solidFill>
                <a:schemeClr val="dk2"/>
              </a:solidFill>
              <a:latin typeface="Nunito"/>
              <a:ea typeface="Nunito"/>
              <a:cs typeface="Nunito"/>
              <a:sym typeface="Nunito"/>
            </a:endParaRPr>
          </a:p>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Also Gradient Boost Classifier is generalizing well with similar F1 scores between Training and Validation data.</a:t>
            </a:r>
            <a:endParaRPr sz="1500">
              <a:solidFill>
                <a:schemeClr val="dk2"/>
              </a:solidFill>
              <a:latin typeface="Nunito"/>
              <a:ea typeface="Nunito"/>
              <a:cs typeface="Nunito"/>
              <a:sym typeface="Nunito"/>
            </a:endParaRPr>
          </a:p>
        </p:txBody>
      </p:sp>
      <p:pic>
        <p:nvPicPr>
          <p:cNvPr id="295" name="Google Shape;295;g3b17ddeb428_0_133"/>
          <p:cNvPicPr preferRelativeResize="0"/>
          <p:nvPr/>
        </p:nvPicPr>
        <p:blipFill>
          <a:blip r:embed="rId3">
            <a:alphaModFix/>
          </a:blip>
          <a:stretch>
            <a:fillRect/>
          </a:stretch>
        </p:blipFill>
        <p:spPr>
          <a:xfrm>
            <a:off x="152400" y="1014379"/>
            <a:ext cx="8839204" cy="180585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b17ddeb428_0_14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Tuned Model Performance</a:t>
            </a:r>
            <a:r>
              <a:rPr lang="en">
                <a:solidFill>
                  <a:srgbClr val="000000"/>
                </a:solidFill>
              </a:rPr>
              <a:t> - Test Data</a:t>
            </a:r>
            <a:endParaRPr>
              <a:solidFill>
                <a:srgbClr val="000000"/>
              </a:solidFill>
            </a:endParaRPr>
          </a:p>
        </p:txBody>
      </p:sp>
      <p:sp>
        <p:nvSpPr>
          <p:cNvPr id="301" name="Google Shape;301;g3b17ddeb428_0_141"/>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sp>
        <p:nvSpPr>
          <p:cNvPr id="302" name="Google Shape;302;g3b17ddeb428_0_141"/>
          <p:cNvSpPr txBox="1"/>
          <p:nvPr/>
        </p:nvSpPr>
        <p:spPr>
          <a:xfrm>
            <a:off x="202550" y="3222600"/>
            <a:ext cx="8520600" cy="15480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Nunito"/>
              <a:buChar char="●"/>
            </a:pPr>
            <a:r>
              <a:rPr b="1" lang="en" sz="1500">
                <a:solidFill>
                  <a:schemeClr val="dk2"/>
                </a:solidFill>
                <a:latin typeface="Nunito"/>
                <a:ea typeface="Nunito"/>
                <a:cs typeface="Nunito"/>
                <a:sym typeface="Nunito"/>
              </a:rPr>
              <a:t>Gradient Boost Classifier</a:t>
            </a:r>
            <a:r>
              <a:rPr lang="en" sz="1500">
                <a:solidFill>
                  <a:schemeClr val="dk2"/>
                </a:solidFill>
                <a:latin typeface="Nunito"/>
                <a:ea typeface="Nunito"/>
                <a:cs typeface="Nunito"/>
                <a:sym typeface="Nunito"/>
              </a:rPr>
              <a:t> has the best </a:t>
            </a:r>
            <a:r>
              <a:rPr b="1" lang="en" sz="1500">
                <a:solidFill>
                  <a:schemeClr val="dk2"/>
                </a:solidFill>
                <a:latin typeface="Nunito"/>
                <a:ea typeface="Nunito"/>
                <a:cs typeface="Nunito"/>
                <a:sym typeface="Nunito"/>
              </a:rPr>
              <a:t>F1 score</a:t>
            </a:r>
            <a:r>
              <a:rPr lang="en" sz="1500">
                <a:solidFill>
                  <a:schemeClr val="dk2"/>
                </a:solidFill>
                <a:latin typeface="Nunito"/>
                <a:ea typeface="Nunito"/>
                <a:cs typeface="Nunito"/>
                <a:sym typeface="Nunito"/>
              </a:rPr>
              <a:t> indicating lower False positives and False negatives.</a:t>
            </a:r>
            <a:endParaRPr sz="1500">
              <a:solidFill>
                <a:schemeClr val="dk2"/>
              </a:solidFill>
              <a:latin typeface="Nunito"/>
              <a:ea typeface="Nunito"/>
              <a:cs typeface="Nunito"/>
              <a:sym typeface="Nunito"/>
            </a:endParaRPr>
          </a:p>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Overall tuned </a:t>
            </a:r>
            <a:r>
              <a:rPr b="1" lang="en" sz="1500">
                <a:solidFill>
                  <a:schemeClr val="dk2"/>
                </a:solidFill>
                <a:latin typeface="Nunito"/>
                <a:ea typeface="Nunito"/>
                <a:cs typeface="Nunito"/>
                <a:sym typeface="Nunito"/>
              </a:rPr>
              <a:t>Gradient Boost Classifier </a:t>
            </a:r>
            <a:r>
              <a:rPr lang="en" sz="1500">
                <a:solidFill>
                  <a:schemeClr val="dk2"/>
                </a:solidFill>
                <a:latin typeface="Nunito"/>
                <a:ea typeface="Nunito"/>
                <a:cs typeface="Nunito"/>
                <a:sym typeface="Nunito"/>
              </a:rPr>
              <a:t>is generalizing well, with similar F1 scores between Training, Validation and Test data.</a:t>
            </a:r>
            <a:endParaRPr sz="1500">
              <a:solidFill>
                <a:schemeClr val="dk2"/>
              </a:solidFill>
              <a:latin typeface="Nunito"/>
              <a:ea typeface="Nunito"/>
              <a:cs typeface="Nunito"/>
              <a:sym typeface="Nunito"/>
            </a:endParaRPr>
          </a:p>
        </p:txBody>
      </p:sp>
      <p:pic>
        <p:nvPicPr>
          <p:cNvPr id="303" name="Google Shape;303;g3b17ddeb428_0_141"/>
          <p:cNvPicPr preferRelativeResize="0"/>
          <p:nvPr/>
        </p:nvPicPr>
        <p:blipFill>
          <a:blip r:embed="rId3">
            <a:alphaModFix/>
          </a:blip>
          <a:stretch>
            <a:fillRect/>
          </a:stretch>
        </p:blipFill>
        <p:spPr>
          <a:xfrm>
            <a:off x="152400" y="1014379"/>
            <a:ext cx="8839200" cy="17328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b17ddeb428_0_12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309" name="Google Shape;309;g3b17ddeb428_0_120"/>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400">
              <a:solidFill>
                <a:schemeClr val="dk1"/>
              </a:solidFill>
            </a:endParaRPr>
          </a:p>
          <a:p>
            <a:pPr indent="-317500" lvl="0" marL="457200" rtl="0" algn="l">
              <a:lnSpc>
                <a:spcPct val="115000"/>
              </a:lnSpc>
              <a:spcBef>
                <a:spcPts val="0"/>
              </a:spcBef>
              <a:spcAft>
                <a:spcPts val="0"/>
              </a:spcAft>
              <a:buClr>
                <a:srgbClr val="000000"/>
              </a:buClr>
              <a:buSzPts val="1400"/>
              <a:buChar char="●"/>
            </a:pPr>
            <a:r>
              <a:rPr b="1" lang="en" sz="1400">
                <a:solidFill>
                  <a:schemeClr val="dk1"/>
                </a:solidFill>
              </a:rPr>
              <a:t>AdaBoost</a:t>
            </a:r>
            <a:r>
              <a:rPr lang="en" sz="1400">
                <a:solidFill>
                  <a:schemeClr val="dk1"/>
                </a:solidFill>
              </a:rPr>
              <a:t> </a:t>
            </a:r>
            <a:r>
              <a:rPr b="1" lang="en" sz="1400">
                <a:solidFill>
                  <a:schemeClr val="dk1"/>
                </a:solidFill>
              </a:rPr>
              <a:t>Classifier </a:t>
            </a:r>
            <a:r>
              <a:rPr lang="en" sz="1400">
                <a:solidFill>
                  <a:schemeClr val="dk1"/>
                </a:solidFill>
              </a:rPr>
              <a:t>and </a:t>
            </a:r>
            <a:r>
              <a:rPr b="1" lang="en" sz="1400">
                <a:solidFill>
                  <a:schemeClr val="dk1"/>
                </a:solidFill>
              </a:rPr>
              <a:t>Graident Boost Classifiers </a:t>
            </a:r>
            <a:r>
              <a:rPr lang="en" sz="1400">
                <a:solidFill>
                  <a:schemeClr val="dk1"/>
                </a:solidFill>
              </a:rPr>
              <a:t>performed well with </a:t>
            </a:r>
            <a:r>
              <a:rPr b="1" lang="en" sz="1400">
                <a:solidFill>
                  <a:schemeClr val="dk1"/>
                </a:solidFill>
              </a:rPr>
              <a:t>default parameters.</a:t>
            </a:r>
            <a:endParaRPr b="1" sz="1400">
              <a:solidFill>
                <a:schemeClr val="dk1"/>
              </a:solidFill>
            </a:endParaRPr>
          </a:p>
          <a:p>
            <a:pPr indent="-317500" lvl="0" marL="457200" rtl="0" algn="l">
              <a:lnSpc>
                <a:spcPct val="115000"/>
              </a:lnSpc>
              <a:spcBef>
                <a:spcPts val="1000"/>
              </a:spcBef>
              <a:spcAft>
                <a:spcPts val="0"/>
              </a:spcAft>
              <a:buClr>
                <a:srgbClr val="000000"/>
              </a:buClr>
              <a:buSzPts val="1400"/>
              <a:buChar char="●"/>
            </a:pPr>
            <a:r>
              <a:rPr lang="en" sz="1400">
                <a:solidFill>
                  <a:schemeClr val="dk1"/>
                </a:solidFill>
              </a:rPr>
              <a:t>Class Imbalance techniques such as </a:t>
            </a:r>
            <a:r>
              <a:rPr b="1" lang="en" sz="1400">
                <a:solidFill>
                  <a:schemeClr val="dk1"/>
                </a:solidFill>
              </a:rPr>
              <a:t>SMOTE </a:t>
            </a:r>
            <a:r>
              <a:rPr lang="en" sz="1400">
                <a:solidFill>
                  <a:schemeClr val="dk1"/>
                </a:solidFill>
              </a:rPr>
              <a:t>oversampling and </a:t>
            </a:r>
            <a:r>
              <a:rPr b="1" lang="en" sz="1400">
                <a:solidFill>
                  <a:schemeClr val="dk1"/>
                </a:solidFill>
              </a:rPr>
              <a:t>RandomUnderSampling </a:t>
            </a:r>
            <a:r>
              <a:rPr lang="en" sz="1400">
                <a:solidFill>
                  <a:schemeClr val="dk1"/>
                </a:solidFill>
              </a:rPr>
              <a:t>have not resulted in model performance improvements.</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Hyper parameter tuning has improved the overall model performance by reducing the overfitting, ie a similar F1 score is observed across Training, Validation and Test data sets.</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b="1" lang="en" sz="1400">
                <a:solidFill>
                  <a:schemeClr val="dk1"/>
                </a:solidFill>
              </a:rPr>
              <a:t>Tuned Gradient Boost Classifier</a:t>
            </a:r>
            <a:r>
              <a:rPr lang="en" sz="1400">
                <a:solidFill>
                  <a:schemeClr val="dk1"/>
                </a:solidFill>
              </a:rPr>
              <a:t> and </a:t>
            </a:r>
            <a:r>
              <a:rPr b="1" lang="en" sz="1400">
                <a:solidFill>
                  <a:schemeClr val="dk1"/>
                </a:solidFill>
              </a:rPr>
              <a:t>XGBoost Classifier </a:t>
            </a:r>
            <a:r>
              <a:rPr lang="en" sz="1400">
                <a:solidFill>
                  <a:schemeClr val="dk1"/>
                </a:solidFill>
              </a:rPr>
              <a:t>have the best F1 scores, however XGBoost is slightly overfitting </a:t>
            </a:r>
            <a:r>
              <a:rPr lang="en" sz="1400">
                <a:solidFill>
                  <a:schemeClr val="dk1"/>
                </a:solidFill>
              </a:rPr>
              <a:t>the</a:t>
            </a:r>
            <a:r>
              <a:rPr lang="en" sz="1400">
                <a:solidFill>
                  <a:schemeClr val="dk1"/>
                </a:solidFill>
              </a:rPr>
              <a:t> training data.</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Based on the observed F1 scores across Training, Validation and Test datasets, We choose </a:t>
            </a:r>
            <a:r>
              <a:rPr b="1" lang="en" sz="1400">
                <a:solidFill>
                  <a:schemeClr val="dk1"/>
                </a:solidFill>
              </a:rPr>
              <a:t>Tuned Gradient Boost Classifier</a:t>
            </a:r>
            <a:r>
              <a:rPr lang="en" sz="1400">
                <a:solidFill>
                  <a:schemeClr val="dk1"/>
                </a:solidFill>
              </a:rPr>
              <a:t> as the final model.</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0" rtl="0" algn="l">
              <a:lnSpc>
                <a:spcPct val="115000"/>
              </a:lnSpc>
              <a:spcBef>
                <a:spcPts val="1000"/>
              </a:spcBef>
              <a:spcAft>
                <a:spcPts val="0"/>
              </a:spcAft>
              <a:buSzPts val="1500"/>
              <a:buNone/>
            </a:pPr>
            <a:r>
              <a:t/>
            </a:r>
            <a:endParaRPr sz="1400">
              <a:solidFill>
                <a:srgbClr val="000000"/>
              </a:solidFill>
            </a:endParaRPr>
          </a:p>
          <a:p>
            <a:pPr indent="0" lvl="0" marL="0" rtl="0" algn="l">
              <a:lnSpc>
                <a:spcPct val="115000"/>
              </a:lnSpc>
              <a:spcBef>
                <a:spcPts val="1000"/>
              </a:spcBef>
              <a:spcAft>
                <a:spcPts val="1000"/>
              </a:spcAft>
              <a:buSzPts val="1500"/>
              <a:buNone/>
            </a:pPr>
            <a:r>
              <a:t/>
            </a:r>
            <a:endParaRPr sz="1400">
              <a:solidFill>
                <a:srgbClr val="000000"/>
              </a:solidFill>
            </a:endParaRPr>
          </a:p>
        </p:txBody>
      </p:sp>
      <p:sp>
        <p:nvSpPr>
          <p:cNvPr id="310" name="Google Shape;310;g3b17ddeb428_0_120"/>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b17ddeb428_0_15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Final Model</a:t>
            </a:r>
            <a:endParaRPr>
              <a:solidFill>
                <a:srgbClr val="000000"/>
              </a:solidFill>
            </a:endParaRPr>
          </a:p>
        </p:txBody>
      </p:sp>
      <p:sp>
        <p:nvSpPr>
          <p:cNvPr id="316" name="Google Shape;316;g3b17ddeb428_0_155"/>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pic>
        <p:nvPicPr>
          <p:cNvPr id="317" name="Google Shape;317;g3b17ddeb428_0_155"/>
          <p:cNvPicPr preferRelativeResize="0"/>
          <p:nvPr/>
        </p:nvPicPr>
        <p:blipFill>
          <a:blip r:embed="rId3">
            <a:alphaModFix/>
          </a:blip>
          <a:stretch>
            <a:fillRect/>
          </a:stretch>
        </p:blipFill>
        <p:spPr>
          <a:xfrm>
            <a:off x="335225" y="880463"/>
            <a:ext cx="4335376" cy="2100325"/>
          </a:xfrm>
          <a:prstGeom prst="rect">
            <a:avLst/>
          </a:prstGeom>
          <a:noFill/>
          <a:ln>
            <a:noFill/>
          </a:ln>
        </p:spPr>
      </p:pic>
      <p:sp>
        <p:nvSpPr>
          <p:cNvPr id="318" name="Google Shape;318;g3b17ddeb428_0_155"/>
          <p:cNvSpPr txBox="1"/>
          <p:nvPr/>
        </p:nvSpPr>
        <p:spPr>
          <a:xfrm>
            <a:off x="4853425" y="931200"/>
            <a:ext cx="3948900" cy="1730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550">
                <a:solidFill>
                  <a:schemeClr val="dk1"/>
                </a:solidFill>
                <a:highlight>
                  <a:srgbClr val="FFFFFF"/>
                </a:highlight>
                <a:latin typeface="Nunito"/>
                <a:ea typeface="Nunito"/>
                <a:cs typeface="Nunito"/>
                <a:sym typeface="Nunito"/>
              </a:rPr>
              <a:t>Hyperparameters:</a:t>
            </a:r>
            <a:endParaRPr b="1" sz="1550">
              <a:solidFill>
                <a:schemeClr val="dk1"/>
              </a:solidFill>
              <a:highlight>
                <a:srgbClr val="FFFFFF"/>
              </a:highlight>
              <a:latin typeface="Nunito"/>
              <a:ea typeface="Nunito"/>
              <a:cs typeface="Nunito"/>
              <a:sym typeface="Nunito"/>
            </a:endParaRPr>
          </a:p>
          <a:p>
            <a:pPr indent="0" lvl="0" marL="0" rtl="0" algn="l">
              <a:lnSpc>
                <a:spcPct val="135714"/>
              </a:lnSpc>
              <a:spcBef>
                <a:spcPts val="1000"/>
              </a:spcBef>
              <a:spcAft>
                <a:spcPts val="0"/>
              </a:spcAft>
              <a:buNone/>
            </a:pPr>
            <a:r>
              <a:rPr lang="en" sz="1550">
                <a:solidFill>
                  <a:schemeClr val="dk1"/>
                </a:solidFill>
                <a:highlight>
                  <a:srgbClr val="FFFFFF"/>
                </a:highlight>
                <a:latin typeface="Nunito"/>
                <a:ea typeface="Nunito"/>
                <a:cs typeface="Nunito"/>
                <a:sym typeface="Nunito"/>
              </a:rPr>
              <a:t> "n_estimators": np.arange(50,110,25),</a:t>
            </a:r>
            <a:endParaRPr sz="1550">
              <a:solidFill>
                <a:schemeClr val="dk1"/>
              </a:solidFill>
              <a:highlight>
                <a:srgbClr val="FFFFFF"/>
              </a:highlight>
              <a:latin typeface="Nunito"/>
              <a:ea typeface="Nunito"/>
              <a:cs typeface="Nunito"/>
              <a:sym typeface="Nunito"/>
            </a:endParaRPr>
          </a:p>
          <a:p>
            <a:pPr indent="0" lvl="0" marL="0" rtl="0" algn="l">
              <a:lnSpc>
                <a:spcPct val="135714"/>
              </a:lnSpc>
              <a:spcBef>
                <a:spcPts val="0"/>
              </a:spcBef>
              <a:spcAft>
                <a:spcPts val="0"/>
              </a:spcAft>
              <a:buNone/>
            </a:pPr>
            <a:r>
              <a:rPr lang="en" sz="1550">
                <a:solidFill>
                  <a:schemeClr val="dk1"/>
                </a:solidFill>
                <a:highlight>
                  <a:srgbClr val="FFFFFF"/>
                </a:highlight>
                <a:latin typeface="Nunito"/>
                <a:ea typeface="Nunito"/>
                <a:cs typeface="Nunito"/>
                <a:sym typeface="Nunito"/>
              </a:rPr>
              <a:t>  "subsample": [0.7,0.9],</a:t>
            </a:r>
            <a:endParaRPr sz="1550">
              <a:solidFill>
                <a:schemeClr val="dk1"/>
              </a:solidFill>
              <a:highlight>
                <a:srgbClr val="FFFFFF"/>
              </a:highlight>
              <a:latin typeface="Nunito"/>
              <a:ea typeface="Nunito"/>
              <a:cs typeface="Nunito"/>
              <a:sym typeface="Nunito"/>
            </a:endParaRPr>
          </a:p>
          <a:p>
            <a:pPr indent="0" lvl="0" marL="0" rtl="0" algn="l">
              <a:lnSpc>
                <a:spcPct val="135714"/>
              </a:lnSpc>
              <a:spcBef>
                <a:spcPts val="0"/>
              </a:spcBef>
              <a:spcAft>
                <a:spcPts val="0"/>
              </a:spcAft>
              <a:buNone/>
            </a:pPr>
            <a:r>
              <a:rPr lang="en" sz="1550">
                <a:solidFill>
                  <a:schemeClr val="dk1"/>
                </a:solidFill>
                <a:highlight>
                  <a:srgbClr val="FFFFFF"/>
                </a:highlight>
                <a:latin typeface="Nunito"/>
                <a:ea typeface="Nunito"/>
                <a:cs typeface="Nunito"/>
                <a:sym typeface="Nunito"/>
              </a:rPr>
              <a:t>  "max_features": [0.7, 0.8, 0.9, 1],</a:t>
            </a:r>
            <a:endParaRPr sz="1550">
              <a:solidFill>
                <a:schemeClr val="dk1"/>
              </a:solidFill>
              <a:highlight>
                <a:srgbClr val="FFFFFF"/>
              </a:highlight>
              <a:latin typeface="Nunito"/>
              <a:ea typeface="Nunito"/>
              <a:cs typeface="Nunito"/>
              <a:sym typeface="Nunito"/>
            </a:endParaRPr>
          </a:p>
          <a:p>
            <a:pPr indent="0" lvl="0" marL="0" rtl="0" algn="l">
              <a:lnSpc>
                <a:spcPct val="135714"/>
              </a:lnSpc>
              <a:spcBef>
                <a:spcPts val="0"/>
              </a:spcBef>
              <a:spcAft>
                <a:spcPts val="0"/>
              </a:spcAft>
              <a:buNone/>
            </a:pPr>
            <a:r>
              <a:rPr lang="en" sz="1550">
                <a:solidFill>
                  <a:schemeClr val="dk1"/>
                </a:solidFill>
                <a:highlight>
                  <a:srgbClr val="FFFFFF"/>
                </a:highlight>
                <a:latin typeface="Nunito"/>
                <a:ea typeface="Nunito"/>
                <a:cs typeface="Nunito"/>
                <a:sym typeface="Nunito"/>
              </a:rPr>
              <a:t>  "learning_rate": [0.01,0.1,0.05],</a:t>
            </a:r>
            <a:endParaRPr sz="1550">
              <a:solidFill>
                <a:schemeClr val="dk1"/>
              </a:solidFill>
              <a:highlight>
                <a:srgbClr val="FFFFFF"/>
              </a:highlight>
              <a:latin typeface="Nunito"/>
              <a:ea typeface="Nunito"/>
              <a:cs typeface="Nunito"/>
              <a:sym typeface="Nunito"/>
            </a:endParaRPr>
          </a:p>
          <a:p>
            <a:pPr indent="0" lvl="0" marL="0" rtl="0" algn="l">
              <a:spcBef>
                <a:spcPts val="0"/>
              </a:spcBef>
              <a:spcAft>
                <a:spcPts val="0"/>
              </a:spcAft>
              <a:buNone/>
            </a:pPr>
            <a:r>
              <a:t/>
            </a:r>
            <a:endParaRPr sz="2000">
              <a:solidFill>
                <a:schemeClr val="dk1"/>
              </a:solidFill>
              <a:latin typeface="Nunito"/>
              <a:ea typeface="Nunito"/>
              <a:cs typeface="Nunito"/>
              <a:sym typeface="Nunito"/>
            </a:endParaRPr>
          </a:p>
        </p:txBody>
      </p:sp>
      <p:sp>
        <p:nvSpPr>
          <p:cNvPr id="319" name="Google Shape;319;g3b17ddeb428_0_155"/>
          <p:cNvSpPr txBox="1"/>
          <p:nvPr/>
        </p:nvSpPr>
        <p:spPr>
          <a:xfrm>
            <a:off x="709375" y="3210425"/>
            <a:ext cx="7739700" cy="13584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Model tuning is performed by Grid Search Cross validation with cv=5 folds</a:t>
            </a:r>
            <a:endParaRPr sz="1500">
              <a:solidFill>
                <a:schemeClr val="dk2"/>
              </a:solidFill>
              <a:latin typeface="Nunito"/>
              <a:ea typeface="Nunito"/>
              <a:cs typeface="Nunito"/>
              <a:sym typeface="Nunito"/>
            </a:endParaRPr>
          </a:p>
          <a:p>
            <a:pPr indent="-323850" lvl="0" marL="457200" rtl="0" algn="l">
              <a:lnSpc>
                <a:spcPct val="150000"/>
              </a:lnSpc>
              <a:spcBef>
                <a:spcPts val="0"/>
              </a:spcBef>
              <a:spcAft>
                <a:spcPts val="0"/>
              </a:spcAft>
              <a:buClr>
                <a:schemeClr val="dk2"/>
              </a:buClr>
              <a:buSzPts val="1500"/>
              <a:buFont typeface="Nunito"/>
              <a:buChar char="●"/>
            </a:pPr>
            <a:r>
              <a:rPr lang="en" sz="1500">
                <a:solidFill>
                  <a:schemeClr val="dk2"/>
                </a:solidFill>
                <a:latin typeface="Nunito"/>
                <a:ea typeface="Nunito"/>
                <a:cs typeface="Nunito"/>
                <a:sym typeface="Nunito"/>
              </a:rPr>
              <a:t>Model is tuned by fitting 5 folds for each of 72 candidates</a:t>
            </a:r>
            <a:r>
              <a:rPr lang="en" sz="1500">
                <a:solidFill>
                  <a:schemeClr val="dk2"/>
                </a:solidFill>
                <a:latin typeface="Nunito"/>
                <a:ea typeface="Nunito"/>
                <a:cs typeface="Nunito"/>
                <a:sym typeface="Nunito"/>
              </a:rPr>
              <a:t>, totalling 360 fits</a:t>
            </a:r>
            <a:endParaRPr sz="1500">
              <a:solidFill>
                <a:schemeClr val="dk2"/>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b17ddeb428_0_191"/>
          <p:cNvSpPr txBox="1"/>
          <p:nvPr/>
        </p:nvSpPr>
        <p:spPr>
          <a:xfrm>
            <a:off x="188797" y="69236"/>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Nunito"/>
                <a:ea typeface="Nunito"/>
                <a:cs typeface="Nunito"/>
                <a:sym typeface="Nunito"/>
              </a:rPr>
              <a:t>Final Model : Gradient Boosting Classifier Performance</a:t>
            </a:r>
            <a:endParaRPr b="1" sz="2200">
              <a:latin typeface="Nunito"/>
              <a:ea typeface="Nunito"/>
              <a:cs typeface="Nunito"/>
              <a:sym typeface="Nunito"/>
            </a:endParaRPr>
          </a:p>
        </p:txBody>
      </p:sp>
      <p:sp>
        <p:nvSpPr>
          <p:cNvPr id="325" name="Google Shape;325;g3b17ddeb428_0_191"/>
          <p:cNvSpPr txBox="1"/>
          <p:nvPr/>
        </p:nvSpPr>
        <p:spPr>
          <a:xfrm>
            <a:off x="244654" y="641932"/>
            <a:ext cx="28155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222222"/>
                </a:solidFill>
                <a:latin typeface="Nunito"/>
                <a:ea typeface="Nunito"/>
                <a:cs typeface="Nunito"/>
                <a:sym typeface="Nunito"/>
              </a:rPr>
              <a:t>Confusion matrix on Training Data</a:t>
            </a:r>
            <a:endParaRPr b="1" sz="1300">
              <a:solidFill>
                <a:srgbClr val="222222"/>
              </a:solidFill>
              <a:latin typeface="Nunito"/>
              <a:ea typeface="Nunito"/>
              <a:cs typeface="Nunito"/>
              <a:sym typeface="Nunito"/>
            </a:endParaRPr>
          </a:p>
        </p:txBody>
      </p:sp>
      <p:pic>
        <p:nvPicPr>
          <p:cNvPr id="326" name="Google Shape;326;g3b17ddeb428_0_191"/>
          <p:cNvPicPr preferRelativeResize="0"/>
          <p:nvPr/>
        </p:nvPicPr>
        <p:blipFill>
          <a:blip r:embed="rId3">
            <a:alphaModFix/>
          </a:blip>
          <a:stretch>
            <a:fillRect/>
          </a:stretch>
        </p:blipFill>
        <p:spPr>
          <a:xfrm>
            <a:off x="13468" y="1080832"/>
            <a:ext cx="2953513" cy="1986746"/>
          </a:xfrm>
          <a:prstGeom prst="rect">
            <a:avLst/>
          </a:prstGeom>
          <a:noFill/>
          <a:ln>
            <a:noFill/>
          </a:ln>
        </p:spPr>
      </p:pic>
      <p:sp>
        <p:nvSpPr>
          <p:cNvPr id="327" name="Google Shape;327;g3b17ddeb428_0_191"/>
          <p:cNvSpPr txBox="1"/>
          <p:nvPr/>
        </p:nvSpPr>
        <p:spPr>
          <a:xfrm>
            <a:off x="3282536" y="641932"/>
            <a:ext cx="29775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222222"/>
                </a:solidFill>
                <a:latin typeface="Nunito"/>
                <a:ea typeface="Nunito"/>
                <a:cs typeface="Nunito"/>
                <a:sym typeface="Nunito"/>
              </a:rPr>
              <a:t>Confusion matrix on Validation Data</a:t>
            </a:r>
            <a:endParaRPr b="1" sz="1300">
              <a:solidFill>
                <a:srgbClr val="222222"/>
              </a:solidFill>
              <a:latin typeface="Nunito"/>
              <a:ea typeface="Nunito"/>
              <a:cs typeface="Nunito"/>
              <a:sym typeface="Nunito"/>
            </a:endParaRPr>
          </a:p>
        </p:txBody>
      </p:sp>
      <p:pic>
        <p:nvPicPr>
          <p:cNvPr id="328" name="Google Shape;328;g3b17ddeb428_0_191"/>
          <p:cNvPicPr preferRelativeResize="0"/>
          <p:nvPr/>
        </p:nvPicPr>
        <p:blipFill>
          <a:blip r:embed="rId4">
            <a:alphaModFix/>
          </a:blip>
          <a:stretch>
            <a:fillRect/>
          </a:stretch>
        </p:blipFill>
        <p:spPr>
          <a:xfrm>
            <a:off x="3162734" y="1078405"/>
            <a:ext cx="2953512" cy="1986747"/>
          </a:xfrm>
          <a:prstGeom prst="rect">
            <a:avLst/>
          </a:prstGeom>
          <a:noFill/>
          <a:ln>
            <a:noFill/>
          </a:ln>
        </p:spPr>
      </p:pic>
      <p:pic>
        <p:nvPicPr>
          <p:cNvPr id="329" name="Google Shape;329;g3b17ddeb428_0_191"/>
          <p:cNvPicPr preferRelativeResize="0"/>
          <p:nvPr/>
        </p:nvPicPr>
        <p:blipFill>
          <a:blip r:embed="rId5">
            <a:alphaModFix/>
          </a:blip>
          <a:stretch>
            <a:fillRect/>
          </a:stretch>
        </p:blipFill>
        <p:spPr>
          <a:xfrm>
            <a:off x="6154191" y="995280"/>
            <a:ext cx="2953513" cy="1986746"/>
          </a:xfrm>
          <a:prstGeom prst="rect">
            <a:avLst/>
          </a:prstGeom>
          <a:noFill/>
          <a:ln>
            <a:noFill/>
          </a:ln>
        </p:spPr>
      </p:pic>
      <p:sp>
        <p:nvSpPr>
          <p:cNvPr id="330" name="Google Shape;330;g3b17ddeb428_0_191"/>
          <p:cNvSpPr txBox="1"/>
          <p:nvPr/>
        </p:nvSpPr>
        <p:spPr>
          <a:xfrm>
            <a:off x="6482436" y="641932"/>
            <a:ext cx="2977500" cy="4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222222"/>
                </a:solidFill>
                <a:latin typeface="Nunito"/>
                <a:ea typeface="Nunito"/>
                <a:cs typeface="Nunito"/>
                <a:sym typeface="Nunito"/>
              </a:rPr>
              <a:t>Confusion matrix on Test Data</a:t>
            </a:r>
            <a:endParaRPr b="1" sz="1300">
              <a:solidFill>
                <a:srgbClr val="222222"/>
              </a:solidFill>
              <a:latin typeface="Nunito"/>
              <a:ea typeface="Nunito"/>
              <a:cs typeface="Nunito"/>
              <a:sym typeface="Nunito"/>
            </a:endParaRPr>
          </a:p>
        </p:txBody>
      </p:sp>
      <p:sp>
        <p:nvSpPr>
          <p:cNvPr id="331" name="Google Shape;331;g3b17ddeb428_0_191"/>
          <p:cNvSpPr txBox="1"/>
          <p:nvPr/>
        </p:nvSpPr>
        <p:spPr>
          <a:xfrm>
            <a:off x="401575" y="3223122"/>
            <a:ext cx="8520600" cy="18435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rgbClr val="222222"/>
              </a:buClr>
              <a:buSzPts val="1300"/>
              <a:buFont typeface="Nunito"/>
              <a:buChar char="●"/>
            </a:pPr>
            <a:r>
              <a:rPr lang="en" sz="1300">
                <a:solidFill>
                  <a:srgbClr val="222222"/>
                </a:solidFill>
                <a:latin typeface="Nunito"/>
                <a:ea typeface="Nunito"/>
                <a:cs typeface="Nunito"/>
                <a:sym typeface="Nunito"/>
              </a:rPr>
              <a:t>~26% of the applications are predicted incorrectly across the data sets.</a:t>
            </a:r>
            <a:endParaRPr sz="1300">
              <a:solidFill>
                <a:srgbClr val="222222"/>
              </a:solidFill>
              <a:latin typeface="Nunito"/>
              <a:ea typeface="Nunito"/>
              <a:cs typeface="Nunito"/>
              <a:sym typeface="Nunito"/>
            </a:endParaRPr>
          </a:p>
          <a:p>
            <a:pPr indent="-311150" lvl="0" marL="457200" rtl="0" algn="l">
              <a:lnSpc>
                <a:spcPct val="150000"/>
              </a:lnSpc>
              <a:spcBef>
                <a:spcPts val="0"/>
              </a:spcBef>
              <a:spcAft>
                <a:spcPts val="0"/>
              </a:spcAft>
              <a:buClr>
                <a:srgbClr val="222222"/>
              </a:buClr>
              <a:buSzPts val="1300"/>
              <a:buFont typeface="Nunito"/>
              <a:buChar char="●"/>
            </a:pPr>
            <a:r>
              <a:rPr lang="en" sz="1300">
                <a:solidFill>
                  <a:srgbClr val="222222"/>
                </a:solidFill>
                <a:latin typeface="Nunito"/>
                <a:ea typeface="Nunito"/>
                <a:cs typeface="Nunito"/>
                <a:sym typeface="Nunito"/>
              </a:rPr>
              <a:t>~7% of applications were False Negatives (Missed approvals)</a:t>
            </a:r>
            <a:endParaRPr sz="1300">
              <a:solidFill>
                <a:srgbClr val="222222"/>
              </a:solidFill>
              <a:latin typeface="Nunito"/>
              <a:ea typeface="Nunito"/>
              <a:cs typeface="Nunito"/>
              <a:sym typeface="Nunito"/>
            </a:endParaRPr>
          </a:p>
          <a:p>
            <a:pPr indent="-311150" lvl="0" marL="457200" rtl="0" algn="l">
              <a:lnSpc>
                <a:spcPct val="150000"/>
              </a:lnSpc>
              <a:spcBef>
                <a:spcPts val="0"/>
              </a:spcBef>
              <a:spcAft>
                <a:spcPts val="0"/>
              </a:spcAft>
              <a:buClr>
                <a:srgbClr val="222222"/>
              </a:buClr>
              <a:buSzPts val="1300"/>
              <a:buFont typeface="Nunito"/>
              <a:buChar char="●"/>
            </a:pPr>
            <a:r>
              <a:rPr lang="en" sz="1300">
                <a:solidFill>
                  <a:srgbClr val="222222"/>
                </a:solidFill>
                <a:latin typeface="Nunito"/>
                <a:ea typeface="Nunito"/>
                <a:cs typeface="Nunito"/>
                <a:sym typeface="Nunito"/>
              </a:rPr>
              <a:t>~18% of applications were False Positives (Incorrectly reviewed)</a:t>
            </a:r>
            <a:endParaRPr sz="1300">
              <a:solidFill>
                <a:srgbClr val="222222"/>
              </a:solidFill>
              <a:latin typeface="Nunito"/>
              <a:ea typeface="Nunito"/>
              <a:cs typeface="Nunito"/>
              <a:sym typeface="Nunito"/>
            </a:endParaRPr>
          </a:p>
          <a:p>
            <a:pPr indent="-311150" lvl="0" marL="457200" rtl="0" algn="l">
              <a:lnSpc>
                <a:spcPct val="150000"/>
              </a:lnSpc>
              <a:spcBef>
                <a:spcPts val="0"/>
              </a:spcBef>
              <a:spcAft>
                <a:spcPts val="0"/>
              </a:spcAft>
              <a:buClr>
                <a:srgbClr val="222222"/>
              </a:buClr>
              <a:buSzPts val="1300"/>
              <a:buFont typeface="Nunito"/>
              <a:buChar char="●"/>
            </a:pPr>
            <a:r>
              <a:rPr lang="en" sz="1300">
                <a:solidFill>
                  <a:srgbClr val="222222"/>
                </a:solidFill>
                <a:latin typeface="Nunito"/>
                <a:ea typeface="Nunito"/>
                <a:cs typeface="Nunito"/>
                <a:sym typeface="Nunito"/>
              </a:rPr>
              <a:t>The performance is identical across the data sets, indicating a fairly well generalized model.</a:t>
            </a:r>
            <a:endParaRPr sz="1300">
              <a:solidFill>
                <a:srgbClr val="222222"/>
              </a:solidFill>
              <a:latin typeface="Nunito"/>
              <a:ea typeface="Nunito"/>
              <a:cs typeface="Nunito"/>
              <a:sym typeface="Nunito"/>
            </a:endParaRPr>
          </a:p>
          <a:p>
            <a:pPr indent="-311150" lvl="0" marL="457200" rtl="0" algn="l">
              <a:lnSpc>
                <a:spcPct val="150000"/>
              </a:lnSpc>
              <a:spcBef>
                <a:spcPts val="0"/>
              </a:spcBef>
              <a:spcAft>
                <a:spcPts val="0"/>
              </a:spcAft>
              <a:buClr>
                <a:srgbClr val="222222"/>
              </a:buClr>
              <a:buSzPts val="1300"/>
              <a:buFont typeface="Nunito"/>
              <a:buChar char="●"/>
            </a:pPr>
            <a:r>
              <a:rPr lang="en" sz="1300">
                <a:solidFill>
                  <a:srgbClr val="222222"/>
                </a:solidFill>
                <a:latin typeface="Nunito"/>
                <a:ea typeface="Nunito"/>
                <a:cs typeface="Nunito"/>
                <a:sym typeface="Nunito"/>
              </a:rPr>
              <a:t>The model achieves a high Recall (~89%) on the positive class, successfully identifying vast majority of qualifying applications.</a:t>
            </a:r>
            <a:endParaRPr sz="1300">
              <a:solidFill>
                <a:srgbClr val="222222"/>
              </a:solidFill>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b17ddeb428_0_204"/>
          <p:cNvSpPr txBox="1"/>
          <p:nvPr/>
        </p:nvSpPr>
        <p:spPr>
          <a:xfrm>
            <a:off x="188797" y="69236"/>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Nunito"/>
                <a:ea typeface="Nunito"/>
                <a:cs typeface="Nunito"/>
                <a:sym typeface="Nunito"/>
              </a:rPr>
              <a:t>Important Features</a:t>
            </a:r>
            <a:endParaRPr b="1" sz="2200">
              <a:latin typeface="Nunito"/>
              <a:ea typeface="Nunito"/>
              <a:cs typeface="Nunito"/>
              <a:sym typeface="Nunito"/>
            </a:endParaRPr>
          </a:p>
        </p:txBody>
      </p:sp>
      <p:sp>
        <p:nvSpPr>
          <p:cNvPr id="337" name="Google Shape;337;g3b17ddeb428_0_204"/>
          <p:cNvSpPr txBox="1"/>
          <p:nvPr/>
        </p:nvSpPr>
        <p:spPr>
          <a:xfrm>
            <a:off x="5438475" y="730200"/>
            <a:ext cx="3434400" cy="38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222222"/>
                </a:solidFill>
                <a:latin typeface="Nunito"/>
                <a:ea typeface="Nunito"/>
                <a:cs typeface="Nunito"/>
                <a:sym typeface="Nunito"/>
              </a:rPr>
              <a:t>Primary predictors for Application outcomes:</a:t>
            </a:r>
            <a:endParaRPr b="1" sz="1500">
              <a:solidFill>
                <a:srgbClr val="222222"/>
              </a:solidFill>
              <a:latin typeface="Nunito"/>
              <a:ea typeface="Nunito"/>
              <a:cs typeface="Nunito"/>
              <a:sym typeface="Nunito"/>
            </a:endParaRPr>
          </a:p>
          <a:p>
            <a:pPr indent="0" lvl="0" marL="0" rtl="0" algn="l">
              <a:lnSpc>
                <a:spcPct val="115000"/>
              </a:lnSpc>
              <a:spcBef>
                <a:spcPts val="0"/>
              </a:spcBef>
              <a:spcAft>
                <a:spcPts val="0"/>
              </a:spcAft>
              <a:buNone/>
            </a:pPr>
            <a:r>
              <a:t/>
            </a:r>
            <a:endParaRPr sz="1500">
              <a:solidFill>
                <a:srgbClr val="222222"/>
              </a:solidFill>
              <a:latin typeface="Nunito"/>
              <a:ea typeface="Nunito"/>
              <a:cs typeface="Nunito"/>
              <a:sym typeface="Nunito"/>
            </a:endParaRPr>
          </a:p>
          <a:p>
            <a:pPr indent="-323850" lvl="0" marL="457200" rtl="0" algn="l">
              <a:lnSpc>
                <a:spcPct val="115000"/>
              </a:lnSpc>
              <a:spcBef>
                <a:spcPts val="0"/>
              </a:spcBef>
              <a:spcAft>
                <a:spcPts val="0"/>
              </a:spcAft>
              <a:buClr>
                <a:srgbClr val="222222"/>
              </a:buClr>
              <a:buSzPts val="1500"/>
              <a:buFont typeface="Nunito"/>
              <a:buChar char="●"/>
            </a:pPr>
            <a:r>
              <a:rPr b="1" lang="en" sz="1500">
                <a:solidFill>
                  <a:srgbClr val="222222"/>
                </a:solidFill>
                <a:latin typeface="Nunito"/>
                <a:ea typeface="Nunito"/>
                <a:cs typeface="Nunito"/>
                <a:sym typeface="Nunito"/>
              </a:rPr>
              <a:t>Education level</a:t>
            </a:r>
            <a:r>
              <a:rPr lang="en" sz="1500">
                <a:solidFill>
                  <a:srgbClr val="222222"/>
                </a:solidFill>
                <a:latin typeface="Nunito"/>
                <a:ea typeface="Nunito"/>
                <a:cs typeface="Nunito"/>
                <a:sym typeface="Nunito"/>
              </a:rPr>
              <a:t> - </a:t>
            </a:r>
            <a:r>
              <a:rPr lang="en" sz="1200">
                <a:solidFill>
                  <a:srgbClr val="222222"/>
                </a:solidFill>
                <a:latin typeface="Nunito"/>
                <a:ea typeface="Nunito"/>
                <a:cs typeface="Nunito"/>
                <a:sym typeface="Nunito"/>
              </a:rPr>
              <a:t>Higher education levels show positive correlation with approvals.</a:t>
            </a:r>
            <a:endParaRPr sz="1200">
              <a:solidFill>
                <a:srgbClr val="222222"/>
              </a:solidFill>
              <a:latin typeface="Nunito"/>
              <a:ea typeface="Nunito"/>
              <a:cs typeface="Nunito"/>
              <a:sym typeface="Nunito"/>
            </a:endParaRPr>
          </a:p>
          <a:p>
            <a:pPr indent="-323850" lvl="0" marL="457200" rtl="0" algn="l">
              <a:lnSpc>
                <a:spcPct val="115000"/>
              </a:lnSpc>
              <a:spcBef>
                <a:spcPts val="0"/>
              </a:spcBef>
              <a:spcAft>
                <a:spcPts val="0"/>
              </a:spcAft>
              <a:buClr>
                <a:srgbClr val="222222"/>
              </a:buClr>
              <a:buSzPts val="1500"/>
              <a:buFont typeface="Nunito"/>
              <a:buChar char="●"/>
            </a:pPr>
            <a:r>
              <a:rPr b="1" lang="en" sz="1500">
                <a:solidFill>
                  <a:srgbClr val="222222"/>
                </a:solidFill>
                <a:latin typeface="Nunito"/>
                <a:ea typeface="Nunito"/>
                <a:cs typeface="Nunito"/>
                <a:sym typeface="Nunito"/>
              </a:rPr>
              <a:t>Prevailing wages - </a:t>
            </a:r>
            <a:r>
              <a:rPr lang="en" sz="1200">
                <a:solidFill>
                  <a:srgbClr val="222222"/>
                </a:solidFill>
                <a:latin typeface="Nunito"/>
                <a:ea typeface="Nunito"/>
                <a:cs typeface="Nunito"/>
                <a:sym typeface="Nunito"/>
              </a:rPr>
              <a:t>A positive predictor, higher wages show a strong correlate with approval outcomes</a:t>
            </a:r>
            <a:endParaRPr sz="1200">
              <a:solidFill>
                <a:srgbClr val="222222"/>
              </a:solidFill>
              <a:latin typeface="Nunito"/>
              <a:ea typeface="Nunito"/>
              <a:cs typeface="Nunito"/>
              <a:sym typeface="Nunito"/>
            </a:endParaRPr>
          </a:p>
          <a:p>
            <a:pPr indent="-323850" lvl="0" marL="457200" rtl="0" algn="l">
              <a:lnSpc>
                <a:spcPct val="115000"/>
              </a:lnSpc>
              <a:spcBef>
                <a:spcPts val="0"/>
              </a:spcBef>
              <a:spcAft>
                <a:spcPts val="0"/>
              </a:spcAft>
              <a:buClr>
                <a:srgbClr val="222222"/>
              </a:buClr>
              <a:buSzPts val="1500"/>
              <a:buFont typeface="Nunito"/>
              <a:buChar char="●"/>
            </a:pPr>
            <a:r>
              <a:rPr b="1" lang="en" sz="1500">
                <a:solidFill>
                  <a:srgbClr val="222222"/>
                </a:solidFill>
                <a:latin typeface="Nunito"/>
                <a:ea typeface="Nunito"/>
                <a:cs typeface="Nunito"/>
                <a:sym typeface="Nunito"/>
              </a:rPr>
              <a:t>Prior Job Experience - </a:t>
            </a:r>
            <a:r>
              <a:rPr lang="en" sz="1200">
                <a:solidFill>
                  <a:srgbClr val="222222"/>
                </a:solidFill>
                <a:latin typeface="Nunito"/>
                <a:ea typeface="Nunito"/>
                <a:cs typeface="Nunito"/>
                <a:sym typeface="Nunito"/>
              </a:rPr>
              <a:t>Employees with prior job experience have higher chance of receiving approvals</a:t>
            </a:r>
            <a:r>
              <a:rPr b="1" lang="en" sz="1500">
                <a:solidFill>
                  <a:srgbClr val="222222"/>
                </a:solidFill>
                <a:latin typeface="Nunito"/>
                <a:ea typeface="Nunito"/>
                <a:cs typeface="Nunito"/>
                <a:sym typeface="Nunito"/>
              </a:rPr>
              <a:t> </a:t>
            </a:r>
            <a:endParaRPr b="1" sz="1500">
              <a:solidFill>
                <a:srgbClr val="222222"/>
              </a:solidFill>
              <a:latin typeface="Nunito"/>
              <a:ea typeface="Nunito"/>
              <a:cs typeface="Nunito"/>
              <a:sym typeface="Nunito"/>
            </a:endParaRPr>
          </a:p>
          <a:p>
            <a:pPr indent="-323850" lvl="0" marL="457200" rtl="0" algn="l">
              <a:lnSpc>
                <a:spcPct val="115000"/>
              </a:lnSpc>
              <a:spcBef>
                <a:spcPts val="0"/>
              </a:spcBef>
              <a:spcAft>
                <a:spcPts val="0"/>
              </a:spcAft>
              <a:buClr>
                <a:srgbClr val="222222"/>
              </a:buClr>
              <a:buSzPts val="1500"/>
              <a:buFont typeface="Nunito"/>
              <a:buChar char="●"/>
            </a:pPr>
            <a:r>
              <a:rPr b="1" lang="en" sz="1500">
                <a:solidFill>
                  <a:srgbClr val="222222"/>
                </a:solidFill>
                <a:latin typeface="Nunito"/>
                <a:ea typeface="Nunito"/>
                <a:cs typeface="Nunito"/>
                <a:sym typeface="Nunito"/>
              </a:rPr>
              <a:t>Continent - </a:t>
            </a:r>
            <a:r>
              <a:rPr lang="en" sz="1200">
                <a:solidFill>
                  <a:srgbClr val="222222"/>
                </a:solidFill>
                <a:latin typeface="Nunito"/>
                <a:ea typeface="Nunito"/>
                <a:cs typeface="Nunito"/>
                <a:sym typeface="Nunito"/>
              </a:rPr>
              <a:t>European region has higher approvals rate, followed by Africa, Asia, North America and South America regions.</a:t>
            </a:r>
            <a:endParaRPr sz="1200">
              <a:solidFill>
                <a:srgbClr val="222222"/>
              </a:solidFill>
              <a:latin typeface="Nunito"/>
              <a:ea typeface="Nunito"/>
              <a:cs typeface="Nunito"/>
              <a:sym typeface="Nunito"/>
            </a:endParaRPr>
          </a:p>
        </p:txBody>
      </p:sp>
      <p:pic>
        <p:nvPicPr>
          <p:cNvPr id="338" name="Google Shape;338;g3b17ddeb428_0_204"/>
          <p:cNvPicPr preferRelativeResize="0"/>
          <p:nvPr/>
        </p:nvPicPr>
        <p:blipFill>
          <a:blip r:embed="rId3">
            <a:alphaModFix/>
          </a:blip>
          <a:stretch>
            <a:fillRect/>
          </a:stretch>
        </p:blipFill>
        <p:spPr>
          <a:xfrm>
            <a:off x="152400" y="769959"/>
            <a:ext cx="5133675" cy="411185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
          <p:cNvSpPr txBox="1"/>
          <p:nvPr>
            <p:ph type="ctrTitle"/>
          </p:nvPr>
        </p:nvSpPr>
        <p:spPr>
          <a:xfrm>
            <a:off x="0" y="2820425"/>
            <a:ext cx="9144000" cy="581700"/>
          </a:xfrm>
          <a:prstGeom prst="rect">
            <a:avLst/>
          </a:prstGeom>
          <a:solidFill>
            <a:srgbClr val="0000FF"/>
          </a:solid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pic>
        <p:nvPicPr>
          <p:cNvPr id="349" name="Google Shape;349;p9"/>
          <p:cNvPicPr preferRelativeResize="0"/>
          <p:nvPr/>
        </p:nvPicPr>
        <p:blipFill>
          <a:blip r:embed="rId3">
            <a:alphaModFix/>
          </a:blip>
          <a:stretch>
            <a:fillRect/>
          </a:stretch>
        </p:blipFill>
        <p:spPr>
          <a:xfrm>
            <a:off x="152400" y="1014379"/>
            <a:ext cx="8839204" cy="33578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b17ddeb428_0_149"/>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355" name="Google Shape;355;g3b17ddeb428_0_149"/>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Char char="●"/>
            </a:pPr>
            <a:r>
              <a:rPr lang="en" sz="1400">
                <a:solidFill>
                  <a:schemeClr val="dk1"/>
                </a:solidFill>
              </a:rPr>
              <a:t>Compare the performance of the tuned models</a:t>
            </a:r>
            <a:endParaRPr sz="1400">
              <a:solidFill>
                <a:schemeClr val="dk1"/>
              </a:solidFill>
            </a:endParaRPr>
          </a:p>
          <a:p>
            <a:pPr indent="-317500" lvl="0" marL="457200" rtl="0" algn="l">
              <a:lnSpc>
                <a:spcPct val="115000"/>
              </a:lnSpc>
              <a:spcBef>
                <a:spcPts val="1000"/>
              </a:spcBef>
              <a:spcAft>
                <a:spcPts val="0"/>
              </a:spcAft>
              <a:buClr>
                <a:srgbClr val="000000"/>
              </a:buClr>
              <a:buSzPts val="1400"/>
              <a:buChar char="●"/>
            </a:pPr>
            <a:r>
              <a:rPr lang="en" sz="1400">
                <a:solidFill>
                  <a:schemeClr val="dk1"/>
                </a:solidFill>
              </a:rPr>
              <a:t>Overview of final ML model and its parameters</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Comment on the performance of the final model</a:t>
            </a:r>
            <a:endParaRPr sz="1400">
              <a:solidFill>
                <a:schemeClr val="dk1"/>
              </a:solidFill>
            </a:endParaRPr>
          </a:p>
          <a:p>
            <a:pPr indent="-317500" lvl="0" marL="457200" rtl="0" algn="l">
              <a:lnSpc>
                <a:spcPct val="115000"/>
              </a:lnSpc>
              <a:spcBef>
                <a:spcPts val="1000"/>
              </a:spcBef>
              <a:spcAft>
                <a:spcPts val="0"/>
              </a:spcAft>
              <a:buClr>
                <a:srgbClr val="000000"/>
              </a:buClr>
              <a:buSzPts val="1400"/>
              <a:buChar char="●"/>
            </a:pPr>
            <a:r>
              <a:rPr lang="en" sz="1400">
                <a:solidFill>
                  <a:schemeClr val="dk1"/>
                </a:solidFill>
              </a:rPr>
              <a:t>Summary of most important factors used by the ML model for prediction</a:t>
            </a:r>
            <a:endParaRPr sz="1400">
              <a:solidFill>
                <a:schemeClr val="dk1"/>
              </a:solidFill>
            </a:endParaRPr>
          </a:p>
          <a:p>
            <a:pPr indent="0" lvl="0" marL="0" rtl="0" algn="l">
              <a:lnSpc>
                <a:spcPct val="115000"/>
              </a:lnSpc>
              <a:spcBef>
                <a:spcPts val="1000"/>
              </a:spcBef>
              <a:spcAft>
                <a:spcPts val="0"/>
              </a:spcAft>
              <a:buSzPts val="1500"/>
              <a:buNone/>
            </a:pPr>
            <a:r>
              <a:t/>
            </a:r>
            <a:endParaRPr sz="1400">
              <a:solidFill>
                <a:srgbClr val="000000"/>
              </a:solidFill>
            </a:endParaRPr>
          </a:p>
          <a:p>
            <a:pPr indent="0" lvl="0" marL="0" rtl="0" algn="l">
              <a:lnSpc>
                <a:spcPct val="115000"/>
              </a:lnSpc>
              <a:spcBef>
                <a:spcPts val="1000"/>
              </a:spcBef>
              <a:spcAft>
                <a:spcPts val="0"/>
              </a:spcAft>
              <a:buSzPts val="1500"/>
              <a:buNone/>
            </a:pPr>
            <a:r>
              <a:rPr b="1" i="1" lang="en" sz="1200">
                <a:solidFill>
                  <a:srgbClr val="000000"/>
                </a:solidFill>
              </a:rPr>
              <a:t>Note</a:t>
            </a:r>
            <a:r>
              <a:rPr i="1" lang="en" sz="1200">
                <a:solidFill>
                  <a:srgbClr val="000000"/>
                </a:solidFill>
              </a:rPr>
              <a:t>: You can use more than one slide if needed </a:t>
            </a:r>
            <a:endParaRPr i="1" sz="1300">
              <a:solidFill>
                <a:srgbClr val="000000"/>
              </a:solidFill>
            </a:endParaRPr>
          </a:p>
          <a:p>
            <a:pPr indent="0" lvl="0" marL="0" rtl="0" algn="l">
              <a:lnSpc>
                <a:spcPct val="115000"/>
              </a:lnSpc>
              <a:spcBef>
                <a:spcPts val="1000"/>
              </a:spcBef>
              <a:spcAft>
                <a:spcPts val="1000"/>
              </a:spcAft>
              <a:buSzPts val="1500"/>
              <a:buNone/>
            </a:pPr>
            <a:r>
              <a:t/>
            </a:r>
            <a:endParaRPr sz="1400">
              <a:solidFill>
                <a:srgbClr val="000000"/>
              </a:solidFill>
            </a:endParaRPr>
          </a:p>
        </p:txBody>
      </p:sp>
      <p:sp>
        <p:nvSpPr>
          <p:cNvPr id="356" name="Google Shape;356;g3b17ddeb428_0_149"/>
          <p:cNvSpPr txBox="1"/>
          <p:nvPr/>
        </p:nvSpPr>
        <p:spPr>
          <a:xfrm>
            <a:off x="4077350" y="4568775"/>
            <a:ext cx="5010600" cy="3693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200"/>
              <a:buFont typeface="Arial"/>
              <a:buNone/>
            </a:pPr>
            <a:r>
              <a:t/>
            </a:r>
            <a:endParaRPr b="0" i="1" sz="1200" u="none" cap="none" strike="noStrike">
              <a:solidFill>
                <a:srgbClr val="666666"/>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0"/>
          <p:cNvSpPr txBox="1"/>
          <p:nvPr>
            <p:ph type="title"/>
          </p:nvPr>
        </p:nvSpPr>
        <p:spPr>
          <a:xfrm>
            <a:off x="202550" y="115572"/>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Building - Original Data</a:t>
            </a:r>
            <a:endParaRPr>
              <a:solidFill>
                <a:srgbClr val="000000"/>
              </a:solidFill>
            </a:endParaRPr>
          </a:p>
        </p:txBody>
      </p:sp>
      <p:sp>
        <p:nvSpPr>
          <p:cNvPr id="362" name="Google Shape;362;p10"/>
          <p:cNvSpPr txBox="1"/>
          <p:nvPr>
            <p:ph idx="1" type="body"/>
          </p:nvPr>
        </p:nvSpPr>
        <p:spPr>
          <a:xfrm>
            <a:off x="202550" y="688268"/>
            <a:ext cx="8629800" cy="609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Char char="●"/>
            </a:pPr>
            <a:r>
              <a:rPr lang="en" sz="1400">
                <a:solidFill>
                  <a:schemeClr val="dk1"/>
                </a:solidFill>
              </a:rPr>
              <a:t>Five Classifier models with default parameters were developed to establish the baseline performance. </a:t>
            </a:r>
            <a:endParaRPr sz="1400">
              <a:solidFill>
                <a:schemeClr val="dk1"/>
              </a:solidFill>
            </a:endParaRPr>
          </a:p>
          <a:p>
            <a:pPr indent="0" lvl="0" marL="0" rtl="0" algn="l">
              <a:lnSpc>
                <a:spcPct val="115000"/>
              </a:lnSpc>
              <a:spcBef>
                <a:spcPts val="1000"/>
              </a:spcBef>
              <a:spcAft>
                <a:spcPts val="0"/>
              </a:spcAft>
              <a:buSzPts val="1500"/>
              <a:buNone/>
            </a:pPr>
            <a:r>
              <a:t/>
            </a:r>
            <a:endParaRPr sz="1400">
              <a:solidFill>
                <a:schemeClr val="dk1"/>
              </a:solidFill>
            </a:endParaRPr>
          </a:p>
          <a:p>
            <a:pPr indent="0" lvl="0" marL="0" rtl="0" algn="l">
              <a:lnSpc>
                <a:spcPct val="115000"/>
              </a:lnSpc>
              <a:spcBef>
                <a:spcPts val="1000"/>
              </a:spcBef>
              <a:spcAft>
                <a:spcPts val="1000"/>
              </a:spcAft>
              <a:buSzPts val="1500"/>
              <a:buNone/>
            </a:pPr>
            <a:r>
              <a:t/>
            </a:r>
            <a:endParaRPr sz="1400">
              <a:solidFill>
                <a:schemeClr val="dk1"/>
              </a:solidFill>
            </a:endParaRPr>
          </a:p>
        </p:txBody>
      </p:sp>
      <p:graphicFrame>
        <p:nvGraphicFramePr>
          <p:cNvPr id="363" name="Google Shape;363;p10"/>
          <p:cNvGraphicFramePr/>
          <p:nvPr/>
        </p:nvGraphicFramePr>
        <p:xfrm>
          <a:off x="446273" y="135770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0.9891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0.7736</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1.0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0.8049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0.8204</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0.8180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0.8291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0.8266</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0.8963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0.8079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64" name="Google Shape;364;p10"/>
          <p:cNvSpPr txBox="1"/>
          <p:nvPr/>
        </p:nvSpPr>
        <p:spPr>
          <a:xfrm>
            <a:off x="446300" y="4123175"/>
            <a:ext cx="8124600" cy="10572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AdaBoost and Gradient Boost Classifiers are generalizing well, with a fairly good F1 score of 0.82.</a:t>
            </a:r>
            <a:endParaRPr sz="1300">
              <a:solidFill>
                <a:schemeClr val="dk2"/>
              </a:solidFill>
              <a:latin typeface="Nunito"/>
              <a:ea typeface="Nunito"/>
              <a:cs typeface="Nunito"/>
              <a:sym typeface="Nunito"/>
            </a:endParaRPr>
          </a:p>
          <a:p>
            <a:pPr indent="-311150" lvl="0" marL="45720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Bagging, Random Forest and XGBoost classifier models did well on training data, but not so good on validation data indicating a overfit scenario.</a:t>
            </a:r>
            <a:endParaRPr sz="1300">
              <a:solidFill>
                <a:schemeClr val="dk2"/>
              </a:solidFill>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1"/>
          <p:cNvSpPr txBox="1"/>
          <p:nvPr>
            <p:ph type="title"/>
          </p:nvPr>
        </p:nvSpPr>
        <p:spPr>
          <a:xfrm>
            <a:off x="202550" y="118644"/>
            <a:ext cx="8520600" cy="44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370" name="Google Shape;370;p11"/>
          <p:cNvSpPr txBox="1"/>
          <p:nvPr>
            <p:ph idx="1" type="body"/>
          </p:nvPr>
        </p:nvSpPr>
        <p:spPr>
          <a:xfrm>
            <a:off x="202550" y="631879"/>
            <a:ext cx="8629800" cy="8400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dk1"/>
              </a:buClr>
              <a:buSzPts val="1400"/>
              <a:buChar char="●"/>
            </a:pPr>
            <a:r>
              <a:rPr lang="en" sz="1400">
                <a:solidFill>
                  <a:schemeClr val="dk1"/>
                </a:solidFill>
              </a:rPr>
              <a:t>SMOTE ( </a:t>
            </a:r>
            <a:r>
              <a:rPr b="1" lang="en" sz="1400">
                <a:solidFill>
                  <a:schemeClr val="dk1"/>
                </a:solidFill>
              </a:rPr>
              <a:t>S</a:t>
            </a:r>
            <a:r>
              <a:rPr lang="en" sz="1400">
                <a:solidFill>
                  <a:schemeClr val="dk1"/>
                </a:solidFill>
              </a:rPr>
              <a:t>ynthetic </a:t>
            </a:r>
            <a:r>
              <a:rPr b="1" lang="en" sz="1400">
                <a:solidFill>
                  <a:schemeClr val="dk1"/>
                </a:solidFill>
              </a:rPr>
              <a:t>M</a:t>
            </a:r>
            <a:r>
              <a:rPr lang="en" sz="1400">
                <a:solidFill>
                  <a:schemeClr val="dk1"/>
                </a:solidFill>
              </a:rPr>
              <a:t>inority </a:t>
            </a:r>
            <a:r>
              <a:rPr b="1" lang="en" sz="1400">
                <a:solidFill>
                  <a:schemeClr val="dk1"/>
                </a:solidFill>
              </a:rPr>
              <a:t>O</a:t>
            </a:r>
            <a:r>
              <a:rPr lang="en" sz="1400">
                <a:solidFill>
                  <a:schemeClr val="dk1"/>
                </a:solidFill>
              </a:rPr>
              <a:t>versampling </a:t>
            </a:r>
            <a:r>
              <a:rPr b="1" lang="en" sz="1400">
                <a:solidFill>
                  <a:schemeClr val="dk1"/>
                </a:solidFill>
              </a:rPr>
              <a:t>Te</a:t>
            </a:r>
            <a:r>
              <a:rPr lang="en" sz="1400">
                <a:solidFill>
                  <a:schemeClr val="dk1"/>
                </a:solidFill>
              </a:rPr>
              <a:t>chnique) is used to address the </a:t>
            </a:r>
            <a:r>
              <a:rPr lang="en" sz="1400">
                <a:solidFill>
                  <a:schemeClr val="dk1"/>
                </a:solidFill>
              </a:rPr>
              <a:t>imbalance</a:t>
            </a:r>
            <a:r>
              <a:rPr lang="en" sz="1400">
                <a:solidFill>
                  <a:schemeClr val="dk1"/>
                </a:solidFill>
              </a:rPr>
              <a:t> between the output classes. The algorithm uses K-nearest neighbors approach to generate the minority class data.</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0" rtl="0" algn="l">
              <a:lnSpc>
                <a:spcPct val="115000"/>
              </a:lnSpc>
              <a:spcBef>
                <a:spcPts val="1000"/>
              </a:spcBef>
              <a:spcAft>
                <a:spcPts val="1000"/>
              </a:spcAft>
              <a:buSzPts val="1500"/>
              <a:buNone/>
            </a:pPr>
            <a:r>
              <a:t/>
            </a:r>
            <a:endParaRPr sz="1400">
              <a:solidFill>
                <a:schemeClr val="dk1"/>
              </a:solidFill>
            </a:endParaRPr>
          </a:p>
        </p:txBody>
      </p:sp>
      <p:graphicFrame>
        <p:nvGraphicFramePr>
          <p:cNvPr id="371" name="Google Shape;371;p11"/>
          <p:cNvGraphicFramePr/>
          <p:nvPr/>
        </p:nvGraphicFramePr>
        <p:xfrm>
          <a:off x="635423" y="147175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0.9875 </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0.7665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0.9999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0.7965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0.8005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None/>
                      </a:pPr>
                      <a:r>
                        <a:rPr lang="en" sz="1200"/>
                        <a:t>0.8195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0.8072</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marR="0" rtl="0" algn="ctr">
                        <a:lnSpc>
                          <a:spcPct val="100000"/>
                        </a:lnSpc>
                        <a:spcBef>
                          <a:spcPts val="0"/>
                        </a:spcBef>
                        <a:spcAft>
                          <a:spcPts val="0"/>
                        </a:spcAft>
                        <a:buNone/>
                      </a:pPr>
                      <a:r>
                        <a:rPr lang="en" sz="1200"/>
                        <a:t>0.8173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CFE2F3"/>
                    </a:solidFill>
                  </a:tcPr>
                </a:tc>
                <a:tc>
                  <a:txBody>
                    <a:bodyPr/>
                    <a:lstStyle/>
                    <a:p>
                      <a:pPr indent="0" lvl="0" marL="0" rtl="0" algn="ctr">
                        <a:spcBef>
                          <a:spcPts val="0"/>
                        </a:spcBef>
                        <a:spcAft>
                          <a:spcPts val="0"/>
                        </a:spcAft>
                        <a:buNone/>
                      </a:pPr>
                      <a:r>
                        <a:rPr lang="en" sz="1200"/>
                        <a:t>Generalizing well.</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0.8708</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0.8129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descr="Check mark vector icon. Checkmark right symbol tick sign. Ok button correct circle icon. (Provided by Getty Images)" id="372" name="Google Shape;372;p11"/>
          <p:cNvPicPr preferRelativeResize="0"/>
          <p:nvPr/>
        </p:nvPicPr>
        <p:blipFill>
          <a:blip r:embed="rId3">
            <a:alphaModFix/>
          </a:blip>
          <a:stretch>
            <a:fillRect/>
          </a:stretch>
        </p:blipFill>
        <p:spPr>
          <a:xfrm>
            <a:off x="7601659" y="2968624"/>
            <a:ext cx="369300" cy="369300"/>
          </a:xfrm>
          <a:prstGeom prst="rect">
            <a:avLst/>
          </a:prstGeom>
          <a:noFill/>
          <a:ln>
            <a:noFill/>
          </a:ln>
        </p:spPr>
      </p:pic>
      <p:pic>
        <p:nvPicPr>
          <p:cNvPr descr="Check mark vector icon. Checkmark right symbol tick sign. Ok button correct circle icon. (Provided by Getty Images)" id="373" name="Google Shape;373;p11"/>
          <p:cNvPicPr preferRelativeResize="0"/>
          <p:nvPr/>
        </p:nvPicPr>
        <p:blipFill>
          <a:blip r:embed="rId3">
            <a:alphaModFix/>
          </a:blip>
          <a:stretch>
            <a:fillRect/>
          </a:stretch>
        </p:blipFill>
        <p:spPr>
          <a:xfrm>
            <a:off x="7601650" y="3363524"/>
            <a:ext cx="369300" cy="369300"/>
          </a:xfrm>
          <a:prstGeom prst="rect">
            <a:avLst/>
          </a:prstGeom>
          <a:noFill/>
          <a:ln>
            <a:noFill/>
          </a:ln>
        </p:spPr>
      </p:pic>
      <p:sp>
        <p:nvSpPr>
          <p:cNvPr id="374" name="Google Shape;374;p11"/>
          <p:cNvSpPr txBox="1"/>
          <p:nvPr/>
        </p:nvSpPr>
        <p:spPr>
          <a:xfrm>
            <a:off x="434125" y="4290300"/>
            <a:ext cx="83982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dk1"/>
                </a:solidFill>
                <a:latin typeface="Nunito"/>
                <a:ea typeface="Nunito"/>
                <a:cs typeface="Nunito"/>
                <a:sym typeface="Nunito"/>
              </a:rPr>
              <a:t>AdaBoost and Gradient Boost Classifiers are generalizing well, with a decent F1 score of 0.81, but it is slightly lower than without Class Oversampling.</a:t>
            </a:r>
            <a:endParaRPr sz="1500">
              <a:solidFill>
                <a:schemeClr val="dk1"/>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2"/>
          <p:cNvSpPr txBox="1"/>
          <p:nvPr>
            <p:ph type="title"/>
          </p:nvPr>
        </p:nvSpPr>
        <p:spPr>
          <a:xfrm>
            <a:off x="202550" y="69888"/>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380" name="Google Shape;380;p12"/>
          <p:cNvSpPr txBox="1"/>
          <p:nvPr>
            <p:ph idx="1" type="body"/>
          </p:nvPr>
        </p:nvSpPr>
        <p:spPr>
          <a:xfrm>
            <a:off x="202550" y="642581"/>
            <a:ext cx="8629800" cy="422700"/>
          </a:xfrm>
          <a:prstGeom prst="rect">
            <a:avLst/>
          </a:prstGeom>
          <a:noFill/>
          <a:ln>
            <a:noFill/>
          </a:ln>
        </p:spPr>
        <p:txBody>
          <a:bodyPr anchorCtr="0" anchor="t" bIns="91425" lIns="91425" spcFirstLastPara="1" rIns="91425" wrap="square" tIns="91425">
            <a:noAutofit/>
          </a:bodyPr>
          <a:lstStyle/>
          <a:p>
            <a:pPr indent="-311150" lvl="0" marL="457200" rtl="0" algn="l">
              <a:lnSpc>
                <a:spcPct val="135714"/>
              </a:lnSpc>
              <a:spcBef>
                <a:spcPts val="0"/>
              </a:spcBef>
              <a:spcAft>
                <a:spcPts val="0"/>
              </a:spcAft>
              <a:buClr>
                <a:schemeClr val="dk1"/>
              </a:buClr>
              <a:buSzPts val="1300"/>
              <a:buChar char="●"/>
            </a:pPr>
            <a:r>
              <a:rPr lang="en" sz="1300">
                <a:solidFill>
                  <a:srgbClr val="000000"/>
                </a:solidFill>
                <a:highlight>
                  <a:srgbClr val="FFFFFF"/>
                </a:highlight>
              </a:rPr>
              <a:t>RandomUnderSampler method is used to undersample the training data.</a:t>
            </a:r>
            <a:endParaRPr sz="1300">
              <a:solidFill>
                <a:schemeClr val="dk1"/>
              </a:solidFill>
            </a:endParaRPr>
          </a:p>
        </p:txBody>
      </p:sp>
      <p:graphicFrame>
        <p:nvGraphicFramePr>
          <p:cNvPr id="381" name="Google Shape;381;p12"/>
          <p:cNvGraphicFramePr/>
          <p:nvPr/>
        </p:nvGraphicFramePr>
        <p:xfrm>
          <a:off x="566611" y="1179250"/>
          <a:ext cx="3000000" cy="3000000"/>
        </p:xfrm>
        <a:graphic>
          <a:graphicData uri="http://schemas.openxmlformats.org/drawingml/2006/table">
            <a:tbl>
              <a:tblPr>
                <a:noFill/>
                <a:tableStyleId>{D633C4A3-3C73-41D3-AAA2-C2EAA6FE6DED}</a:tableStyleId>
              </a:tblPr>
              <a:tblGrid>
                <a:gridCol w="1996625"/>
                <a:gridCol w="1338475"/>
                <a:gridCol w="1667550"/>
                <a:gridCol w="2761400"/>
              </a:tblGrid>
              <a:tr h="362975">
                <a:tc rowSpan="2">
                  <a:txBody>
                    <a:bodyPr/>
                    <a:lstStyle/>
                    <a:p>
                      <a:pPr indent="0" lvl="0" marL="0" rtl="0" algn="ctr">
                        <a:spcBef>
                          <a:spcPts val="0"/>
                        </a:spcBef>
                        <a:spcAft>
                          <a:spcPts val="0"/>
                        </a:spcAft>
                        <a:buNone/>
                      </a:pPr>
                      <a:r>
                        <a:rPr b="1" lang="en" sz="1200">
                          <a:solidFill>
                            <a:schemeClr val="lt1"/>
                          </a:solidFill>
                        </a:rPr>
                        <a:t>Model</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gridSpan="2">
                  <a:txBody>
                    <a:bodyPr/>
                    <a:lstStyle/>
                    <a:p>
                      <a:pPr indent="0" lvl="0" marL="0" rtl="0" algn="ctr">
                        <a:spcBef>
                          <a:spcPts val="0"/>
                        </a:spcBef>
                        <a:spcAft>
                          <a:spcPts val="0"/>
                        </a:spcAft>
                        <a:buNone/>
                      </a:pPr>
                      <a:r>
                        <a:rPr b="1" lang="en" sz="1200">
                          <a:solidFill>
                            <a:schemeClr val="lt1"/>
                          </a:solidFill>
                        </a:rPr>
                        <a:t>F1 Score</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hMerge="1"/>
                <a:tc rowSpan="2">
                  <a:txBody>
                    <a:bodyPr/>
                    <a:lstStyle/>
                    <a:p>
                      <a:pPr indent="0" lvl="0" marL="0" rtl="0" algn="ctr">
                        <a:spcBef>
                          <a:spcPts val="0"/>
                        </a:spcBef>
                        <a:spcAft>
                          <a:spcPts val="0"/>
                        </a:spcAft>
                        <a:buNone/>
                      </a:pPr>
                      <a:r>
                        <a:rPr b="1" lang="en" sz="1200">
                          <a:solidFill>
                            <a:schemeClr val="lt1"/>
                          </a:solidFill>
                        </a:rPr>
                        <a:t>Observation</a:t>
                      </a:r>
                      <a:endParaRPr b="1" sz="1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r>
              <a:tr h="362975">
                <a:tc vMerge="1"/>
                <a:tc>
                  <a:txBody>
                    <a:bodyPr/>
                    <a:lstStyle/>
                    <a:p>
                      <a:pPr indent="0" lvl="0" marL="0" rtl="0" algn="ctr">
                        <a:spcBef>
                          <a:spcPts val="0"/>
                        </a:spcBef>
                        <a:spcAft>
                          <a:spcPts val="0"/>
                        </a:spcAft>
                        <a:buNone/>
                      </a:pPr>
                      <a:r>
                        <a:rPr b="1" lang="en" sz="1200">
                          <a:solidFill>
                            <a:schemeClr val="lt1"/>
                          </a:solidFill>
                        </a:rPr>
                        <a:t>Training</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a:txBody>
                    <a:bodyPr/>
                    <a:lstStyle/>
                    <a:p>
                      <a:pPr indent="0" lvl="0" marL="0" rtl="0" algn="ctr">
                        <a:spcBef>
                          <a:spcPts val="0"/>
                        </a:spcBef>
                        <a:spcAft>
                          <a:spcPts val="0"/>
                        </a:spcAft>
                        <a:buNone/>
                      </a:pPr>
                      <a:r>
                        <a:rPr b="1" lang="en" sz="1200">
                          <a:solidFill>
                            <a:schemeClr val="lt1"/>
                          </a:solidFill>
                        </a:rPr>
                        <a:t>Validation</a:t>
                      </a:r>
                      <a:endParaRPr b="1" sz="1200">
                        <a:solidFill>
                          <a:schemeClr val="lt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5B9BD5"/>
                    </a:solidFill>
                  </a:tcPr>
                </a:tc>
                <a:tc vMerge="1"/>
              </a:tr>
              <a:tr h="394900">
                <a:tc>
                  <a:txBody>
                    <a:bodyPr/>
                    <a:lstStyle/>
                    <a:p>
                      <a:pPr indent="0" lvl="0" marL="0" rtl="0" algn="ctr">
                        <a:spcBef>
                          <a:spcPts val="0"/>
                        </a:spcBef>
                        <a:spcAft>
                          <a:spcPts val="0"/>
                        </a:spcAft>
                        <a:buNone/>
                      </a:pPr>
                      <a:r>
                        <a:rPr lang="en" sz="1200"/>
                        <a:t>Bagging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0.9803</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0.7057</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Random Forest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1.0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0.7417</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AdaBoost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0.7015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0.76599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Underfitting</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Gradient 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0.7281</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0.7765</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Underfitting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4900">
                <a:tc>
                  <a:txBody>
                    <a:bodyPr/>
                    <a:lstStyle/>
                    <a:p>
                      <a:pPr indent="0" lvl="0" marL="0" rtl="0" algn="ctr">
                        <a:spcBef>
                          <a:spcPts val="0"/>
                        </a:spcBef>
                        <a:spcAft>
                          <a:spcPts val="0"/>
                        </a:spcAft>
                        <a:buNone/>
                      </a:pPr>
                      <a:r>
                        <a:rPr lang="en" sz="1200"/>
                        <a:t>XGBoost Classifier</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0.8720</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 sz="1200"/>
                        <a:t>0.7459</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t>Overfitting</a:t>
                      </a:r>
                      <a:endParaRPr sz="1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82" name="Google Shape;382;p12"/>
          <p:cNvSpPr txBox="1"/>
          <p:nvPr/>
        </p:nvSpPr>
        <p:spPr>
          <a:xfrm>
            <a:off x="648188" y="3934300"/>
            <a:ext cx="7820100" cy="9825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AdaBoost and Gradient Boost Classifiers did better on validation data, but are making lot more mistakes in prediction.</a:t>
            </a:r>
            <a:endParaRPr sz="1300">
              <a:solidFill>
                <a:schemeClr val="dk2"/>
              </a:solidFill>
              <a:latin typeface="Nunito"/>
              <a:ea typeface="Nunito"/>
              <a:cs typeface="Nunito"/>
              <a:sym typeface="Nunito"/>
            </a:endParaRPr>
          </a:p>
          <a:p>
            <a:pPr indent="-311150" lvl="0" marL="457200" rtl="0" algn="l">
              <a:lnSpc>
                <a:spcPct val="115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Bagging, Random Forest and XGBoost classifiers did well on training, but performed poorly on validation data indicating the overfitting.</a:t>
            </a:r>
            <a:endParaRPr sz="1300">
              <a:solidFill>
                <a:schemeClr val="dk2"/>
              </a:solidFill>
              <a:latin typeface="Nunito"/>
              <a:ea typeface="Nunito"/>
              <a:cs typeface="Nunito"/>
              <a:sym typeface="Nuni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388" name="Google Shape;388;p13"/>
          <p:cNvSpPr txBox="1"/>
          <p:nvPr>
            <p:ph idx="1" type="body"/>
          </p:nvPr>
        </p:nvSpPr>
        <p:spPr>
          <a:xfrm>
            <a:off x="202550" y="861975"/>
            <a:ext cx="8629800" cy="1140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Char char="●"/>
            </a:pPr>
            <a:r>
              <a:rPr lang="en" sz="1400">
                <a:solidFill>
                  <a:schemeClr val="dk1"/>
                </a:solidFill>
              </a:rPr>
              <a:t>The goal of Hyperparameter tuning is to find the </a:t>
            </a:r>
            <a:r>
              <a:rPr lang="en" sz="1400">
                <a:solidFill>
                  <a:schemeClr val="dk1"/>
                </a:solidFill>
              </a:rPr>
              <a:t>optimal</a:t>
            </a:r>
            <a:r>
              <a:rPr lang="en" sz="1400">
                <a:solidFill>
                  <a:schemeClr val="dk1"/>
                </a:solidFill>
              </a:rPr>
              <a:t> configuration to maximize the model performance.</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The tuning process should balance between the performance and execution time. </a:t>
            </a:r>
            <a:r>
              <a:rPr lang="en" sz="1400">
                <a:solidFill>
                  <a:schemeClr val="dk1"/>
                </a:solidFill>
              </a:rPr>
              <a:t>Overturning</a:t>
            </a:r>
            <a:r>
              <a:rPr lang="en" sz="1400">
                <a:solidFill>
                  <a:schemeClr val="dk1"/>
                </a:solidFill>
              </a:rPr>
              <a:t> not only takes long </a:t>
            </a:r>
            <a:r>
              <a:rPr lang="en" sz="1400">
                <a:solidFill>
                  <a:schemeClr val="dk1"/>
                </a:solidFill>
              </a:rPr>
              <a:t>execution</a:t>
            </a:r>
            <a:r>
              <a:rPr lang="en" sz="1400">
                <a:solidFill>
                  <a:schemeClr val="dk1"/>
                </a:solidFill>
              </a:rPr>
              <a:t> time, also could lead to overfitting.</a:t>
            </a:r>
            <a:endParaRPr sz="1400">
              <a:solidFill>
                <a:schemeClr val="dk1"/>
              </a:solidFill>
            </a:endParaRPr>
          </a:p>
          <a:p>
            <a:pPr indent="-317500" lvl="0" marL="457200" rtl="0" algn="l">
              <a:lnSpc>
                <a:spcPct val="115000"/>
              </a:lnSpc>
              <a:spcBef>
                <a:spcPts val="1000"/>
              </a:spcBef>
              <a:spcAft>
                <a:spcPts val="0"/>
              </a:spcAft>
              <a:buClr>
                <a:schemeClr val="dk1"/>
              </a:buClr>
              <a:buSzPts val="1400"/>
              <a:buChar char="●"/>
            </a:pPr>
            <a:r>
              <a:rPr lang="en" sz="1400">
                <a:solidFill>
                  <a:schemeClr val="dk1"/>
                </a:solidFill>
              </a:rPr>
              <a:t>The parameters vary based on the model, the following parameters were tuned.</a:t>
            </a:r>
            <a:endParaRPr sz="1400">
              <a:solidFill>
                <a:schemeClr val="dk1"/>
              </a:solidFill>
            </a:endParaRPr>
          </a:p>
          <a:p>
            <a:pPr indent="0" lvl="0" marL="914400" rtl="0" algn="l">
              <a:lnSpc>
                <a:spcPct val="115000"/>
              </a:lnSpc>
              <a:spcBef>
                <a:spcPts val="1000"/>
              </a:spcBef>
              <a:spcAft>
                <a:spcPts val="0"/>
              </a:spcAft>
              <a:buNone/>
            </a:pPr>
            <a:r>
              <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457200" rtl="0" algn="l">
              <a:lnSpc>
                <a:spcPct val="115000"/>
              </a:lnSpc>
              <a:spcBef>
                <a:spcPts val="1000"/>
              </a:spcBef>
              <a:spcAft>
                <a:spcPts val="0"/>
              </a:spcAft>
              <a:buNone/>
            </a:pPr>
            <a:r>
              <a:t/>
            </a:r>
            <a:endParaRPr sz="1400">
              <a:solidFill>
                <a:schemeClr val="dk1"/>
              </a:solidFill>
            </a:endParaRPr>
          </a:p>
          <a:p>
            <a:pPr indent="0" lvl="0" marL="0" rtl="0" algn="l">
              <a:lnSpc>
                <a:spcPct val="115000"/>
              </a:lnSpc>
              <a:spcBef>
                <a:spcPts val="1000"/>
              </a:spcBef>
              <a:spcAft>
                <a:spcPts val="0"/>
              </a:spcAft>
              <a:buSzPts val="1500"/>
              <a:buNone/>
            </a:pPr>
            <a:r>
              <a:t/>
            </a:r>
            <a:endParaRPr sz="1400">
              <a:solidFill>
                <a:schemeClr val="dk1"/>
              </a:solidFill>
            </a:endParaRPr>
          </a:p>
          <a:p>
            <a:pPr indent="0" lvl="0" marL="0" rtl="0" algn="l">
              <a:lnSpc>
                <a:spcPct val="115000"/>
              </a:lnSpc>
              <a:spcBef>
                <a:spcPts val="1000"/>
              </a:spcBef>
              <a:spcAft>
                <a:spcPts val="0"/>
              </a:spcAft>
              <a:buSzPts val="1500"/>
              <a:buNone/>
            </a:pPr>
            <a:r>
              <a:t/>
            </a:r>
            <a:endParaRPr i="1" sz="1200">
              <a:solidFill>
                <a:srgbClr val="000000"/>
              </a:solidFill>
            </a:endParaRPr>
          </a:p>
          <a:p>
            <a:pPr indent="0" lvl="0" marL="0" rtl="0" algn="l">
              <a:lnSpc>
                <a:spcPct val="115000"/>
              </a:lnSpc>
              <a:spcBef>
                <a:spcPts val="1000"/>
              </a:spcBef>
              <a:spcAft>
                <a:spcPts val="1000"/>
              </a:spcAft>
              <a:buSzPts val="1500"/>
              <a:buNone/>
            </a:pPr>
            <a:r>
              <a:t/>
            </a:r>
            <a:endParaRPr i="1" sz="1200">
              <a:solidFill>
                <a:srgbClr val="000000"/>
              </a:solidFill>
            </a:endParaRPr>
          </a:p>
        </p:txBody>
      </p:sp>
      <p:pic>
        <p:nvPicPr>
          <p:cNvPr id="389" name="Google Shape;389;p13"/>
          <p:cNvPicPr preferRelativeResize="0"/>
          <p:nvPr/>
        </p:nvPicPr>
        <p:blipFill>
          <a:blip r:embed="rId3">
            <a:alphaModFix/>
          </a:blip>
          <a:stretch>
            <a:fillRect/>
          </a:stretch>
        </p:blipFill>
        <p:spPr>
          <a:xfrm>
            <a:off x="106705" y="2575831"/>
            <a:ext cx="2176272" cy="798552"/>
          </a:xfrm>
          <a:prstGeom prst="rect">
            <a:avLst/>
          </a:prstGeom>
          <a:noFill/>
          <a:ln>
            <a:noFill/>
          </a:ln>
        </p:spPr>
      </p:pic>
      <p:sp>
        <p:nvSpPr>
          <p:cNvPr id="390" name="Google Shape;390;p13"/>
          <p:cNvSpPr txBox="1"/>
          <p:nvPr/>
        </p:nvSpPr>
        <p:spPr>
          <a:xfrm>
            <a:off x="163825" y="3819832"/>
            <a:ext cx="8446500" cy="1140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000000"/>
              </a:buClr>
              <a:buSzPts val="1400"/>
              <a:buFont typeface="Nunito"/>
              <a:buChar char="●"/>
            </a:pPr>
            <a:r>
              <a:rPr lang="en">
                <a:solidFill>
                  <a:schemeClr val="dk1"/>
                </a:solidFill>
                <a:latin typeface="Nunito"/>
                <a:ea typeface="Nunito"/>
                <a:cs typeface="Nunito"/>
                <a:sym typeface="Nunito"/>
              </a:rPr>
              <a:t>Gradient Boost Classifier, XGBoost Classifier and Random Forest Classifier models performed relatively better.</a:t>
            </a:r>
            <a:endParaRPr>
              <a:solidFill>
                <a:schemeClr val="dk1"/>
              </a:solidFill>
              <a:latin typeface="Nunito"/>
              <a:ea typeface="Nunito"/>
              <a:cs typeface="Nunito"/>
              <a:sym typeface="Nunito"/>
            </a:endParaRPr>
          </a:p>
          <a:p>
            <a:pPr indent="-323850" lvl="0" marL="457200" rtl="0" algn="l">
              <a:lnSpc>
                <a:spcPct val="115000"/>
              </a:lnSpc>
              <a:spcBef>
                <a:spcPts val="1000"/>
              </a:spcBef>
              <a:spcAft>
                <a:spcPts val="0"/>
              </a:spcAft>
              <a:buClr>
                <a:schemeClr val="dk1"/>
              </a:buClr>
              <a:buSzPts val="1500"/>
              <a:buFont typeface="Nunito"/>
              <a:buChar char="●"/>
            </a:pPr>
            <a:r>
              <a:rPr lang="en">
                <a:solidFill>
                  <a:schemeClr val="dk1"/>
                </a:solidFill>
                <a:latin typeface="Nunito"/>
                <a:ea typeface="Nunito"/>
                <a:cs typeface="Nunito"/>
                <a:sym typeface="Nunito"/>
              </a:rPr>
              <a:t>Overall </a:t>
            </a:r>
            <a:r>
              <a:rPr b="1" lang="en">
                <a:solidFill>
                  <a:schemeClr val="dk1"/>
                </a:solidFill>
                <a:latin typeface="Nunito"/>
                <a:ea typeface="Nunito"/>
                <a:cs typeface="Nunito"/>
                <a:sym typeface="Nunito"/>
              </a:rPr>
              <a:t>Gradient Boost Classifier </a:t>
            </a:r>
            <a:r>
              <a:rPr lang="en">
                <a:solidFill>
                  <a:schemeClr val="dk1"/>
                </a:solidFill>
                <a:latin typeface="Nunito"/>
                <a:ea typeface="Nunito"/>
                <a:cs typeface="Nunito"/>
                <a:sym typeface="Nunito"/>
              </a:rPr>
              <a:t>has the best F1 score with identical performance between the Training, Validation and Test data indicating good generalizaiton</a:t>
            </a:r>
            <a:endParaRPr>
              <a:solidFill>
                <a:schemeClr val="dk1"/>
              </a:solidFill>
              <a:latin typeface="Nunito"/>
              <a:ea typeface="Nunito"/>
              <a:cs typeface="Nunito"/>
              <a:sym typeface="Nunito"/>
            </a:endParaRPr>
          </a:p>
        </p:txBody>
      </p:sp>
      <p:sp>
        <p:nvSpPr>
          <p:cNvPr id="391" name="Google Shape;391;p13"/>
          <p:cNvSpPr txBox="1"/>
          <p:nvPr/>
        </p:nvSpPr>
        <p:spPr>
          <a:xfrm>
            <a:off x="163820" y="3407504"/>
            <a:ext cx="2176200" cy="21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Random Forest Classifier</a:t>
            </a:r>
            <a:endParaRPr b="1" sz="1000">
              <a:solidFill>
                <a:schemeClr val="dk2"/>
              </a:solidFill>
              <a:latin typeface="Nunito"/>
              <a:ea typeface="Nunito"/>
              <a:cs typeface="Nunito"/>
              <a:sym typeface="Nunito"/>
            </a:endParaRPr>
          </a:p>
        </p:txBody>
      </p:sp>
      <p:pic>
        <p:nvPicPr>
          <p:cNvPr id="392" name="Google Shape;392;p13"/>
          <p:cNvPicPr preferRelativeResize="0"/>
          <p:nvPr/>
        </p:nvPicPr>
        <p:blipFill>
          <a:blip r:embed="rId4">
            <a:alphaModFix/>
          </a:blip>
          <a:stretch>
            <a:fillRect/>
          </a:stretch>
        </p:blipFill>
        <p:spPr>
          <a:xfrm>
            <a:off x="2221992" y="2574571"/>
            <a:ext cx="2257311" cy="795528"/>
          </a:xfrm>
          <a:prstGeom prst="rect">
            <a:avLst/>
          </a:prstGeom>
          <a:noFill/>
          <a:ln>
            <a:noFill/>
          </a:ln>
        </p:spPr>
      </p:pic>
      <p:sp>
        <p:nvSpPr>
          <p:cNvPr id="393" name="Google Shape;393;p13"/>
          <p:cNvSpPr txBox="1"/>
          <p:nvPr/>
        </p:nvSpPr>
        <p:spPr>
          <a:xfrm>
            <a:off x="2149099" y="3407494"/>
            <a:ext cx="2449800" cy="21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AdaBoost </a:t>
            </a:r>
            <a:r>
              <a:rPr b="1" lang="en" sz="1000">
                <a:solidFill>
                  <a:schemeClr val="dk2"/>
                </a:solidFill>
                <a:latin typeface="Nunito"/>
                <a:ea typeface="Nunito"/>
                <a:cs typeface="Nunito"/>
                <a:sym typeface="Nunito"/>
              </a:rPr>
              <a:t>Classifier</a:t>
            </a:r>
            <a:endParaRPr b="1" sz="1000">
              <a:solidFill>
                <a:schemeClr val="dk2"/>
              </a:solidFill>
              <a:latin typeface="Nunito"/>
              <a:ea typeface="Nunito"/>
              <a:cs typeface="Nunito"/>
              <a:sym typeface="Nunito"/>
            </a:endParaRPr>
          </a:p>
        </p:txBody>
      </p:sp>
      <p:pic>
        <p:nvPicPr>
          <p:cNvPr id="394" name="Google Shape;394;p13"/>
          <p:cNvPicPr preferRelativeResize="0"/>
          <p:nvPr/>
        </p:nvPicPr>
        <p:blipFill>
          <a:blip r:embed="rId5">
            <a:alphaModFix/>
          </a:blip>
          <a:stretch>
            <a:fillRect/>
          </a:stretch>
        </p:blipFill>
        <p:spPr>
          <a:xfrm>
            <a:off x="4408528" y="2575390"/>
            <a:ext cx="2366696" cy="795528"/>
          </a:xfrm>
          <a:prstGeom prst="rect">
            <a:avLst/>
          </a:prstGeom>
          <a:noFill/>
          <a:ln>
            <a:noFill/>
          </a:ln>
        </p:spPr>
      </p:pic>
      <p:sp>
        <p:nvSpPr>
          <p:cNvPr id="395" name="Google Shape;395;p13"/>
          <p:cNvSpPr txBox="1"/>
          <p:nvPr/>
        </p:nvSpPr>
        <p:spPr>
          <a:xfrm>
            <a:off x="4070743" y="3407494"/>
            <a:ext cx="2449800" cy="21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Gradient </a:t>
            </a:r>
            <a:r>
              <a:rPr b="1" lang="en" sz="1000">
                <a:solidFill>
                  <a:schemeClr val="dk2"/>
                </a:solidFill>
                <a:latin typeface="Nunito"/>
                <a:ea typeface="Nunito"/>
                <a:cs typeface="Nunito"/>
                <a:sym typeface="Nunito"/>
              </a:rPr>
              <a:t>Boost</a:t>
            </a:r>
            <a:r>
              <a:rPr b="1" lang="en" sz="1000">
                <a:solidFill>
                  <a:schemeClr val="dk2"/>
                </a:solidFill>
                <a:latin typeface="Nunito"/>
                <a:ea typeface="Nunito"/>
                <a:cs typeface="Nunito"/>
                <a:sym typeface="Nunito"/>
              </a:rPr>
              <a:t> </a:t>
            </a:r>
            <a:r>
              <a:rPr b="1" lang="en" sz="1000">
                <a:solidFill>
                  <a:schemeClr val="dk2"/>
                </a:solidFill>
                <a:latin typeface="Nunito"/>
                <a:ea typeface="Nunito"/>
                <a:cs typeface="Nunito"/>
                <a:sym typeface="Nunito"/>
              </a:rPr>
              <a:t>Classifier</a:t>
            </a:r>
            <a:endParaRPr b="1" sz="1000">
              <a:solidFill>
                <a:schemeClr val="dk2"/>
              </a:solidFill>
              <a:latin typeface="Nunito"/>
              <a:ea typeface="Nunito"/>
              <a:cs typeface="Nunito"/>
              <a:sym typeface="Nunito"/>
            </a:endParaRPr>
          </a:p>
        </p:txBody>
      </p:sp>
      <p:pic>
        <p:nvPicPr>
          <p:cNvPr id="396" name="Google Shape;396;p13"/>
          <p:cNvPicPr preferRelativeResize="0"/>
          <p:nvPr/>
        </p:nvPicPr>
        <p:blipFill>
          <a:blip r:embed="rId6">
            <a:alphaModFix/>
          </a:blip>
          <a:stretch>
            <a:fillRect/>
          </a:stretch>
        </p:blipFill>
        <p:spPr>
          <a:xfrm>
            <a:off x="6775225" y="2575390"/>
            <a:ext cx="2277199" cy="795528"/>
          </a:xfrm>
          <a:prstGeom prst="rect">
            <a:avLst/>
          </a:prstGeom>
          <a:noFill/>
          <a:ln>
            <a:noFill/>
          </a:ln>
        </p:spPr>
      </p:pic>
      <p:sp>
        <p:nvSpPr>
          <p:cNvPr id="397" name="Google Shape;397;p13"/>
          <p:cNvSpPr txBox="1"/>
          <p:nvPr/>
        </p:nvSpPr>
        <p:spPr>
          <a:xfrm>
            <a:off x="6775218" y="3407514"/>
            <a:ext cx="2449800" cy="21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XGBoost Classifier</a:t>
            </a:r>
            <a:endParaRPr b="1" sz="1000">
              <a:solidFill>
                <a:schemeClr val="dk2"/>
              </a:solidFill>
              <a:latin typeface="Nunito"/>
              <a:ea typeface="Nunito"/>
              <a:cs typeface="Nunito"/>
              <a:sym typeface="Nuni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b17ddeb428_0_265"/>
          <p:cNvSpPr txBox="1"/>
          <p:nvPr>
            <p:ph type="title"/>
          </p:nvPr>
        </p:nvSpPr>
        <p:spPr>
          <a:xfrm>
            <a:off x="202550" y="57704"/>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Model Performance - Training, Validation and Test data</a:t>
            </a:r>
            <a:endParaRPr>
              <a:solidFill>
                <a:srgbClr val="000000"/>
              </a:solidFill>
            </a:endParaRPr>
          </a:p>
        </p:txBody>
      </p:sp>
      <p:pic>
        <p:nvPicPr>
          <p:cNvPr id="403" name="Google Shape;403;g3b17ddeb428_0_265"/>
          <p:cNvPicPr preferRelativeResize="0"/>
          <p:nvPr/>
        </p:nvPicPr>
        <p:blipFill>
          <a:blip r:embed="rId3">
            <a:alphaModFix/>
          </a:blip>
          <a:stretch>
            <a:fillRect/>
          </a:stretch>
        </p:blipFill>
        <p:spPr>
          <a:xfrm>
            <a:off x="304800" y="3653750"/>
            <a:ext cx="8418351" cy="1226500"/>
          </a:xfrm>
          <a:prstGeom prst="rect">
            <a:avLst/>
          </a:prstGeom>
          <a:noFill/>
          <a:ln>
            <a:noFill/>
          </a:ln>
        </p:spPr>
      </p:pic>
      <p:pic>
        <p:nvPicPr>
          <p:cNvPr id="404" name="Google Shape;404;g3b17ddeb428_0_265"/>
          <p:cNvPicPr preferRelativeResize="0"/>
          <p:nvPr/>
        </p:nvPicPr>
        <p:blipFill>
          <a:blip r:embed="rId4">
            <a:alphaModFix/>
          </a:blip>
          <a:stretch>
            <a:fillRect/>
          </a:stretch>
        </p:blipFill>
        <p:spPr>
          <a:xfrm>
            <a:off x="304800" y="638681"/>
            <a:ext cx="8283851" cy="1490550"/>
          </a:xfrm>
          <a:prstGeom prst="rect">
            <a:avLst/>
          </a:prstGeom>
          <a:noFill/>
          <a:ln>
            <a:noFill/>
          </a:ln>
        </p:spPr>
      </p:pic>
      <p:pic>
        <p:nvPicPr>
          <p:cNvPr id="405" name="Google Shape;405;g3b17ddeb428_0_265"/>
          <p:cNvPicPr preferRelativeResize="0"/>
          <p:nvPr/>
        </p:nvPicPr>
        <p:blipFill>
          <a:blip r:embed="rId5">
            <a:alphaModFix/>
          </a:blip>
          <a:stretch>
            <a:fillRect/>
          </a:stretch>
        </p:blipFill>
        <p:spPr>
          <a:xfrm>
            <a:off x="304800" y="2165796"/>
            <a:ext cx="8283849" cy="14392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a:solidFill>
                  <a:srgbClr val="000000"/>
                </a:solidFill>
              </a:rPr>
              <a:t>Slide Header</a:t>
            </a:r>
            <a:endParaRPr>
              <a:solidFill>
                <a:srgbClr val="000000"/>
              </a:solidFill>
            </a:endParaRPr>
          </a:p>
        </p:txBody>
      </p:sp>
      <p:sp>
        <p:nvSpPr>
          <p:cNvPr id="411" name="Google Shape;411;p14"/>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1000"/>
              </a:spcAft>
              <a:buClr>
                <a:srgbClr val="000000"/>
              </a:buClr>
              <a:buSzPts val="1400"/>
              <a:buChar char="●"/>
            </a:pPr>
            <a:r>
              <a:rPr lang="en" sz="1400">
                <a:solidFill>
                  <a:schemeClr val="dk1"/>
                </a:solidFill>
              </a:rPr>
              <a:t>Please add any other pointers (if needed)</a:t>
            </a:r>
            <a:endParaRPr sz="14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5"/>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419" name="Google Shape;419;p15"/>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