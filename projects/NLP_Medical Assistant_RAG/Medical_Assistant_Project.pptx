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5143500" cx="9144000"/>
  <p:notesSz cx="6858000" cy="9144000"/>
  <p:embeddedFontLst>
    <p:embeddedFont>
      <p:font typeface="Nunito SemiBold"/>
      <p:regular r:id="rId48"/>
      <p:bold r:id="rId49"/>
      <p:italic r:id="rId50"/>
      <p:boldItalic r:id="rId51"/>
    </p:embeddedFont>
    <p:embeddedFont>
      <p:font typeface="Montserrat SemiBold"/>
      <p:regular r:id="rId52"/>
      <p:bold r:id="rId53"/>
      <p:italic r:id="rId54"/>
      <p:boldItalic r:id="rId55"/>
    </p:embeddedFont>
    <p:embeddedFont>
      <p:font typeface="Nunito ExtraLight"/>
      <p:regular r:id="rId56"/>
      <p:bold r:id="rId57"/>
      <p:italic r:id="rId58"/>
      <p:boldItalic r:id="rId59"/>
    </p:embeddedFont>
    <p:embeddedFont>
      <p:font typeface="Nunito"/>
      <p:regular r:id="rId60"/>
      <p:bold r:id="rId61"/>
      <p:italic r:id="rId62"/>
      <p:boldItalic r:id="rId63"/>
    </p:embeddedFont>
    <p:embeddedFont>
      <p:font typeface="Montserrat"/>
      <p:regular r:id="rId64"/>
      <p:bold r:id="rId65"/>
      <p:italic r:id="rId66"/>
      <p:boldItalic r:id="rId67"/>
    </p:embeddedFont>
    <p:embeddedFont>
      <p:font typeface="Nunito ExtraBold"/>
      <p:bold r:id="rId68"/>
      <p:boldItalic r:id="rId69"/>
    </p:embeddedFont>
    <p:embeddedFont>
      <p:font typeface="Nunito Medium"/>
      <p:regular r:id="rId70"/>
      <p:bold r:id="rId71"/>
      <p:italic r:id="rId72"/>
      <p:boldItalic r:id="rId73"/>
    </p:embeddedFont>
    <p:embeddedFont>
      <p:font typeface="Nunito Light"/>
      <p:regular r:id="rId74"/>
      <p:bold r:id="rId75"/>
      <p:italic r:id="rId76"/>
      <p:boldItalic r:id="rId77"/>
    </p:embeddedFont>
    <p:embeddedFont>
      <p:font typeface="Century Gothic"/>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82" roundtripDataSignature="AMtx7mjVRq12jDvpzYrmVtyLh2PQjhuM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4C17FC-6A83-4D6D-B1C9-C91E281DB364}">
  <a:tblStyle styleId="{A64C17FC-6A83-4D6D-B1C9-C91E281DB364}" styleName="Table_0">
    <a:wholeTbl>
      <a:tcTxStyle b="off" i="off">
        <a:font>
          <a:latin typeface="Arial"/>
          <a:ea typeface="Arial"/>
          <a:cs typeface="Arial"/>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rgbClr val="5B9BD5"/>
              </a:solidFill>
              <a:prstDash val="solid"/>
              <a:round/>
              <a:headEnd len="sm" w="sm" type="none"/>
              <a:tailEnd len="sm" w="sm" type="none"/>
            </a:ln>
          </a:top>
          <a:bottom>
            <a:ln cap="flat" cmpd="sng" w="12700">
              <a:solidFill>
                <a:srgbClr val="5B9BD5"/>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fill>
          <a:solidFill>
            <a:srgbClr val="5B9BD5">
              <a:alpha val="20000"/>
            </a:srgbClr>
          </a:solidFill>
        </a:fill>
      </a:tcStyle>
    </a:band1H>
    <a:band2H>
      <a:tcTxStyle b="off" i="off"/>
    </a:band2H>
    <a:band1V>
      <a:tcTxStyle b="off" i="off"/>
      <a:tcStyle>
        <a:fill>
          <a:solidFill>
            <a:srgbClr val="5B9BD5">
              <a:alpha val="20000"/>
            </a:srgbClr>
          </a:solidFill>
        </a:fill>
      </a:tcStyle>
    </a:band1V>
    <a:band2V>
      <a:tcTxStyle b="off" i="off"/>
    </a:band2V>
    <a:lastCol>
      <a:tcTxStyle b="on" i="off"/>
    </a:lastCol>
    <a:firstCol>
      <a:tcTxStyle b="on" i="off"/>
    </a:firstCol>
    <a:lastRow>
      <a:tcTxStyle b="on" i="off"/>
      <a:tcStyle>
        <a:tcBdr>
          <a:top>
            <a:ln cap="flat" cmpd="sng" w="12700">
              <a:solidFill>
                <a:srgbClr val="5B9BD5"/>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12700">
              <a:solidFill>
                <a:srgbClr val="5B9BD5"/>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 styleId="{A000612D-44B3-4F30-82A5-970832106E2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CenturyGothic-italic.fntdata"/><Relationship Id="rId82" Type="http://customschemas.google.com/relationships/presentationmetadata" Target="metadata"/><Relationship Id="rId81"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NunitoSemiBold-regular.fntdata"/><Relationship Id="rId47" Type="http://schemas.openxmlformats.org/officeDocument/2006/relationships/slide" Target="slides/slide40.xml"/><Relationship Id="rId49" Type="http://schemas.openxmlformats.org/officeDocument/2006/relationships/font" Target="fonts/NunitoSemiBol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NunitoMedium-boldItalic.fntdata"/><Relationship Id="rId72" Type="http://schemas.openxmlformats.org/officeDocument/2006/relationships/font" Target="fonts/NunitoMedium-italic.fntdata"/><Relationship Id="rId31" Type="http://schemas.openxmlformats.org/officeDocument/2006/relationships/slide" Target="slides/slide24.xml"/><Relationship Id="rId75" Type="http://schemas.openxmlformats.org/officeDocument/2006/relationships/font" Target="fonts/NunitoLight-bold.fntdata"/><Relationship Id="rId30" Type="http://schemas.openxmlformats.org/officeDocument/2006/relationships/slide" Target="slides/slide23.xml"/><Relationship Id="rId74" Type="http://schemas.openxmlformats.org/officeDocument/2006/relationships/font" Target="fonts/NunitoLight-regular.fntdata"/><Relationship Id="rId33" Type="http://schemas.openxmlformats.org/officeDocument/2006/relationships/slide" Target="slides/slide26.xml"/><Relationship Id="rId77" Type="http://schemas.openxmlformats.org/officeDocument/2006/relationships/font" Target="fonts/NunitoLight-boldItalic.fntdata"/><Relationship Id="rId32" Type="http://schemas.openxmlformats.org/officeDocument/2006/relationships/slide" Target="slides/slide25.xml"/><Relationship Id="rId76" Type="http://schemas.openxmlformats.org/officeDocument/2006/relationships/font" Target="fonts/NunitoLight-italic.fntdata"/><Relationship Id="rId35" Type="http://schemas.openxmlformats.org/officeDocument/2006/relationships/slide" Target="slides/slide28.xml"/><Relationship Id="rId79" Type="http://schemas.openxmlformats.org/officeDocument/2006/relationships/font" Target="fonts/CenturyGothic-bold.fntdata"/><Relationship Id="rId34" Type="http://schemas.openxmlformats.org/officeDocument/2006/relationships/slide" Target="slides/slide27.xml"/><Relationship Id="rId78" Type="http://schemas.openxmlformats.org/officeDocument/2006/relationships/font" Target="fonts/CenturyGothic-regular.fntdata"/><Relationship Id="rId71" Type="http://schemas.openxmlformats.org/officeDocument/2006/relationships/font" Target="fonts/NunitoMedium-bold.fntdata"/><Relationship Id="rId70" Type="http://schemas.openxmlformats.org/officeDocument/2006/relationships/font" Target="fonts/NunitoMedium-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Nunito-italic.fntdata"/><Relationship Id="rId61" Type="http://schemas.openxmlformats.org/officeDocument/2006/relationships/font" Target="fonts/Nunito-bold.fntdata"/><Relationship Id="rId20" Type="http://schemas.openxmlformats.org/officeDocument/2006/relationships/slide" Target="slides/slide13.xml"/><Relationship Id="rId64" Type="http://schemas.openxmlformats.org/officeDocument/2006/relationships/font" Target="fonts/Montserrat-regular.fntdata"/><Relationship Id="rId63" Type="http://schemas.openxmlformats.org/officeDocument/2006/relationships/font" Target="fonts/Nunito-boldItalic.fntdata"/><Relationship Id="rId22" Type="http://schemas.openxmlformats.org/officeDocument/2006/relationships/slide" Target="slides/slide15.xml"/><Relationship Id="rId66" Type="http://schemas.openxmlformats.org/officeDocument/2006/relationships/font" Target="fonts/Montserrat-italic.fntdata"/><Relationship Id="rId21" Type="http://schemas.openxmlformats.org/officeDocument/2006/relationships/slide" Target="slides/slide14.xml"/><Relationship Id="rId65" Type="http://schemas.openxmlformats.org/officeDocument/2006/relationships/font" Target="fonts/Montserrat-bold.fntdata"/><Relationship Id="rId24" Type="http://schemas.openxmlformats.org/officeDocument/2006/relationships/slide" Target="slides/slide17.xml"/><Relationship Id="rId68" Type="http://schemas.openxmlformats.org/officeDocument/2006/relationships/font" Target="fonts/NunitoExtraBold-bold.fntdata"/><Relationship Id="rId23" Type="http://schemas.openxmlformats.org/officeDocument/2006/relationships/slide" Target="slides/slide16.xml"/><Relationship Id="rId67" Type="http://schemas.openxmlformats.org/officeDocument/2006/relationships/font" Target="fonts/Montserrat-boldItalic.fntdata"/><Relationship Id="rId60" Type="http://schemas.openxmlformats.org/officeDocument/2006/relationships/font" Target="fonts/Nunito-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NunitoExtraBold-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NunitoSemiBold-boldItalic.fntdata"/><Relationship Id="rId50" Type="http://schemas.openxmlformats.org/officeDocument/2006/relationships/font" Target="fonts/NunitoSemiBold-italic.fntdata"/><Relationship Id="rId53" Type="http://schemas.openxmlformats.org/officeDocument/2006/relationships/font" Target="fonts/MontserratSemiBold-bold.fntdata"/><Relationship Id="rId52" Type="http://schemas.openxmlformats.org/officeDocument/2006/relationships/font" Target="fonts/MontserratSemiBold-regular.fntdata"/><Relationship Id="rId11" Type="http://schemas.openxmlformats.org/officeDocument/2006/relationships/slide" Target="slides/slide4.xml"/><Relationship Id="rId55" Type="http://schemas.openxmlformats.org/officeDocument/2006/relationships/font" Target="fonts/MontserratSemiBold-boldItalic.fntdata"/><Relationship Id="rId10" Type="http://schemas.openxmlformats.org/officeDocument/2006/relationships/slide" Target="slides/slide3.xml"/><Relationship Id="rId54" Type="http://schemas.openxmlformats.org/officeDocument/2006/relationships/font" Target="fonts/MontserratSemiBold-italic.fntdata"/><Relationship Id="rId13" Type="http://schemas.openxmlformats.org/officeDocument/2006/relationships/slide" Target="slides/slide6.xml"/><Relationship Id="rId57" Type="http://schemas.openxmlformats.org/officeDocument/2006/relationships/font" Target="fonts/NunitoExtraLight-bold.fntdata"/><Relationship Id="rId12" Type="http://schemas.openxmlformats.org/officeDocument/2006/relationships/slide" Target="slides/slide5.xml"/><Relationship Id="rId56" Type="http://schemas.openxmlformats.org/officeDocument/2006/relationships/font" Target="fonts/NunitoExtraLight-regular.fntdata"/><Relationship Id="rId15" Type="http://schemas.openxmlformats.org/officeDocument/2006/relationships/slide" Target="slides/slide8.xml"/><Relationship Id="rId59" Type="http://schemas.openxmlformats.org/officeDocument/2006/relationships/font" Target="fonts/NunitoExtraLight-boldItalic.fntdata"/><Relationship Id="rId14" Type="http://schemas.openxmlformats.org/officeDocument/2006/relationships/slide" Target="slides/slide7.xml"/><Relationship Id="rId58" Type="http://schemas.openxmlformats.org/officeDocument/2006/relationships/font" Target="fonts/NunitoExtraLight-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dee866a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cdee866af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dbb33ee7c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cdbb33ee7c_0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dbb33ee7c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3cdbb33ee7c_0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d6a9c3ab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3cd6a9c3abf_0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d6a9c3abf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cd6a9c3abf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d6a9c3abf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cd6a9c3abf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cd6a9c3abf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cd6a9c3abf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cd6a9c3abf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cd6a9c3abf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cd6a9c3abf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g3cd6a9c3abf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d6a9c3abf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cd6a9c3abf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dbb33ee7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3cdbb33ee7c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d6a9c3abf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cd6a9c3abf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cdbb33ee7c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3cdbb33ee7c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dbb33ee7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g3cdbb33ee7c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cdbb33ee7c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cdbb33ee7c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cdbb33ee7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g3cdbb33ee7c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cdbb33ee7c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g3cdbb33ee7c_0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cdbb33ee7c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g3cdbb33ee7c_0_2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cdbb33ee7c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g3cdbb33ee7c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cdbb33ee7c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g3cdbb33ee7c_0_2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cdbb33ee7c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g3cdbb33ee7c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cdbb33ee7c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8" name="Google Shape;438;g3cdbb33ee7c_0_2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cdbb33ee7c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g3cdbb33ee7c_0_2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cdbb33ee7c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g3cdbb33ee7c_0_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cdbb33ee7c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g3cdbb33ee7c_0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cdbb33ee7c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3cdbb33ee7c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cdbb33ee7c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3cdbb33ee7c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cdbb33ee7c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3cdbb33ee7c_0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cdbb33ee7c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8" name="Google Shape;498;g3cdbb33ee7c_0_3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cdbb33ee7c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3cdbb33ee7c_0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cdbb33ee7c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3cdbb33ee7c_0_3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 name="Google Shape;5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7" name="Google Shape;5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cdee866af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g3cdee866af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cdee866af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cdee866af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
        <p:nvSpPr>
          <p:cNvPr id="546" name="Google Shape;546;p13: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Proprietary content. ©Great Learning. All Rights Reserved. Unauthorized use or distribution prohibited</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1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6" name="Google Shape;16;p15"/>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7" name="Google Shape;17;p1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8"/>
          <p:cNvSpPr txBox="1"/>
          <p:nvPr>
            <p:ph type="ctrTitle"/>
          </p:nvPr>
        </p:nvSpPr>
        <p:spPr>
          <a:xfrm>
            <a:off x="2210208" y="744575"/>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20" name="Google Shape;20;p18"/>
          <p:cNvSpPr txBox="1"/>
          <p:nvPr>
            <p:ph idx="1" type="subTitle"/>
          </p:nvPr>
        </p:nvSpPr>
        <p:spPr>
          <a:xfrm>
            <a:off x="2210202" y="2834125"/>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23" name="Google Shape;23;p19"/>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24" name="Shape 24"/>
        <p:cNvGrpSpPr/>
        <p:nvPr/>
      </p:nvGrpSpPr>
      <p:grpSpPr>
        <a:xfrm>
          <a:off x="0" y="0"/>
          <a:ext cx="0" cy="0"/>
          <a:chOff x="0" y="0"/>
          <a:chExt cx="0" cy="0"/>
        </a:xfrm>
      </p:grpSpPr>
      <p:sp>
        <p:nvSpPr>
          <p:cNvPr id="25" name="Google Shape;25;p20"/>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26" name="Google Shape;26;p20"/>
          <p:cNvGraphicFramePr/>
          <p:nvPr/>
        </p:nvGraphicFramePr>
        <p:xfrm>
          <a:off x="201942" y="833662"/>
          <a:ext cx="3000000" cy="3000000"/>
        </p:xfrm>
        <a:graphic>
          <a:graphicData uri="http://schemas.openxmlformats.org/drawingml/2006/table">
            <a:tbl>
              <a:tblPr bandRow="1" firstRow="1">
                <a:noFill/>
                <a:tableStyleId>{A64C17FC-6A83-4D6D-B1C9-C91E281DB364}</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27" name="Google Shape;27;p20"/>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21"/>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0" name="Google Shape;30;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2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22"/>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35" name="Google Shape;35;p2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44" name="Google Shape;44;p2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2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7" name="Shape 47"/>
        <p:cNvGrpSpPr/>
        <p:nvPr/>
      </p:nvGrpSpPr>
      <p:grpSpPr>
        <a:xfrm>
          <a:off x="0" y="0"/>
          <a:ext cx="0" cy="0"/>
          <a:chOff x="0" y="0"/>
          <a:chExt cx="0" cy="0"/>
        </a:xfrm>
      </p:grpSpPr>
      <p:sp>
        <p:nvSpPr>
          <p:cNvPr id="48" name="Google Shape;48;p26"/>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49" name="Google Shape;49;p26"/>
          <p:cNvPicPr preferRelativeResize="0"/>
          <p:nvPr/>
        </p:nvPicPr>
        <p:blipFill rotWithShape="1">
          <a:blip r:embed="rId2">
            <a:alphaModFix/>
          </a:blip>
          <a:srcRect b="19150" l="42816" r="37295" t="18358"/>
          <a:stretch/>
        </p:blipFill>
        <p:spPr>
          <a:xfrm>
            <a:off x="6052536" y="514443"/>
            <a:ext cx="2095112" cy="3703320"/>
          </a:xfrm>
          <a:prstGeom prst="rect">
            <a:avLst/>
          </a:prstGeom>
          <a:noFill/>
          <a:ln>
            <a:noFill/>
          </a:ln>
        </p:spPr>
      </p:pic>
      <p:sp>
        <p:nvSpPr>
          <p:cNvPr id="50" name="Google Shape;50;p26"/>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51" name="Google Shape;51;p26"/>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Happy Learning !</a:t>
            </a:r>
            <a:endParaRPr b="0" i="0" sz="3300" u="none" cap="none" strike="noStrike">
              <a:solidFill>
                <a:schemeClr val="lt1"/>
              </a:solidFill>
              <a:latin typeface="Nunito ExtraBold"/>
              <a:ea typeface="Nunito ExtraBold"/>
              <a:cs typeface="Nunito ExtraBold"/>
              <a:sym typeface="Nunito ExtraBold"/>
            </a:endParaRPr>
          </a:p>
        </p:txBody>
      </p:sp>
      <p:pic>
        <p:nvPicPr>
          <p:cNvPr id="52" name="Google Shape;52;p26"/>
          <p:cNvPicPr preferRelativeResize="0"/>
          <p:nvPr/>
        </p:nvPicPr>
        <p:blipFill rotWithShape="1">
          <a:blip r:embed="rId3">
            <a:alphaModFix/>
          </a:blip>
          <a:srcRect b="0" l="0" r="0" t="0"/>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27"/>
          <p:cNvSpPr txBox="1"/>
          <p:nvPr>
            <p:ph type="title"/>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algn="l">
              <a:lnSpc>
                <a:spcPct val="100000"/>
              </a:lnSpc>
              <a:spcBef>
                <a:spcPts val="0"/>
              </a:spcBef>
              <a:spcAft>
                <a:spcPts val="0"/>
              </a:spcAft>
              <a:buClr>
                <a:schemeClr val="dk1"/>
              </a:buClr>
              <a:buSzPts val="3000"/>
              <a:buFont typeface="Arial"/>
              <a:buNone/>
              <a:defRPr b="1" i="0" sz="3000" u="none" cap="none" strike="noStrik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p:txBody>
      </p:sp>
      <p:sp>
        <p:nvSpPr>
          <p:cNvPr id="55" name="Google Shape;55;p27"/>
          <p:cNvSpPr txBox="1"/>
          <p:nvPr>
            <p:ph idx="1" type="body"/>
          </p:nvPr>
        </p:nvSpPr>
        <p:spPr>
          <a:xfrm>
            <a:off x="457200" y="1021842"/>
            <a:ext cx="8229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15000"/>
              </a:lnSpc>
              <a:spcBef>
                <a:spcPts val="360"/>
              </a:spcBef>
              <a:spcAft>
                <a:spcPts val="0"/>
              </a:spcAft>
              <a:buClr>
                <a:schemeClr val="dk1"/>
              </a:buClr>
              <a:buSzPts val="1800"/>
              <a:buChar char="●"/>
              <a:defRPr/>
            </a:lvl1pPr>
            <a:lvl2pPr indent="-342900" lvl="1" marL="914400" algn="l">
              <a:lnSpc>
                <a:spcPct val="115000"/>
              </a:lnSpc>
              <a:spcBef>
                <a:spcPts val="1600"/>
              </a:spcBef>
              <a:spcAft>
                <a:spcPts val="0"/>
              </a:spcAft>
              <a:buClr>
                <a:schemeClr val="dk1"/>
              </a:buClr>
              <a:buSzPts val="1800"/>
              <a:buChar char="○"/>
              <a:defRPr/>
            </a:lvl2pPr>
            <a:lvl3pPr indent="-342900" lvl="2" marL="1371600" algn="l">
              <a:lnSpc>
                <a:spcPct val="115000"/>
              </a:lnSpc>
              <a:spcBef>
                <a:spcPts val="1600"/>
              </a:spcBef>
              <a:spcAft>
                <a:spcPts val="0"/>
              </a:spcAft>
              <a:buClr>
                <a:schemeClr val="dk1"/>
              </a:buClr>
              <a:buSzPts val="1800"/>
              <a:buChar char="■"/>
              <a:defRPr/>
            </a:lvl3pPr>
            <a:lvl4pPr indent="-342900" lvl="3" marL="1828800" algn="l">
              <a:lnSpc>
                <a:spcPct val="115000"/>
              </a:lnSpc>
              <a:spcBef>
                <a:spcPts val="1600"/>
              </a:spcBef>
              <a:spcAft>
                <a:spcPts val="0"/>
              </a:spcAft>
              <a:buClr>
                <a:schemeClr val="dk1"/>
              </a:buClr>
              <a:buSzPts val="1800"/>
              <a:buChar char="●"/>
              <a:defRPr/>
            </a:lvl4pPr>
            <a:lvl5pPr indent="-342900" lvl="4" marL="2286000" algn="l">
              <a:lnSpc>
                <a:spcPct val="115000"/>
              </a:lnSpc>
              <a:spcBef>
                <a:spcPts val="1600"/>
              </a:spcBef>
              <a:spcAft>
                <a:spcPts val="0"/>
              </a:spcAft>
              <a:buClr>
                <a:schemeClr val="dk1"/>
              </a:buClr>
              <a:buSzPts val="1800"/>
              <a:buChar char="○"/>
              <a:defRPr/>
            </a:lvl5pPr>
            <a:lvl6pPr indent="-342900" lvl="5" marL="2743200" algn="l">
              <a:lnSpc>
                <a:spcPct val="115000"/>
              </a:lnSpc>
              <a:spcBef>
                <a:spcPts val="1600"/>
              </a:spcBef>
              <a:spcAft>
                <a:spcPts val="0"/>
              </a:spcAft>
              <a:buClr>
                <a:schemeClr val="dk1"/>
              </a:buClr>
              <a:buSzPts val="1800"/>
              <a:buChar char="■"/>
              <a:defRPr/>
            </a:lvl6pPr>
            <a:lvl7pPr indent="-342900" lvl="6" marL="3200400" algn="l">
              <a:lnSpc>
                <a:spcPct val="115000"/>
              </a:lnSpc>
              <a:spcBef>
                <a:spcPts val="1600"/>
              </a:spcBef>
              <a:spcAft>
                <a:spcPts val="0"/>
              </a:spcAft>
              <a:buClr>
                <a:schemeClr val="dk1"/>
              </a:buClr>
              <a:buSzPts val="1800"/>
              <a:buChar char="●"/>
              <a:defRPr/>
            </a:lvl7pPr>
            <a:lvl8pPr indent="-342900" lvl="7" marL="3657600" algn="l">
              <a:lnSpc>
                <a:spcPct val="115000"/>
              </a:lnSpc>
              <a:spcBef>
                <a:spcPts val="1600"/>
              </a:spcBef>
              <a:spcAft>
                <a:spcPts val="0"/>
              </a:spcAft>
              <a:buClr>
                <a:schemeClr val="dk1"/>
              </a:buClr>
              <a:buSzPts val="1800"/>
              <a:buChar char="○"/>
              <a:defRPr/>
            </a:lvl8pPr>
            <a:lvl9pPr indent="-342900" lvl="8" marL="4114800" algn="l">
              <a:lnSpc>
                <a:spcPct val="115000"/>
              </a:lnSpc>
              <a:spcBef>
                <a:spcPts val="1600"/>
              </a:spcBef>
              <a:spcAft>
                <a:spcPts val="1600"/>
              </a:spcAft>
              <a:buClr>
                <a:schemeClr val="dk1"/>
              </a:buClr>
              <a:buSzPts val="1800"/>
              <a:buChar char="■"/>
              <a:defRPr/>
            </a:lvl9pPr>
          </a:lstStyle>
          <a:p/>
        </p:txBody>
      </p:sp>
      <p:sp>
        <p:nvSpPr>
          <p:cNvPr id="56" name="Google Shape;56;p27"/>
          <p:cNvSpPr txBox="1"/>
          <p:nvPr>
            <p:ph idx="10" type="dt"/>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7" name="Google Shape;57;p27"/>
          <p:cNvSpPr txBox="1"/>
          <p:nvPr>
            <p:ph idx="11" type="ftr"/>
          </p:nvPr>
        </p:nvSpPr>
        <p:spPr>
          <a:xfrm>
            <a:off x="0" y="0"/>
            <a:ext cx="3000000" cy="225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8" name="Google Shape;58;p27"/>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9" name="Shape 59"/>
        <p:cNvGrpSpPr/>
        <p:nvPr/>
      </p:nvGrpSpPr>
      <p:grpSpPr>
        <a:xfrm>
          <a:off x="0" y="0"/>
          <a:ext cx="0" cy="0"/>
          <a:chOff x="0" y="0"/>
          <a:chExt cx="0" cy="0"/>
        </a:xfrm>
      </p:grpSpPr>
      <p:sp>
        <p:nvSpPr>
          <p:cNvPr id="60" name="Google Shape;60;p28"/>
          <p:cNvSpPr txBox="1"/>
          <p:nvPr>
            <p:ph idx="10" type="dt"/>
          </p:nvPr>
        </p:nvSpPr>
        <p:spPr>
          <a:xfrm>
            <a:off x="457200" y="4857749"/>
            <a:ext cx="2133600" cy="20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1" name="Google Shape;61;p28"/>
          <p:cNvSpPr txBox="1"/>
          <p:nvPr>
            <p:ph idx="11" type="ftr"/>
          </p:nvPr>
        </p:nvSpPr>
        <p:spPr>
          <a:xfrm>
            <a:off x="2640596" y="4857749"/>
            <a:ext cx="5507700" cy="20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2" name="Google Shape;62;p28"/>
          <p:cNvSpPr txBox="1"/>
          <p:nvPr>
            <p:ph idx="12" type="sldNum"/>
          </p:nvPr>
        </p:nvSpPr>
        <p:spPr>
          <a:xfrm>
            <a:off x="8204396" y="4857749"/>
            <a:ext cx="733800" cy="2058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800"/>
              <a:buFont typeface="Arial"/>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63" name="Shape 63"/>
        <p:cNvGrpSpPr/>
        <p:nvPr/>
      </p:nvGrpSpPr>
      <p:grpSpPr>
        <a:xfrm>
          <a:off x="0" y="0"/>
          <a:ext cx="0" cy="0"/>
          <a:chOff x="0" y="0"/>
          <a:chExt cx="0" cy="0"/>
        </a:xfrm>
      </p:grpSpPr>
      <p:sp>
        <p:nvSpPr>
          <p:cNvPr id="64" name="Google Shape;64;p29"/>
          <p:cNvSpPr txBox="1"/>
          <p:nvPr>
            <p:ph type="title"/>
          </p:nvPr>
        </p:nvSpPr>
        <p:spPr>
          <a:xfrm>
            <a:off x="569519" y="142741"/>
            <a:ext cx="8004900" cy="934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0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65" name="Google Shape;65;p29"/>
          <p:cNvSpPr txBox="1"/>
          <p:nvPr>
            <p:ph idx="1" type="body"/>
          </p:nvPr>
        </p:nvSpPr>
        <p:spPr>
          <a:xfrm>
            <a:off x="1412081" y="930269"/>
            <a:ext cx="6319800" cy="23631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b="0" i="0" sz="1900">
                <a:solidFill>
                  <a:schemeClr val="dk1"/>
                </a:solidFill>
                <a:latin typeface="Calibri"/>
                <a:ea typeface="Calibri"/>
                <a:cs typeface="Calibri"/>
                <a:sym typeface="Calibri"/>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66" name="Google Shape;66;p29"/>
          <p:cNvSpPr txBox="1"/>
          <p:nvPr>
            <p:ph idx="11" type="ftr"/>
          </p:nvPr>
        </p:nvSpPr>
        <p:spPr>
          <a:xfrm>
            <a:off x="1574006" y="4988871"/>
            <a:ext cx="55650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 name="Google Shape;67;p29"/>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29"/>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_1">
    <p:spTree>
      <p:nvGrpSpPr>
        <p:cNvPr id="69" name="Shape 69"/>
        <p:cNvGrpSpPr/>
        <p:nvPr/>
      </p:nvGrpSpPr>
      <p:grpSpPr>
        <a:xfrm>
          <a:off x="0" y="0"/>
          <a:ext cx="0" cy="0"/>
          <a:chOff x="0" y="0"/>
          <a:chExt cx="0" cy="0"/>
        </a:xfrm>
      </p:grpSpPr>
      <p:sp>
        <p:nvSpPr>
          <p:cNvPr id="70" name="Google Shape;70;p30"/>
          <p:cNvSpPr txBox="1"/>
          <p:nvPr>
            <p:ph type="title"/>
          </p:nvPr>
        </p:nvSpPr>
        <p:spPr>
          <a:xfrm>
            <a:off x="3932967" y="348900"/>
            <a:ext cx="12780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3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1" name="Google Shape;71;p30"/>
          <p:cNvSpPr txBox="1"/>
          <p:nvPr>
            <p:ph idx="11" type="ftr"/>
          </p:nvPr>
        </p:nvSpPr>
        <p:spPr>
          <a:xfrm>
            <a:off x="1712499" y="5010073"/>
            <a:ext cx="55644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 name="Google Shape;72;p30"/>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 name="Google Shape;73;p30"/>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_2">
    <p:spTree>
      <p:nvGrpSpPr>
        <p:cNvPr id="74" name="Shape 74"/>
        <p:cNvGrpSpPr/>
        <p:nvPr/>
      </p:nvGrpSpPr>
      <p:grpSpPr>
        <a:xfrm>
          <a:off x="0" y="0"/>
          <a:ext cx="0" cy="0"/>
          <a:chOff x="0" y="0"/>
          <a:chExt cx="0" cy="0"/>
        </a:xfrm>
      </p:grpSpPr>
      <p:sp>
        <p:nvSpPr>
          <p:cNvPr id="75" name="Google Shape;75;p31"/>
          <p:cNvSpPr txBox="1"/>
          <p:nvPr>
            <p:ph type="title"/>
          </p:nvPr>
        </p:nvSpPr>
        <p:spPr>
          <a:xfrm>
            <a:off x="3932967" y="348900"/>
            <a:ext cx="1278000" cy="521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330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76" name="Google Shape;76;p31"/>
          <p:cNvSpPr txBox="1"/>
          <p:nvPr>
            <p:ph idx="11" type="ftr"/>
          </p:nvPr>
        </p:nvSpPr>
        <p:spPr>
          <a:xfrm>
            <a:off x="1712499" y="5010073"/>
            <a:ext cx="5564400" cy="15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7E7E7E"/>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7" name="Google Shape;77;p3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8" name="Google Shape;78;p31"/>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_3">
    <p:spTree>
      <p:nvGrpSpPr>
        <p:cNvPr id="79" name="Shape 79"/>
        <p:cNvGrpSpPr/>
        <p:nvPr/>
      </p:nvGrpSpPr>
      <p:grpSpPr>
        <a:xfrm>
          <a:off x="0" y="0"/>
          <a:ext cx="0" cy="0"/>
          <a:chOff x="0" y="0"/>
          <a:chExt cx="0" cy="0"/>
        </a:xfrm>
      </p:grpSpPr>
      <p:sp>
        <p:nvSpPr>
          <p:cNvPr id="80" name="Google Shape;80;p32"/>
          <p:cNvSpPr txBox="1"/>
          <p:nvPr>
            <p:ph type="title"/>
          </p:nvPr>
        </p:nvSpPr>
        <p:spPr>
          <a:xfrm>
            <a:off x="390424" y="497078"/>
            <a:ext cx="8363100" cy="45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28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1" name="Google Shape;81;p32"/>
          <p:cNvSpPr txBox="1"/>
          <p:nvPr>
            <p:ph idx="11" type="ftr"/>
          </p:nvPr>
        </p:nvSpPr>
        <p:spPr>
          <a:xfrm>
            <a:off x="2879178" y="4948409"/>
            <a:ext cx="3503400" cy="1110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7D7D7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2" name="Google Shape;82;p32"/>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3" name="Google Shape;83;p32"/>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OBJECT_1">
    <p:spTree>
      <p:nvGrpSpPr>
        <p:cNvPr id="84" name="Shape 84"/>
        <p:cNvGrpSpPr/>
        <p:nvPr/>
      </p:nvGrpSpPr>
      <p:grpSpPr>
        <a:xfrm>
          <a:off x="0" y="0"/>
          <a:ext cx="0" cy="0"/>
          <a:chOff x="0" y="0"/>
          <a:chExt cx="0" cy="0"/>
        </a:xfrm>
      </p:grpSpPr>
      <p:sp>
        <p:nvSpPr>
          <p:cNvPr id="85" name="Google Shape;85;p33"/>
          <p:cNvSpPr txBox="1"/>
          <p:nvPr>
            <p:ph type="ctrTitle"/>
          </p:nvPr>
        </p:nvSpPr>
        <p:spPr>
          <a:xfrm>
            <a:off x="2938259" y="1851799"/>
            <a:ext cx="3267600" cy="818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0" i="0" sz="520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86" name="Google Shape;86;p33"/>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p:txBody>
      </p:sp>
      <p:sp>
        <p:nvSpPr>
          <p:cNvPr id="87" name="Google Shape;87;p33"/>
          <p:cNvSpPr txBox="1"/>
          <p:nvPr>
            <p:ph idx="11" type="ftr"/>
          </p:nvPr>
        </p:nvSpPr>
        <p:spPr>
          <a:xfrm>
            <a:off x="2879178" y="4948409"/>
            <a:ext cx="3503400" cy="1110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600" u="none" cap="none" strike="noStrike">
                <a:solidFill>
                  <a:srgbClr val="7D7D7D"/>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8" name="Google Shape;88;p3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9" name="Google Shape;89;p33"/>
          <p:cNvSpPr txBox="1"/>
          <p:nvPr>
            <p:ph idx="12" type="sldNum"/>
          </p:nvPr>
        </p:nvSpPr>
        <p:spPr>
          <a:xfrm>
            <a:off x="6583680" y="4783455"/>
            <a:ext cx="2103000" cy="1230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800"/>
              <a:buFont typeface="Arial"/>
              <a:buNone/>
              <a:defRPr b="1" i="0" sz="800" u="none" cap="none" strike="noStrike">
                <a:solidFill>
                  <a:srgbClr val="888888"/>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OBJECT_2">
    <p:spTree>
      <p:nvGrpSpPr>
        <p:cNvPr id="90" name="Shape 90"/>
        <p:cNvGrpSpPr/>
        <p:nvPr/>
      </p:nvGrpSpPr>
      <p:grpSpPr>
        <a:xfrm>
          <a:off x="0" y="0"/>
          <a:ext cx="0" cy="0"/>
          <a:chOff x="0" y="0"/>
          <a:chExt cx="0" cy="0"/>
        </a:xfrm>
      </p:grpSpPr>
      <p:sp>
        <p:nvSpPr>
          <p:cNvPr id="91" name="Google Shape;91;p34"/>
          <p:cNvSpPr txBox="1"/>
          <p:nvPr>
            <p:ph type="title"/>
          </p:nvPr>
        </p:nvSpPr>
        <p:spPr>
          <a:xfrm>
            <a:off x="3368992" y="2453440"/>
            <a:ext cx="2406000" cy="224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14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92" name="Google Shape;92;p3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3" name="Google Shape;93;p3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4" name="Google Shape;94;p34"/>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p:spTree>
      <p:nvGrpSpPr>
        <p:cNvPr id="95" name="Shape 95"/>
        <p:cNvGrpSpPr/>
        <p:nvPr/>
      </p:nvGrpSpPr>
      <p:grpSpPr>
        <a:xfrm>
          <a:off x="0" y="0"/>
          <a:ext cx="0" cy="0"/>
          <a:chOff x="0" y="0"/>
          <a:chExt cx="0" cy="0"/>
        </a:xfrm>
      </p:grpSpPr>
      <p:sp>
        <p:nvSpPr>
          <p:cNvPr id="96" name="Google Shape;96;p3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7" name="Google Shape;97;p3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8" name="Google Shape;98;p35"/>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99" name="Shape 99"/>
        <p:cNvGrpSpPr/>
        <p:nvPr/>
      </p:nvGrpSpPr>
      <p:grpSpPr>
        <a:xfrm>
          <a:off x="0" y="0"/>
          <a:ext cx="0" cy="0"/>
          <a:chOff x="0" y="0"/>
          <a:chExt cx="0" cy="0"/>
        </a:xfrm>
      </p:grpSpPr>
      <p:sp>
        <p:nvSpPr>
          <p:cNvPr id="100" name="Google Shape;100;p36"/>
          <p:cNvSpPr txBox="1"/>
          <p:nvPr>
            <p:ph type="title"/>
          </p:nvPr>
        </p:nvSpPr>
        <p:spPr>
          <a:xfrm>
            <a:off x="3368992" y="2453440"/>
            <a:ext cx="2406000" cy="224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140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01" name="Google Shape;101;p36"/>
          <p:cNvSpPr txBox="1"/>
          <p:nvPr>
            <p:ph idx="1" type="body"/>
          </p:nvPr>
        </p:nvSpPr>
        <p:spPr>
          <a:xfrm>
            <a:off x="45720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102" name="Google Shape;102;p36"/>
          <p:cNvSpPr txBox="1"/>
          <p:nvPr>
            <p:ph idx="2" type="body"/>
          </p:nvPr>
        </p:nvSpPr>
        <p:spPr>
          <a:xfrm>
            <a:off x="4709160" y="1183005"/>
            <a:ext cx="3977700" cy="3394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500"/>
              <a:buNone/>
              <a:defRPr/>
            </a:lvl1pPr>
            <a:lvl2pPr indent="-228600" lvl="1" marL="914400" algn="l">
              <a:lnSpc>
                <a:spcPct val="115000"/>
              </a:lnSpc>
              <a:spcBef>
                <a:spcPts val="1600"/>
              </a:spcBef>
              <a:spcAft>
                <a:spcPts val="0"/>
              </a:spcAft>
              <a:buSzPts val="1300"/>
              <a:buNone/>
              <a:defRPr/>
            </a:lvl2pPr>
            <a:lvl3pPr indent="-228600" lvl="2" marL="1371600" algn="l">
              <a:lnSpc>
                <a:spcPct val="115000"/>
              </a:lnSpc>
              <a:spcBef>
                <a:spcPts val="1600"/>
              </a:spcBef>
              <a:spcAft>
                <a:spcPts val="0"/>
              </a:spcAft>
              <a:buSzPts val="1200"/>
              <a:buNone/>
              <a:defRPr/>
            </a:lvl3pPr>
            <a:lvl4pPr indent="-228600" lvl="3" marL="1828800" algn="l">
              <a:lnSpc>
                <a:spcPct val="115000"/>
              </a:lnSpc>
              <a:spcBef>
                <a:spcPts val="1600"/>
              </a:spcBef>
              <a:spcAft>
                <a:spcPts val="0"/>
              </a:spcAft>
              <a:buSzPts val="1100"/>
              <a:buNone/>
              <a:defRPr/>
            </a:lvl4pPr>
            <a:lvl5pPr indent="-228600" lvl="4" marL="2286000" algn="l">
              <a:lnSpc>
                <a:spcPct val="115000"/>
              </a:lnSpc>
              <a:spcBef>
                <a:spcPts val="1600"/>
              </a:spcBef>
              <a:spcAft>
                <a:spcPts val="0"/>
              </a:spcAft>
              <a:buSzPts val="1000"/>
              <a:buNone/>
              <a:defRPr/>
            </a:lvl5pPr>
            <a:lvl6pPr indent="-228600" lvl="5" marL="2743200" algn="l">
              <a:lnSpc>
                <a:spcPct val="115000"/>
              </a:lnSpc>
              <a:spcBef>
                <a:spcPts val="1600"/>
              </a:spcBef>
              <a:spcAft>
                <a:spcPts val="0"/>
              </a:spcAft>
              <a:buSzPts val="900"/>
              <a:buNone/>
              <a:defRPr/>
            </a:lvl6pPr>
            <a:lvl7pPr indent="-228600" lvl="6" marL="3200400" algn="l">
              <a:lnSpc>
                <a:spcPct val="115000"/>
              </a:lnSpc>
              <a:spcBef>
                <a:spcPts val="1600"/>
              </a:spcBef>
              <a:spcAft>
                <a:spcPts val="0"/>
              </a:spcAft>
              <a:buSzPts val="800"/>
              <a:buNone/>
              <a:defRPr/>
            </a:lvl7pPr>
            <a:lvl8pPr indent="-228600" lvl="7" marL="3657600" algn="l">
              <a:lnSpc>
                <a:spcPct val="115000"/>
              </a:lnSpc>
              <a:spcBef>
                <a:spcPts val="1600"/>
              </a:spcBef>
              <a:spcAft>
                <a:spcPts val="0"/>
              </a:spcAft>
              <a:buSzPts val="700"/>
              <a:buNone/>
              <a:defRPr/>
            </a:lvl8pPr>
            <a:lvl9pPr indent="-228600" lvl="8" marL="4114800" algn="l">
              <a:lnSpc>
                <a:spcPct val="115000"/>
              </a:lnSpc>
              <a:spcBef>
                <a:spcPts val="1600"/>
              </a:spcBef>
              <a:spcAft>
                <a:spcPts val="1600"/>
              </a:spcAft>
              <a:buSzPts val="600"/>
              <a:buNone/>
              <a:defRPr/>
            </a:lvl9pPr>
          </a:lstStyle>
          <a:p/>
        </p:txBody>
      </p:sp>
      <p:sp>
        <p:nvSpPr>
          <p:cNvPr id="103" name="Google Shape;103;p3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4" name="Google Shape;104;p3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5" name="Google Shape;105;p36"/>
          <p:cNvSpPr txBox="1"/>
          <p:nvPr>
            <p:ph idx="12" type="sldNum"/>
          </p:nvPr>
        </p:nvSpPr>
        <p:spPr>
          <a:xfrm>
            <a:off x="50889" y="4980883"/>
            <a:ext cx="216600" cy="1230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800"/>
              <a:buFont typeface="Arial"/>
              <a:buNone/>
              <a:defRPr b="0" i="0" sz="800" u="none" cap="none" strike="noStrike">
                <a:solidFill>
                  <a:srgbClr val="7E7E7E"/>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OBJECT_1_1">
    <p:spTree>
      <p:nvGrpSpPr>
        <p:cNvPr id="106" name="Shape 106"/>
        <p:cNvGrpSpPr/>
        <p:nvPr/>
      </p:nvGrpSpPr>
      <p:grpSpPr>
        <a:xfrm>
          <a:off x="0" y="0"/>
          <a:ext cx="0" cy="0"/>
          <a:chOff x="0" y="0"/>
          <a:chExt cx="0" cy="0"/>
        </a:xfrm>
      </p:grpSpPr>
      <p:sp>
        <p:nvSpPr>
          <p:cNvPr id="107" name="Google Shape;107;p37"/>
          <p:cNvSpPr txBox="1"/>
          <p:nvPr>
            <p:ph type="title"/>
          </p:nvPr>
        </p:nvSpPr>
        <p:spPr>
          <a:xfrm>
            <a:off x="2936867" y="2199322"/>
            <a:ext cx="3275400" cy="673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200"/>
              <a:buNone/>
              <a:defRPr b="1" i="0" sz="430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08" name="Google Shape;108;p37"/>
          <p:cNvSpPr txBox="1"/>
          <p:nvPr>
            <p:ph idx="11" type="ftr"/>
          </p:nvPr>
        </p:nvSpPr>
        <p:spPr>
          <a:xfrm>
            <a:off x="708292" y="4920311"/>
            <a:ext cx="6447300" cy="178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9" name="Google Shape;109;p37"/>
          <p:cNvSpPr txBox="1"/>
          <p:nvPr>
            <p:ph idx="10" type="dt"/>
          </p:nvPr>
        </p:nvSpPr>
        <p:spPr>
          <a:xfrm>
            <a:off x="457452" y="4783454"/>
            <a:ext cx="21042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0" name="Google Shape;110;p37"/>
          <p:cNvSpPr txBox="1"/>
          <p:nvPr>
            <p:ph idx="12" type="sldNum"/>
          </p:nvPr>
        </p:nvSpPr>
        <p:spPr>
          <a:xfrm>
            <a:off x="7529030" y="4838548"/>
            <a:ext cx="188400" cy="169200"/>
          </a:xfrm>
          <a:prstGeom prst="rect">
            <a:avLst/>
          </a:prstGeom>
          <a:noFill/>
          <a:ln>
            <a:noFill/>
          </a:ln>
        </p:spPr>
        <p:txBody>
          <a:bodyPr anchorCtr="0" anchor="t" bIns="0" lIns="0" spcFirstLastPara="1" rIns="0" wrap="square" tIns="0">
            <a:spAutoFit/>
          </a:bodyPr>
          <a:lstStyle>
            <a:lvl1pPr indent="0" lvl="0"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1pPr>
            <a:lvl2pPr indent="0" lvl="1"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2pPr>
            <a:lvl3pPr indent="0" lvl="2"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3pPr>
            <a:lvl4pPr indent="0" lvl="3"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4pPr>
            <a:lvl5pPr indent="0" lvl="4"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5pPr>
            <a:lvl6pPr indent="0" lvl="5"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6pPr>
            <a:lvl7pPr indent="0" lvl="6"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7pPr>
            <a:lvl8pPr indent="0" lvl="7"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8pPr>
            <a:lvl9pPr indent="0" lvl="8" marL="25400" marR="0" algn="l">
              <a:lnSpc>
                <a:spcPct val="100000"/>
              </a:lnSpc>
              <a:spcBef>
                <a:spcPts val="0"/>
              </a:spcBef>
              <a:spcAft>
                <a:spcPts val="0"/>
              </a:spcAft>
              <a:buClr>
                <a:srgbClr val="000000"/>
              </a:buClr>
              <a:buSzPts val="1100"/>
              <a:buFont typeface="Arial"/>
              <a:buNone/>
              <a:defRPr b="0" i="0" sz="1100" u="none" cap="none" strike="noStrike">
                <a:solidFill>
                  <a:srgbClr val="585858"/>
                </a:solidFill>
                <a:latin typeface="Arial"/>
                <a:ea typeface="Arial"/>
                <a:cs typeface="Arial"/>
                <a:sym typeface="Arial"/>
              </a:defRPr>
            </a:lvl9pPr>
          </a:lstStyle>
          <a:p>
            <a:pPr indent="0" lvl="0" marL="25400" rtl="0" algn="l">
              <a:spcBef>
                <a:spcPts val="0"/>
              </a:spcBef>
              <a:spcAft>
                <a:spcPts val="0"/>
              </a:spcAft>
              <a:buNone/>
            </a:pPr>
            <a:fld id="{00000000-1234-1234-1234-123412341234}" type="slidenum">
              <a:rPr lang="en"/>
              <a:t>‹#›</a:t>
            </a:fld>
            <a:endParaRPr b="1" sz="800">
              <a:solidFill>
                <a:srgbClr val="434343"/>
              </a:solidFill>
              <a:latin typeface="Nunito"/>
              <a:ea typeface="Nunito"/>
              <a:cs typeface="Nunito"/>
              <a:sym typeface="Nuni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
  <p:cSld name="TITLE_AND_BODY_1">
    <p:spTree>
      <p:nvGrpSpPr>
        <p:cNvPr id="111" name="Shape 111"/>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1">
  <p:cSld name="Blank 2">
    <p:spTree>
      <p:nvGrpSpPr>
        <p:cNvPr id="112" name="Shape 112"/>
        <p:cNvGrpSpPr/>
        <p:nvPr/>
      </p:nvGrpSpPr>
      <p:grpSpPr>
        <a:xfrm>
          <a:off x="0" y="0"/>
          <a:ext cx="0" cy="0"/>
          <a:chOff x="0" y="0"/>
          <a:chExt cx="0" cy="0"/>
        </a:xfrm>
      </p:grpSpPr>
      <p:sp>
        <p:nvSpPr>
          <p:cNvPr id="113" name="Google Shape;113;p39"/>
          <p:cNvSpPr/>
          <p:nvPr/>
        </p:nvSpPr>
        <p:spPr>
          <a:xfrm>
            <a:off x="0" y="0"/>
            <a:ext cx="9144000" cy="51435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123" name="Shape 123"/>
        <p:cNvGrpSpPr/>
        <p:nvPr/>
      </p:nvGrpSpPr>
      <p:grpSpPr>
        <a:xfrm>
          <a:off x="0" y="0"/>
          <a:ext cx="0" cy="0"/>
          <a:chOff x="0" y="0"/>
          <a:chExt cx="0" cy="0"/>
        </a:xfrm>
      </p:grpSpPr>
      <p:sp>
        <p:nvSpPr>
          <p:cNvPr id="124" name="Google Shape;124;p17"/>
          <p:cNvSpPr/>
          <p:nvPr/>
        </p:nvSpPr>
        <p:spPr>
          <a:xfrm>
            <a:off x="1" y="-335"/>
            <a:ext cx="9144600" cy="5143800"/>
          </a:xfrm>
          <a:prstGeom prst="rect">
            <a:avLst/>
          </a:prstGeom>
          <a:solidFill>
            <a:srgbClr val="0E39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A close up of a logo&#10;&#10;Description automatically generated" id="125" name="Google Shape;125;p17"/>
          <p:cNvPicPr preferRelativeResize="0"/>
          <p:nvPr/>
        </p:nvPicPr>
        <p:blipFill rotWithShape="1">
          <a:blip r:embed="rId2">
            <a:alphaModFix/>
          </a:blip>
          <a:srcRect b="19148" l="42815" r="37296" t="18360"/>
          <a:stretch/>
        </p:blipFill>
        <p:spPr>
          <a:xfrm>
            <a:off x="6052536" y="514443"/>
            <a:ext cx="2095112" cy="3703320"/>
          </a:xfrm>
          <a:prstGeom prst="rect">
            <a:avLst/>
          </a:prstGeom>
          <a:noFill/>
          <a:ln>
            <a:noFill/>
          </a:ln>
        </p:spPr>
      </p:pic>
      <p:sp>
        <p:nvSpPr>
          <p:cNvPr id="126" name="Google Shape;126;p17"/>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lvl1pPr lvl="0" marR="0" algn="l">
              <a:lnSpc>
                <a:spcPct val="100000"/>
              </a:lnSpc>
              <a:spcBef>
                <a:spcPts val="0"/>
              </a:spcBef>
              <a:spcAft>
                <a:spcPts val="0"/>
              </a:spcAft>
              <a:buSzPts val="2200"/>
              <a:buNone/>
              <a:defRPr b="0" i="0" sz="2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SzPts val="2500"/>
              <a:buNone/>
              <a:defRPr b="0" i="0" sz="1100" u="none" cap="none" strike="noStrike">
                <a:solidFill>
                  <a:srgbClr val="000000"/>
                </a:solidFill>
                <a:latin typeface="Arial"/>
                <a:ea typeface="Arial"/>
                <a:cs typeface="Arial"/>
                <a:sym typeface="Arial"/>
              </a:defRPr>
            </a:lvl9pPr>
          </a:lstStyle>
          <a:p/>
        </p:txBody>
      </p:sp>
      <p:sp>
        <p:nvSpPr>
          <p:cNvPr id="127" name="Google Shape;127;p17"/>
          <p:cNvSpPr txBox="1"/>
          <p:nvPr/>
        </p:nvSpPr>
        <p:spPr>
          <a:xfrm>
            <a:off x="334565" y="1676232"/>
            <a:ext cx="4372800" cy="17907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dk1"/>
              </a:buClr>
              <a:buSzPts val="4500"/>
              <a:buFont typeface="Calibri"/>
              <a:buNone/>
            </a:pPr>
            <a:r>
              <a:rPr b="0" i="0" lang="en" sz="3300" u="none" cap="none" strike="noStrike">
                <a:solidFill>
                  <a:schemeClr val="lt1"/>
                </a:solidFill>
                <a:latin typeface="Nunito ExtraBold"/>
                <a:ea typeface="Nunito ExtraBold"/>
                <a:cs typeface="Nunito ExtraBold"/>
                <a:sym typeface="Nunito ExtraBold"/>
              </a:rPr>
              <a:t>Power Ahead!</a:t>
            </a:r>
            <a:endParaRPr b="0" i="0" sz="3300" u="none" cap="none" strike="noStrike">
              <a:solidFill>
                <a:schemeClr val="lt1"/>
              </a:solidFill>
              <a:latin typeface="Nunito ExtraBold"/>
              <a:ea typeface="Nunito ExtraBold"/>
              <a:cs typeface="Nunito ExtraBold"/>
              <a:sym typeface="Nunito ExtraBold"/>
            </a:endParaRPr>
          </a:p>
        </p:txBody>
      </p:sp>
      <p:pic>
        <p:nvPicPr>
          <p:cNvPr id="128" name="Google Shape;128;p17"/>
          <p:cNvPicPr preferRelativeResize="0"/>
          <p:nvPr/>
        </p:nvPicPr>
        <p:blipFill rotWithShape="1">
          <a:blip r:embed="rId3">
            <a:alphaModFix/>
          </a:blip>
          <a:srcRect b="0" l="0" r="0" t="0"/>
          <a:stretch/>
        </p:blipFill>
        <p:spPr>
          <a:xfrm>
            <a:off x="421875" y="769949"/>
            <a:ext cx="3071452" cy="12612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40"/>
          <p:cNvSpPr txBox="1"/>
          <p:nvPr>
            <p:ph type="ctrTitle"/>
          </p:nvPr>
        </p:nvSpPr>
        <p:spPr>
          <a:xfrm>
            <a:off x="1260908" y="717750"/>
            <a:ext cx="6622200" cy="205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p:txBody>
      </p:sp>
      <p:sp>
        <p:nvSpPr>
          <p:cNvPr id="131" name="Google Shape;131;p40"/>
          <p:cNvSpPr txBox="1"/>
          <p:nvPr>
            <p:ph idx="1" type="subTitle"/>
          </p:nvPr>
        </p:nvSpPr>
        <p:spPr>
          <a:xfrm>
            <a:off x="1260902" y="2770350"/>
            <a:ext cx="66222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b="1" sz="2600">
                <a:solidFill>
                  <a:srgbClr val="434343"/>
                </a:solidFill>
                <a:latin typeface="Nunito SemiBold"/>
                <a:ea typeface="Nunito SemiBold"/>
                <a:cs typeface="Nunito SemiBold"/>
                <a:sym typeface="Nunito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2" name="Shape 132"/>
        <p:cNvGrpSpPr/>
        <p:nvPr/>
      </p:nvGrpSpPr>
      <p:grpSpPr>
        <a:xfrm>
          <a:off x="0" y="0"/>
          <a:ext cx="0" cy="0"/>
          <a:chOff x="0" y="0"/>
          <a:chExt cx="0" cy="0"/>
        </a:xfrm>
      </p:grpSpPr>
      <p:sp>
        <p:nvSpPr>
          <p:cNvPr id="133" name="Google Shape;133;p4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p:txBody>
      </p:sp>
      <p:sp>
        <p:nvSpPr>
          <p:cNvPr id="134" name="Google Shape;134;p41"/>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5" name="Shape 135"/>
        <p:cNvGrpSpPr/>
        <p:nvPr/>
      </p:nvGrpSpPr>
      <p:grpSpPr>
        <a:xfrm>
          <a:off x="0" y="0"/>
          <a:ext cx="0" cy="0"/>
          <a:chOff x="0" y="0"/>
          <a:chExt cx="0" cy="0"/>
        </a:xfrm>
      </p:grpSpPr>
      <p:sp>
        <p:nvSpPr>
          <p:cNvPr id="136" name="Google Shape;136;p4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37" name="Google Shape;137;p42"/>
          <p:cNvSpPr txBox="1"/>
          <p:nvPr>
            <p:ph idx="1" type="body"/>
          </p:nvPr>
        </p:nvSpPr>
        <p:spPr>
          <a:xfrm>
            <a:off x="202550" y="861975"/>
            <a:ext cx="8629800" cy="3706800"/>
          </a:xfrm>
          <a:prstGeom prst="rect">
            <a:avLst/>
          </a:prstGeom>
          <a:noFill/>
          <a:ln>
            <a:noFill/>
          </a:ln>
        </p:spPr>
        <p:txBody>
          <a:bodyPr anchorCtr="0" anchor="t" bIns="91425" lIns="91425" spcFirstLastPara="1" rIns="91425" wrap="square" tIns="91425">
            <a:noAutofit/>
          </a:bodyPr>
          <a:lstStyle>
            <a:lvl1pPr indent="-323850" lvl="0" marL="457200" algn="l">
              <a:lnSpc>
                <a:spcPct val="115000"/>
              </a:lnSpc>
              <a:spcBef>
                <a:spcPts val="0"/>
              </a:spcBef>
              <a:spcAft>
                <a:spcPts val="0"/>
              </a:spcAft>
              <a:buSzPts val="1500"/>
              <a:buFont typeface="Nunito"/>
              <a:buChar char="●"/>
              <a:defRPr>
                <a:latin typeface="Nunito"/>
                <a:ea typeface="Nunito"/>
                <a:cs typeface="Nunito"/>
                <a:sym typeface="Nunito"/>
              </a:defRPr>
            </a:lvl1pPr>
            <a:lvl2pPr indent="-311150" lvl="1" marL="914400" algn="l">
              <a:lnSpc>
                <a:spcPct val="115000"/>
              </a:lnSpc>
              <a:spcBef>
                <a:spcPts val="1600"/>
              </a:spcBef>
              <a:spcAft>
                <a:spcPts val="0"/>
              </a:spcAft>
              <a:buSzPts val="1300"/>
              <a:buFont typeface="Nunito"/>
              <a:buChar char="○"/>
              <a:defRPr>
                <a:latin typeface="Nunito"/>
                <a:ea typeface="Nunito"/>
                <a:cs typeface="Nunito"/>
                <a:sym typeface="Nunito"/>
              </a:defRPr>
            </a:lvl2pPr>
            <a:lvl3pPr indent="-304800" lvl="2" marL="1371600" algn="l">
              <a:lnSpc>
                <a:spcPct val="115000"/>
              </a:lnSpc>
              <a:spcBef>
                <a:spcPts val="1600"/>
              </a:spcBef>
              <a:spcAft>
                <a:spcPts val="0"/>
              </a:spcAft>
              <a:buSzPts val="1200"/>
              <a:buFont typeface="Nunito"/>
              <a:buChar char="■"/>
              <a:defRPr>
                <a:latin typeface="Nunito"/>
                <a:ea typeface="Nunito"/>
                <a:cs typeface="Nunito"/>
                <a:sym typeface="Nunito"/>
              </a:defRPr>
            </a:lvl3pPr>
            <a:lvl4pPr indent="-298450" lvl="3" marL="1828800" algn="l">
              <a:lnSpc>
                <a:spcPct val="115000"/>
              </a:lnSpc>
              <a:spcBef>
                <a:spcPts val="1600"/>
              </a:spcBef>
              <a:spcAft>
                <a:spcPts val="0"/>
              </a:spcAft>
              <a:buSzPts val="1100"/>
              <a:buFont typeface="Nunito"/>
              <a:buChar char="●"/>
              <a:defRPr>
                <a:latin typeface="Nunito"/>
                <a:ea typeface="Nunito"/>
                <a:cs typeface="Nunito"/>
                <a:sym typeface="Nunito"/>
              </a:defRPr>
            </a:lvl4pPr>
            <a:lvl5pPr indent="-292100" lvl="4" marL="2286000" algn="l">
              <a:lnSpc>
                <a:spcPct val="115000"/>
              </a:lnSpc>
              <a:spcBef>
                <a:spcPts val="1600"/>
              </a:spcBef>
              <a:spcAft>
                <a:spcPts val="0"/>
              </a:spcAft>
              <a:buSzPts val="1000"/>
              <a:buFont typeface="Nunito"/>
              <a:buChar char="○"/>
              <a:defRPr>
                <a:latin typeface="Nunito"/>
                <a:ea typeface="Nunito"/>
                <a:cs typeface="Nunito"/>
                <a:sym typeface="Nunito"/>
              </a:defRPr>
            </a:lvl5pPr>
            <a:lvl6pPr indent="-285750" lvl="5" marL="2743200" algn="l">
              <a:lnSpc>
                <a:spcPct val="115000"/>
              </a:lnSpc>
              <a:spcBef>
                <a:spcPts val="1600"/>
              </a:spcBef>
              <a:spcAft>
                <a:spcPts val="0"/>
              </a:spcAft>
              <a:buSzPts val="900"/>
              <a:buFont typeface="Nunito"/>
              <a:buChar char="■"/>
              <a:defRPr>
                <a:latin typeface="Nunito"/>
                <a:ea typeface="Nunito"/>
                <a:cs typeface="Nunito"/>
                <a:sym typeface="Nunito"/>
              </a:defRPr>
            </a:lvl6pPr>
            <a:lvl7pPr indent="-279400" lvl="6" marL="3200400" algn="l">
              <a:lnSpc>
                <a:spcPct val="115000"/>
              </a:lnSpc>
              <a:spcBef>
                <a:spcPts val="1600"/>
              </a:spcBef>
              <a:spcAft>
                <a:spcPts val="0"/>
              </a:spcAft>
              <a:buSzPts val="800"/>
              <a:buFont typeface="Nunito"/>
              <a:buChar char="●"/>
              <a:defRPr>
                <a:latin typeface="Nunito"/>
                <a:ea typeface="Nunito"/>
                <a:cs typeface="Nunito"/>
                <a:sym typeface="Nunito"/>
              </a:defRPr>
            </a:lvl7pPr>
            <a:lvl8pPr indent="-273050" lvl="7" marL="3657600" algn="l">
              <a:lnSpc>
                <a:spcPct val="115000"/>
              </a:lnSpc>
              <a:spcBef>
                <a:spcPts val="1600"/>
              </a:spcBef>
              <a:spcAft>
                <a:spcPts val="0"/>
              </a:spcAft>
              <a:buSzPts val="700"/>
              <a:buFont typeface="Nunito"/>
              <a:buChar char="○"/>
              <a:defRPr>
                <a:latin typeface="Nunito"/>
                <a:ea typeface="Nunito"/>
                <a:cs typeface="Nunito"/>
                <a:sym typeface="Nunito"/>
              </a:defRPr>
            </a:lvl8pPr>
            <a:lvl9pPr indent="-266700" lvl="8" marL="4114800" algn="l">
              <a:lnSpc>
                <a:spcPct val="115000"/>
              </a:lnSpc>
              <a:spcBef>
                <a:spcPts val="1600"/>
              </a:spcBef>
              <a:spcAft>
                <a:spcPts val="1600"/>
              </a:spcAft>
              <a:buSzPts val="600"/>
              <a:buFont typeface="Nunito"/>
              <a:buChar char="■"/>
              <a:defRPr>
                <a:latin typeface="Nunito"/>
                <a:ea typeface="Nunito"/>
                <a:cs typeface="Nunito"/>
                <a:sym typeface="Nunito"/>
              </a:defRPr>
            </a:lvl9pPr>
          </a:lstStyle>
          <a:p/>
        </p:txBody>
      </p:sp>
      <p:sp>
        <p:nvSpPr>
          <p:cNvPr id="138" name="Google Shape;138;p42"/>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p:cSld name="CUSTOM">
    <p:spTree>
      <p:nvGrpSpPr>
        <p:cNvPr id="139" name="Shape 139"/>
        <p:cNvGrpSpPr/>
        <p:nvPr/>
      </p:nvGrpSpPr>
      <p:grpSpPr>
        <a:xfrm>
          <a:off x="0" y="0"/>
          <a:ext cx="0" cy="0"/>
          <a:chOff x="0" y="0"/>
          <a:chExt cx="0" cy="0"/>
        </a:xfrm>
      </p:grpSpPr>
      <p:sp>
        <p:nvSpPr>
          <p:cNvPr id="140" name="Google Shape;140;p43"/>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graphicFrame>
        <p:nvGraphicFramePr>
          <p:cNvPr id="141" name="Google Shape;141;p43"/>
          <p:cNvGraphicFramePr/>
          <p:nvPr/>
        </p:nvGraphicFramePr>
        <p:xfrm>
          <a:off x="201942" y="833662"/>
          <a:ext cx="3000000" cy="3000000"/>
        </p:xfrm>
        <a:graphic>
          <a:graphicData uri="http://schemas.openxmlformats.org/drawingml/2006/table">
            <a:tbl>
              <a:tblPr bandRow="1" firstRow="1">
                <a:noFill/>
                <a:tableStyleId>{A64C17FC-6A83-4D6D-B1C9-C91E281DB364}</a:tableStyleId>
              </a:tblPr>
              <a:tblGrid>
                <a:gridCol w="883125"/>
                <a:gridCol w="3886050"/>
                <a:gridCol w="3886050"/>
              </a:tblGrid>
              <a:tr h="673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a:t>
                      </a:r>
                      <a:endParaRPr sz="14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Cluster Profile </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Business Insights for Marketing Team</a:t>
                      </a:r>
                      <a:endParaRPr sz="14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7533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1</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High value customers who have many credit cards and prefer to engage online</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Engage Online – Set up priority calling in lines – Upsell and Cross sell premium products</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2</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baseline="30000"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3</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Nunito"/>
                          <a:ea typeface="Nunito"/>
                          <a:cs typeface="Nunito"/>
                          <a:sym typeface="Nunito"/>
                        </a:rPr>
                        <a:t>…</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r h="6695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Nunito"/>
                        <a:ea typeface="Nunito"/>
                        <a:cs typeface="Nunito"/>
                        <a:sym typeface="Nunito"/>
                      </a:endParaRPr>
                    </a:p>
                  </a:txBody>
                  <a:tcPr marT="45725" marB="45725" marR="91450" marL="91450" anchor="ctr">
                    <a:lnL cap="flat" cmpd="sng" w="12700">
                      <a:solidFill>
                        <a:srgbClr val="7F7F7F"/>
                      </a:solidFill>
                      <a:prstDash val="solid"/>
                      <a:round/>
                      <a:headEnd len="sm" w="sm" type="none"/>
                      <a:tailEnd len="sm" w="sm" type="none"/>
                    </a:lnL>
                    <a:lnR cap="flat" cmpd="sng" w="12700">
                      <a:solidFill>
                        <a:srgbClr val="7F7F7F"/>
                      </a:solidFill>
                      <a:prstDash val="solid"/>
                      <a:round/>
                      <a:headEnd len="sm" w="sm" type="none"/>
                      <a:tailEnd len="sm" w="sm" type="none"/>
                    </a:lnR>
                  </a:tcPr>
                </a:tc>
              </a:tr>
            </a:tbl>
          </a:graphicData>
        </a:graphic>
      </p:graphicFrame>
      <p:sp>
        <p:nvSpPr>
          <p:cNvPr id="142" name="Google Shape;142;p43"/>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3" name="Shape 143"/>
        <p:cNvGrpSpPr/>
        <p:nvPr/>
      </p:nvGrpSpPr>
      <p:grpSpPr>
        <a:xfrm>
          <a:off x="0" y="0"/>
          <a:ext cx="0" cy="0"/>
          <a:chOff x="0" y="0"/>
          <a:chExt cx="0" cy="0"/>
        </a:xfrm>
      </p:grpSpPr>
      <p:sp>
        <p:nvSpPr>
          <p:cNvPr id="144" name="Google Shape;144;p4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45" name="Google Shape;145;p4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46" name="Google Shape;146;p4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147" name="Google Shape;147;p4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8" name="Shape 148"/>
        <p:cNvGrpSpPr/>
        <p:nvPr/>
      </p:nvGrpSpPr>
      <p:grpSpPr>
        <a:xfrm>
          <a:off x="0" y="0"/>
          <a:ext cx="0" cy="0"/>
          <a:chOff x="0" y="0"/>
          <a:chExt cx="0" cy="0"/>
        </a:xfrm>
      </p:grpSpPr>
      <p:sp>
        <p:nvSpPr>
          <p:cNvPr id="149" name="Google Shape;149;p45"/>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p:txBody>
      </p:sp>
      <p:sp>
        <p:nvSpPr>
          <p:cNvPr id="150" name="Google Shape;150;p45"/>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1" name="Shape 151"/>
        <p:cNvGrpSpPr/>
        <p:nvPr/>
      </p:nvGrpSpPr>
      <p:grpSpPr>
        <a:xfrm>
          <a:off x="0" y="0"/>
          <a:ext cx="0" cy="0"/>
          <a:chOff x="0" y="0"/>
          <a:chExt cx="0" cy="0"/>
        </a:xfrm>
      </p:grpSpPr>
      <p:sp>
        <p:nvSpPr>
          <p:cNvPr id="152" name="Google Shape;152;p4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3" name="Google Shape;153;p4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4" name="Shape 154"/>
        <p:cNvGrpSpPr/>
        <p:nvPr/>
      </p:nvGrpSpPr>
      <p:grpSpPr>
        <a:xfrm>
          <a:off x="0" y="0"/>
          <a:ext cx="0" cy="0"/>
          <a:chOff x="0" y="0"/>
          <a:chExt cx="0" cy="0"/>
        </a:xfrm>
      </p:grpSpPr>
      <p:sp>
        <p:nvSpPr>
          <p:cNvPr id="155" name="Google Shape;155;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7"/>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57" name="Google Shape;157;p4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58" name="Google Shape;158;p4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15000"/>
              </a:lnSpc>
              <a:spcBef>
                <a:spcPts val="0"/>
              </a:spcBef>
              <a:spcAft>
                <a:spcPts val="0"/>
              </a:spcAft>
              <a:buSzPts val="1500"/>
              <a:buChar char="●"/>
              <a:defRPr/>
            </a:lvl1pPr>
            <a:lvl2pPr indent="-311150" lvl="1" marL="914400" algn="l">
              <a:lnSpc>
                <a:spcPct val="115000"/>
              </a:lnSpc>
              <a:spcBef>
                <a:spcPts val="1600"/>
              </a:spcBef>
              <a:spcAft>
                <a:spcPts val="0"/>
              </a:spcAft>
              <a:buSzPts val="1300"/>
              <a:buChar char="○"/>
              <a:defRPr/>
            </a:lvl2pPr>
            <a:lvl3pPr indent="-304800" lvl="2" marL="1371600" algn="l">
              <a:lnSpc>
                <a:spcPct val="115000"/>
              </a:lnSpc>
              <a:spcBef>
                <a:spcPts val="1600"/>
              </a:spcBef>
              <a:spcAft>
                <a:spcPts val="0"/>
              </a:spcAft>
              <a:buSzPts val="1200"/>
              <a:buChar char="■"/>
              <a:defRPr/>
            </a:lvl3pPr>
            <a:lvl4pPr indent="-298450" lvl="3" marL="1828800" algn="l">
              <a:lnSpc>
                <a:spcPct val="115000"/>
              </a:lnSpc>
              <a:spcBef>
                <a:spcPts val="1600"/>
              </a:spcBef>
              <a:spcAft>
                <a:spcPts val="0"/>
              </a:spcAft>
              <a:buSzPts val="1100"/>
              <a:buChar char="●"/>
              <a:defRPr/>
            </a:lvl4pPr>
            <a:lvl5pPr indent="-292100" lvl="4" marL="2286000" algn="l">
              <a:lnSpc>
                <a:spcPct val="115000"/>
              </a:lnSpc>
              <a:spcBef>
                <a:spcPts val="1600"/>
              </a:spcBef>
              <a:spcAft>
                <a:spcPts val="0"/>
              </a:spcAft>
              <a:buSzPts val="1000"/>
              <a:buChar char="○"/>
              <a:defRPr/>
            </a:lvl5pPr>
            <a:lvl6pPr indent="-285750" lvl="5" marL="2743200" algn="l">
              <a:lnSpc>
                <a:spcPct val="115000"/>
              </a:lnSpc>
              <a:spcBef>
                <a:spcPts val="1600"/>
              </a:spcBef>
              <a:spcAft>
                <a:spcPts val="0"/>
              </a:spcAft>
              <a:buSzPts val="900"/>
              <a:buChar char="■"/>
              <a:defRPr/>
            </a:lvl6pPr>
            <a:lvl7pPr indent="-279400" lvl="6" marL="3200400" algn="l">
              <a:lnSpc>
                <a:spcPct val="115000"/>
              </a:lnSpc>
              <a:spcBef>
                <a:spcPts val="1600"/>
              </a:spcBef>
              <a:spcAft>
                <a:spcPts val="0"/>
              </a:spcAft>
              <a:buSzPts val="800"/>
              <a:buChar char="●"/>
              <a:defRPr/>
            </a:lvl7pPr>
            <a:lvl8pPr indent="-273050" lvl="7" marL="3657600" algn="l">
              <a:lnSpc>
                <a:spcPct val="115000"/>
              </a:lnSpc>
              <a:spcBef>
                <a:spcPts val="1600"/>
              </a:spcBef>
              <a:spcAft>
                <a:spcPts val="0"/>
              </a:spcAft>
              <a:buSzPts val="700"/>
              <a:buChar char="○"/>
              <a:defRPr/>
            </a:lvl8pPr>
            <a:lvl9pPr indent="-266700" lvl="8" marL="4114800" algn="l">
              <a:lnSpc>
                <a:spcPct val="115000"/>
              </a:lnSpc>
              <a:spcBef>
                <a:spcPts val="1600"/>
              </a:spcBef>
              <a:spcAft>
                <a:spcPts val="1600"/>
              </a:spcAft>
              <a:buSzPts val="600"/>
              <a:buChar char="■"/>
              <a:defRPr/>
            </a:lvl9pPr>
          </a:lstStyle>
          <a:p/>
        </p:txBody>
      </p:sp>
      <p:sp>
        <p:nvSpPr>
          <p:cNvPr id="159" name="Google Shape;159;p47"/>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0" name="Shape 160"/>
        <p:cNvGrpSpPr/>
        <p:nvPr/>
      </p:nvGrpSpPr>
      <p:grpSpPr>
        <a:xfrm>
          <a:off x="0" y="0"/>
          <a:ext cx="0" cy="0"/>
          <a:chOff x="0" y="0"/>
          <a:chExt cx="0" cy="0"/>
        </a:xfrm>
      </p:grpSpPr>
      <p:sp>
        <p:nvSpPr>
          <p:cNvPr id="161" name="Google Shape;161;p48"/>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2pPr>
            <a:lvl3pPr lvl="2"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3pPr>
            <a:lvl4pPr lvl="3"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4pPr>
            <a:lvl5pPr lvl="4"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5pPr>
            <a:lvl6pPr lvl="5"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6pPr>
            <a:lvl7pPr lvl="6"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7pPr>
            <a:lvl8pPr lvl="7"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8pPr>
            <a:lvl9pPr lvl="8" marR="0" rtl="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9pPr>
          </a:lstStyle>
          <a:p/>
        </p:txBody>
      </p:sp>
      <p:sp>
        <p:nvSpPr>
          <p:cNvPr id="7" name="Google Shape;7;p14"/>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rtl="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rtl="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rtl="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rtl="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rtl="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rtl="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rtl="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rtl="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8" name="Google Shape;8;p14"/>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9" name="Google Shape;9;p14"/>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rtl="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0" name="Google Shape;10;p14"/>
          <p:cNvPicPr preferRelativeResize="0"/>
          <p:nvPr/>
        </p:nvPicPr>
        <p:blipFill rotWithShape="1">
          <a:blip r:embed="rId1">
            <a:alphaModFix/>
          </a:blip>
          <a:srcRect b="0" l="0" r="0" t="0"/>
          <a:stretch/>
        </p:blipFill>
        <p:spPr>
          <a:xfrm>
            <a:off x="7669500" y="68264"/>
            <a:ext cx="1395476" cy="572701"/>
          </a:xfrm>
          <a:prstGeom prst="rect">
            <a:avLst/>
          </a:prstGeom>
          <a:noFill/>
          <a:ln>
            <a:noFill/>
          </a:ln>
        </p:spPr>
      </p:pic>
      <p:grpSp>
        <p:nvGrpSpPr>
          <p:cNvPr id="11" name="Google Shape;11;p14"/>
          <p:cNvGrpSpPr/>
          <p:nvPr/>
        </p:nvGrpSpPr>
        <p:grpSpPr>
          <a:xfrm>
            <a:off x="6593" y="10"/>
            <a:ext cx="175500" cy="709221"/>
            <a:chOff x="6593" y="10"/>
            <a:chExt cx="175500" cy="709221"/>
          </a:xfrm>
        </p:grpSpPr>
        <p:sp>
          <p:nvSpPr>
            <p:cNvPr id="12" name="Google Shape;12;p14"/>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4"/>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4" name="Shape 114"/>
        <p:cNvGrpSpPr/>
        <p:nvPr/>
      </p:nvGrpSpPr>
      <p:grpSpPr>
        <a:xfrm>
          <a:off x="0" y="0"/>
          <a:ext cx="0" cy="0"/>
          <a:chOff x="0" y="0"/>
          <a:chExt cx="0" cy="0"/>
        </a:xfrm>
      </p:grpSpPr>
      <p:sp>
        <p:nvSpPr>
          <p:cNvPr id="115" name="Google Shape;115;p16"/>
          <p:cNvSpPr txBox="1"/>
          <p:nvPr>
            <p:ph type="title"/>
          </p:nvPr>
        </p:nvSpPr>
        <p:spPr>
          <a:xfrm>
            <a:off x="201972" y="288368"/>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rgbClr val="434343"/>
              </a:buClr>
              <a:buSzPts val="2200"/>
              <a:buFont typeface="Nunito"/>
              <a:buNone/>
              <a:defRPr b="1" i="0" sz="2200" u="none" cap="none" strike="noStrike">
                <a:solidFill>
                  <a:srgbClr val="434343"/>
                </a:solidFill>
                <a:latin typeface="Nunito"/>
                <a:ea typeface="Nunito"/>
                <a:cs typeface="Nunito"/>
                <a:sym typeface="Nunito"/>
              </a:defRPr>
            </a:lvl1pPr>
            <a:lvl2pPr lvl="1"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2pPr>
            <a:lvl3pPr lvl="2"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3pPr>
            <a:lvl4pPr lvl="3"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4pPr>
            <a:lvl5pPr lvl="4"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5pPr>
            <a:lvl6pPr lvl="5"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6pPr>
            <a:lvl7pPr lvl="6"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7pPr>
            <a:lvl8pPr lvl="7"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8pPr>
            <a:lvl9pPr lvl="8" marR="0" algn="l">
              <a:lnSpc>
                <a:spcPct val="100000"/>
              </a:lnSpc>
              <a:spcBef>
                <a:spcPts val="0"/>
              </a:spcBef>
              <a:spcAft>
                <a:spcPts val="0"/>
              </a:spcAft>
              <a:buClr>
                <a:srgbClr val="434343"/>
              </a:buClr>
              <a:buSzPts val="2500"/>
              <a:buFont typeface="Nunito SemiBold"/>
              <a:buNone/>
              <a:defRPr b="1" i="0" sz="2500" u="none" cap="none" strike="noStrike">
                <a:solidFill>
                  <a:srgbClr val="434343"/>
                </a:solidFill>
                <a:latin typeface="Nunito SemiBold"/>
                <a:ea typeface="Nunito SemiBold"/>
                <a:cs typeface="Nunito SemiBold"/>
                <a:sym typeface="Nunito SemiBold"/>
              </a:defRPr>
            </a:lvl9pPr>
          </a:lstStyle>
          <a:p/>
        </p:txBody>
      </p:sp>
      <p:sp>
        <p:nvSpPr>
          <p:cNvPr id="116" name="Google Shape;116;p16"/>
          <p:cNvSpPr txBox="1"/>
          <p:nvPr>
            <p:ph idx="1" type="body"/>
          </p:nvPr>
        </p:nvSpPr>
        <p:spPr>
          <a:xfrm>
            <a:off x="311700" y="861075"/>
            <a:ext cx="8520600" cy="3416400"/>
          </a:xfrm>
          <a:prstGeom prst="rect">
            <a:avLst/>
          </a:prstGeom>
          <a:noFill/>
          <a:ln>
            <a:noFill/>
          </a:ln>
        </p:spPr>
        <p:txBody>
          <a:bodyPr anchorCtr="0" anchor="t" bIns="91425" lIns="91425" spcFirstLastPara="1" rIns="91425" wrap="square" tIns="91425">
            <a:noAutofit/>
          </a:bodyPr>
          <a:lstStyle>
            <a:lvl1pPr indent="-323850" lvl="0" marL="457200" marR="0" algn="l">
              <a:lnSpc>
                <a:spcPct val="115000"/>
              </a:lnSpc>
              <a:spcBef>
                <a:spcPts val="0"/>
              </a:spcBef>
              <a:spcAft>
                <a:spcPts val="0"/>
              </a:spcAft>
              <a:buClr>
                <a:schemeClr val="dk2"/>
              </a:buClr>
              <a:buSzPts val="1500"/>
              <a:buFont typeface="Nunito"/>
              <a:buChar char="●"/>
              <a:defRPr b="0" i="0" sz="1500" u="none" cap="none" strike="noStrike">
                <a:solidFill>
                  <a:schemeClr val="dk2"/>
                </a:solidFill>
                <a:latin typeface="Nunito"/>
                <a:ea typeface="Nunito"/>
                <a:cs typeface="Nunito"/>
                <a:sym typeface="Nunito"/>
              </a:defRPr>
            </a:lvl1pPr>
            <a:lvl2pPr indent="-311150" lvl="1" marL="914400" marR="0" algn="l">
              <a:lnSpc>
                <a:spcPct val="115000"/>
              </a:lnSpc>
              <a:spcBef>
                <a:spcPts val="1600"/>
              </a:spcBef>
              <a:spcAft>
                <a:spcPts val="0"/>
              </a:spcAft>
              <a:buClr>
                <a:schemeClr val="dk2"/>
              </a:buClr>
              <a:buSzPts val="1300"/>
              <a:buFont typeface="Nunito"/>
              <a:buChar char="○"/>
              <a:defRPr b="0" i="0" sz="1300" u="none" cap="none" strike="noStrike">
                <a:solidFill>
                  <a:schemeClr val="dk2"/>
                </a:solidFill>
                <a:latin typeface="Nunito"/>
                <a:ea typeface="Nunito"/>
                <a:cs typeface="Nunito"/>
                <a:sym typeface="Nunito"/>
              </a:defRPr>
            </a:lvl2pPr>
            <a:lvl3pPr indent="-304800" lvl="2" marL="1371600" marR="0" algn="l">
              <a:lnSpc>
                <a:spcPct val="115000"/>
              </a:lnSpc>
              <a:spcBef>
                <a:spcPts val="1600"/>
              </a:spcBef>
              <a:spcAft>
                <a:spcPts val="0"/>
              </a:spcAft>
              <a:buClr>
                <a:schemeClr val="dk2"/>
              </a:buClr>
              <a:buSzPts val="1200"/>
              <a:buFont typeface="Nunito"/>
              <a:buChar char="■"/>
              <a:defRPr b="0" i="0" sz="1200" u="none" cap="none" strike="noStrike">
                <a:solidFill>
                  <a:schemeClr val="dk2"/>
                </a:solidFill>
                <a:latin typeface="Nunito"/>
                <a:ea typeface="Nunito"/>
                <a:cs typeface="Nunito"/>
                <a:sym typeface="Nunito"/>
              </a:defRPr>
            </a:lvl3pPr>
            <a:lvl4pPr indent="-298450" lvl="3" marL="1828800" marR="0" algn="l">
              <a:lnSpc>
                <a:spcPct val="115000"/>
              </a:lnSpc>
              <a:spcBef>
                <a:spcPts val="1600"/>
              </a:spcBef>
              <a:spcAft>
                <a:spcPts val="0"/>
              </a:spcAft>
              <a:buClr>
                <a:schemeClr val="dk2"/>
              </a:buClr>
              <a:buSzPts val="1100"/>
              <a:buFont typeface="Nunito"/>
              <a:buChar char="●"/>
              <a:defRPr b="0" i="0" sz="1100" u="none" cap="none" strike="noStrike">
                <a:solidFill>
                  <a:schemeClr val="dk2"/>
                </a:solidFill>
                <a:latin typeface="Nunito"/>
                <a:ea typeface="Nunito"/>
                <a:cs typeface="Nunito"/>
                <a:sym typeface="Nunito"/>
              </a:defRPr>
            </a:lvl4pPr>
            <a:lvl5pPr indent="-292100" lvl="4" marL="2286000" marR="0" algn="l">
              <a:lnSpc>
                <a:spcPct val="115000"/>
              </a:lnSpc>
              <a:spcBef>
                <a:spcPts val="1600"/>
              </a:spcBef>
              <a:spcAft>
                <a:spcPts val="0"/>
              </a:spcAft>
              <a:buClr>
                <a:schemeClr val="dk2"/>
              </a:buClr>
              <a:buSzPts val="1000"/>
              <a:buFont typeface="Nunito"/>
              <a:buChar char="○"/>
              <a:defRPr b="0" i="0" sz="1000" u="none" cap="none" strike="noStrike">
                <a:solidFill>
                  <a:schemeClr val="dk2"/>
                </a:solidFill>
                <a:latin typeface="Nunito"/>
                <a:ea typeface="Nunito"/>
                <a:cs typeface="Nunito"/>
                <a:sym typeface="Nunito"/>
              </a:defRPr>
            </a:lvl5pPr>
            <a:lvl6pPr indent="-285750" lvl="5" marL="2743200" marR="0" algn="l">
              <a:lnSpc>
                <a:spcPct val="115000"/>
              </a:lnSpc>
              <a:spcBef>
                <a:spcPts val="1600"/>
              </a:spcBef>
              <a:spcAft>
                <a:spcPts val="0"/>
              </a:spcAft>
              <a:buClr>
                <a:schemeClr val="dk2"/>
              </a:buClr>
              <a:buSzPts val="900"/>
              <a:buFont typeface="Nunito"/>
              <a:buChar char="■"/>
              <a:defRPr b="0" i="0" sz="900" u="none" cap="none" strike="noStrike">
                <a:solidFill>
                  <a:schemeClr val="dk2"/>
                </a:solidFill>
                <a:latin typeface="Nunito"/>
                <a:ea typeface="Nunito"/>
                <a:cs typeface="Nunito"/>
                <a:sym typeface="Nunito"/>
              </a:defRPr>
            </a:lvl6pPr>
            <a:lvl7pPr indent="-279400" lvl="6" marL="3200400" marR="0" algn="l">
              <a:lnSpc>
                <a:spcPct val="115000"/>
              </a:lnSpc>
              <a:spcBef>
                <a:spcPts val="1600"/>
              </a:spcBef>
              <a:spcAft>
                <a:spcPts val="0"/>
              </a:spcAft>
              <a:buClr>
                <a:schemeClr val="dk2"/>
              </a:buClr>
              <a:buSzPts val="800"/>
              <a:buFont typeface="Nunito"/>
              <a:buChar char="●"/>
              <a:defRPr b="0" i="0" sz="800" u="none" cap="none" strike="noStrike">
                <a:solidFill>
                  <a:schemeClr val="dk2"/>
                </a:solidFill>
                <a:latin typeface="Nunito"/>
                <a:ea typeface="Nunito"/>
                <a:cs typeface="Nunito"/>
                <a:sym typeface="Nunito"/>
              </a:defRPr>
            </a:lvl7pPr>
            <a:lvl8pPr indent="-273050" lvl="7" marL="3657600" marR="0" algn="l">
              <a:lnSpc>
                <a:spcPct val="115000"/>
              </a:lnSpc>
              <a:spcBef>
                <a:spcPts val="1600"/>
              </a:spcBef>
              <a:spcAft>
                <a:spcPts val="0"/>
              </a:spcAft>
              <a:buClr>
                <a:schemeClr val="dk2"/>
              </a:buClr>
              <a:buSzPts val="700"/>
              <a:buFont typeface="Nunito"/>
              <a:buChar char="○"/>
              <a:defRPr b="0" i="0" sz="700" u="none" cap="none" strike="noStrike">
                <a:solidFill>
                  <a:schemeClr val="dk2"/>
                </a:solidFill>
                <a:latin typeface="Nunito"/>
                <a:ea typeface="Nunito"/>
                <a:cs typeface="Nunito"/>
                <a:sym typeface="Nunito"/>
              </a:defRPr>
            </a:lvl8pPr>
            <a:lvl9pPr indent="-266700" lvl="8" marL="4114800" marR="0" algn="l">
              <a:lnSpc>
                <a:spcPct val="115000"/>
              </a:lnSpc>
              <a:spcBef>
                <a:spcPts val="1600"/>
              </a:spcBef>
              <a:spcAft>
                <a:spcPts val="1600"/>
              </a:spcAft>
              <a:buClr>
                <a:schemeClr val="dk2"/>
              </a:buClr>
              <a:buSzPts val="600"/>
              <a:buFont typeface="Nunito"/>
              <a:buChar char="■"/>
              <a:defRPr b="0" i="0" sz="600" u="none" cap="none" strike="noStrike">
                <a:solidFill>
                  <a:schemeClr val="dk2"/>
                </a:solidFill>
                <a:latin typeface="Nunito"/>
                <a:ea typeface="Nunito"/>
                <a:cs typeface="Nunito"/>
                <a:sym typeface="Nunito"/>
              </a:defRPr>
            </a:lvl9pPr>
          </a:lstStyle>
          <a:p/>
        </p:txBody>
      </p:sp>
      <p:sp>
        <p:nvSpPr>
          <p:cNvPr id="117" name="Google Shape;117;p16"/>
          <p:cNvSpPr txBox="1"/>
          <p:nvPr/>
        </p:nvSpPr>
        <p:spPr>
          <a:xfrm>
            <a:off x="2234400" y="4917657"/>
            <a:ext cx="4675200" cy="275700"/>
          </a:xfrm>
          <a:prstGeom prst="rect">
            <a:avLst/>
          </a:prstGeom>
          <a:noFill/>
          <a:ln>
            <a:noFill/>
          </a:ln>
        </p:spPr>
        <p:txBody>
          <a:bodyPr anchorCtr="0" anchor="t" bIns="91425" lIns="91425" spcFirstLastPara="1" rIns="91425" wrap="square" tIns="91425">
            <a:noAutofit/>
          </a:bodyPr>
          <a:lstStyle/>
          <a:p>
            <a:pPr indent="0" lvl="0" marL="12700" marR="0" rtl="0" algn="ctr">
              <a:lnSpc>
                <a:spcPct val="102500"/>
              </a:lnSpc>
              <a:spcBef>
                <a:spcPts val="0"/>
              </a:spcBef>
              <a:spcAft>
                <a:spcPts val="0"/>
              </a:spcAft>
              <a:buClr>
                <a:srgbClr val="000000"/>
              </a:buClr>
              <a:buSzPts val="700"/>
              <a:buFont typeface="Arial"/>
              <a:buNone/>
            </a:pPr>
            <a:r>
              <a:rPr b="1" i="0" lang="en" sz="700" u="none" cap="none" strike="noStrike">
                <a:solidFill>
                  <a:srgbClr val="434343"/>
                </a:solidFill>
                <a:latin typeface="Nunito"/>
                <a:ea typeface="Nunito"/>
                <a:cs typeface="Nunito"/>
                <a:sym typeface="Nunito"/>
              </a:rPr>
              <a:t>Proprietary content. © Great Learning. All Rights Reserved. Unauthorized use or distribution prohibited.</a:t>
            </a:r>
            <a:endParaRPr b="1" i="0" sz="700" u="none" cap="none" strike="noStrike">
              <a:solidFill>
                <a:srgbClr val="434343"/>
              </a:solidFill>
              <a:latin typeface="Nunito"/>
              <a:ea typeface="Nunito"/>
              <a:cs typeface="Nunito"/>
              <a:sym typeface="Nunito"/>
            </a:endParaRPr>
          </a:p>
        </p:txBody>
      </p:sp>
      <p:sp>
        <p:nvSpPr>
          <p:cNvPr id="118" name="Google Shape;118;p16"/>
          <p:cNvSpPr txBox="1"/>
          <p:nvPr>
            <p:ph idx="12" type="sldNum"/>
          </p:nvPr>
        </p:nvSpPr>
        <p:spPr>
          <a:xfrm>
            <a:off x="8832299" y="4946907"/>
            <a:ext cx="365400" cy="217200"/>
          </a:xfrm>
          <a:prstGeom prst="rect">
            <a:avLst/>
          </a:prstGeom>
          <a:noFill/>
          <a:ln>
            <a:noFill/>
          </a:ln>
        </p:spPr>
        <p:txBody>
          <a:bodyPr anchorCtr="0" anchor="ctr" bIns="91425" lIns="91425" spcFirstLastPara="1" rIns="91425" wrap="square" tIns="91425">
            <a:noAutofit/>
          </a:bodyPr>
          <a:lstStyle>
            <a:lvl1pPr indent="0" lvl="0"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1pPr>
            <a:lvl2pPr indent="0" lvl="1"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2pPr>
            <a:lvl3pPr indent="0" lvl="2"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3pPr>
            <a:lvl4pPr indent="0" lvl="3"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4pPr>
            <a:lvl5pPr indent="0" lvl="4"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5pPr>
            <a:lvl6pPr indent="0" lvl="5"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6pPr>
            <a:lvl7pPr indent="0" lvl="6"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7pPr>
            <a:lvl8pPr indent="0" lvl="7"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8pPr>
            <a:lvl9pPr indent="0" lvl="8" marL="0" marR="0" algn="ctr">
              <a:lnSpc>
                <a:spcPct val="100000"/>
              </a:lnSpc>
              <a:spcBef>
                <a:spcPts val="0"/>
              </a:spcBef>
              <a:spcAft>
                <a:spcPts val="0"/>
              </a:spcAft>
              <a:buClr>
                <a:srgbClr val="000000"/>
              </a:buClr>
              <a:buSzPts val="800"/>
              <a:buFont typeface="Arial"/>
              <a:buNone/>
              <a:defRPr b="1" i="0" sz="800" u="none" cap="none" strike="noStrike">
                <a:solidFill>
                  <a:srgbClr val="434343"/>
                </a:solidFill>
                <a:latin typeface="Nunito"/>
                <a:ea typeface="Nunito"/>
                <a:cs typeface="Nunito"/>
                <a:sym typeface="Nunito"/>
              </a:defRPr>
            </a:lvl9pPr>
          </a:lstStyle>
          <a:p>
            <a:pPr indent="0" lvl="0" marL="0" rtl="0" algn="ctr">
              <a:spcBef>
                <a:spcPts val="0"/>
              </a:spcBef>
              <a:spcAft>
                <a:spcPts val="0"/>
              </a:spcAft>
              <a:buNone/>
            </a:pPr>
            <a:fld id="{00000000-1234-1234-1234-123412341234}" type="slidenum">
              <a:rPr lang="en"/>
              <a:t>‹#›</a:t>
            </a:fld>
            <a:endParaRPr/>
          </a:p>
        </p:txBody>
      </p:sp>
      <p:pic>
        <p:nvPicPr>
          <p:cNvPr id="119" name="Google Shape;119;p16"/>
          <p:cNvPicPr preferRelativeResize="0"/>
          <p:nvPr/>
        </p:nvPicPr>
        <p:blipFill rotWithShape="1">
          <a:blip r:embed="rId1">
            <a:alphaModFix/>
          </a:blip>
          <a:srcRect b="0" l="0" r="0" t="0"/>
          <a:stretch/>
        </p:blipFill>
        <p:spPr>
          <a:xfrm>
            <a:off x="7669500" y="68264"/>
            <a:ext cx="1395475" cy="572700"/>
          </a:xfrm>
          <a:prstGeom prst="rect">
            <a:avLst/>
          </a:prstGeom>
          <a:noFill/>
          <a:ln>
            <a:noFill/>
          </a:ln>
        </p:spPr>
      </p:pic>
      <p:grpSp>
        <p:nvGrpSpPr>
          <p:cNvPr id="120" name="Google Shape;120;p16"/>
          <p:cNvGrpSpPr/>
          <p:nvPr/>
        </p:nvGrpSpPr>
        <p:grpSpPr>
          <a:xfrm>
            <a:off x="6593" y="10"/>
            <a:ext cx="175500" cy="709221"/>
            <a:chOff x="6593" y="10"/>
            <a:chExt cx="175500" cy="709221"/>
          </a:xfrm>
        </p:grpSpPr>
        <p:sp>
          <p:nvSpPr>
            <p:cNvPr id="121" name="Google Shape;121;p16"/>
            <p:cNvSpPr/>
            <p:nvPr/>
          </p:nvSpPr>
          <p:spPr>
            <a:xfrm>
              <a:off x="6593" y="10"/>
              <a:ext cx="175500" cy="355500"/>
            </a:xfrm>
            <a:prstGeom prst="rect">
              <a:avLst/>
            </a:prstGeom>
            <a:solidFill>
              <a:srgbClr val="0E39A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6"/>
            <p:cNvSpPr/>
            <p:nvPr/>
          </p:nvSpPr>
          <p:spPr>
            <a:xfrm>
              <a:off x="6593" y="353731"/>
              <a:ext cx="175500" cy="355500"/>
            </a:xfrm>
            <a:prstGeom prst="rect">
              <a:avLst/>
            </a:prstGeom>
            <a:solidFill>
              <a:srgbClr val="1974D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
          <p:cNvSpPr txBox="1"/>
          <p:nvPr/>
        </p:nvSpPr>
        <p:spPr>
          <a:xfrm>
            <a:off x="1645920" y="1227550"/>
            <a:ext cx="5411100" cy="815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100"/>
              <a:buFont typeface="Arial"/>
              <a:buNone/>
            </a:pPr>
            <a:r>
              <a:rPr lang="en" sz="4100">
                <a:solidFill>
                  <a:srgbClr val="0E39A9"/>
                </a:solidFill>
                <a:latin typeface="Nunito Light"/>
                <a:ea typeface="Nunito Light"/>
                <a:cs typeface="Nunito Light"/>
                <a:sym typeface="Nunito Light"/>
              </a:rPr>
              <a:t>Medical Assistant</a:t>
            </a:r>
            <a:endParaRPr i="0" sz="4100" u="none" cap="none" strike="noStrike">
              <a:solidFill>
                <a:srgbClr val="0E39A9"/>
              </a:solidFill>
              <a:latin typeface="Nunito Light"/>
              <a:ea typeface="Nunito Light"/>
              <a:cs typeface="Nunito Light"/>
              <a:sym typeface="Nunito Light"/>
            </a:endParaRPr>
          </a:p>
        </p:txBody>
      </p:sp>
      <p:sp>
        <p:nvSpPr>
          <p:cNvPr id="167" name="Google Shape;167;p1"/>
          <p:cNvSpPr txBox="1"/>
          <p:nvPr/>
        </p:nvSpPr>
        <p:spPr>
          <a:xfrm>
            <a:off x="1645920" y="1887625"/>
            <a:ext cx="5199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lang="en" sz="1800">
                <a:solidFill>
                  <a:srgbClr val="CC0000"/>
                </a:solidFill>
                <a:latin typeface="Nunito Light"/>
                <a:ea typeface="Nunito Light"/>
                <a:cs typeface="Nunito Light"/>
                <a:sym typeface="Nunito Light"/>
              </a:rPr>
              <a:t>A Gen AI RAG System</a:t>
            </a:r>
            <a:endParaRPr i="0" sz="1800" u="none" cap="none" strike="noStrike">
              <a:solidFill>
                <a:srgbClr val="CC0000"/>
              </a:solidFill>
              <a:latin typeface="Nunito Light"/>
              <a:ea typeface="Nunito Light"/>
              <a:cs typeface="Nunito Light"/>
              <a:sym typeface="Nunito Light"/>
            </a:endParaRPr>
          </a:p>
        </p:txBody>
      </p:sp>
      <p:sp>
        <p:nvSpPr>
          <p:cNvPr id="168" name="Google Shape;168;p1"/>
          <p:cNvSpPr txBox="1"/>
          <p:nvPr/>
        </p:nvSpPr>
        <p:spPr>
          <a:xfrm>
            <a:off x="1645920" y="2233200"/>
            <a:ext cx="355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4800"/>
              <a:buFont typeface="Arial"/>
              <a:buNone/>
            </a:pPr>
            <a:r>
              <a:rPr lang="en">
                <a:solidFill>
                  <a:schemeClr val="dk1"/>
                </a:solidFill>
                <a:latin typeface="Nunito ExtraLight"/>
                <a:ea typeface="Nunito ExtraLight"/>
                <a:cs typeface="Nunito ExtraLight"/>
                <a:sym typeface="Nunito ExtraLight"/>
              </a:rPr>
              <a:t>Uday Poluri | 4-Mar-2026</a:t>
            </a:r>
            <a:endParaRPr>
              <a:solidFill>
                <a:schemeClr val="dk1"/>
              </a:solidFill>
              <a:latin typeface="Nunito ExtraLight"/>
              <a:ea typeface="Nunito ExtraLight"/>
              <a:cs typeface="Nunito ExtraLight"/>
              <a:sym typeface="Nunito Extra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cdee866afb_0_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2400">
                <a:solidFill>
                  <a:srgbClr val="0E39A9"/>
                </a:solidFill>
                <a:latin typeface="Nunito Light"/>
                <a:ea typeface="Nunito Light"/>
                <a:cs typeface="Nunito Light"/>
                <a:sym typeface="Nunito Light"/>
              </a:rPr>
              <a:t>Contents / Agenda</a:t>
            </a:r>
            <a:endParaRPr b="0" sz="2400">
              <a:solidFill>
                <a:srgbClr val="0E39A9"/>
              </a:solidFill>
              <a:latin typeface="Nunito Light"/>
              <a:ea typeface="Nunito Light"/>
              <a:cs typeface="Nunito Light"/>
              <a:sym typeface="Nunito Light"/>
            </a:endParaRPr>
          </a:p>
        </p:txBody>
      </p:sp>
      <p:sp>
        <p:nvSpPr>
          <p:cNvPr id="174" name="Google Shape;174;g3cdee866afb_0_0"/>
          <p:cNvSpPr/>
          <p:nvPr/>
        </p:nvSpPr>
        <p:spPr>
          <a:xfrm>
            <a:off x="403421" y="1983999"/>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75" name="Google Shape;175;g3cdee866afb_0_0"/>
          <p:cNvSpPr txBox="1"/>
          <p:nvPr/>
        </p:nvSpPr>
        <p:spPr>
          <a:xfrm>
            <a:off x="691799" y="1859990"/>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Baseline: </a:t>
            </a:r>
            <a:r>
              <a:rPr b="0" i="0" lang="en" sz="1400" u="none" cap="none" strike="noStrike">
                <a:solidFill>
                  <a:srgbClr val="000000"/>
                </a:solidFill>
                <a:latin typeface="Montserrat"/>
                <a:ea typeface="Montserrat"/>
                <a:cs typeface="Montserrat"/>
                <a:sym typeface="Montserrat"/>
              </a:rPr>
              <a:t>Question Answering using LLM</a:t>
            </a:r>
            <a:endParaRPr b="0" i="0" sz="1400" u="none" cap="none" strike="noStrike">
              <a:solidFill>
                <a:srgbClr val="000000"/>
              </a:solidFill>
              <a:latin typeface="Montserrat"/>
              <a:ea typeface="Montserrat"/>
              <a:cs typeface="Montserrat"/>
              <a:sym typeface="Montserrat"/>
            </a:endParaRPr>
          </a:p>
        </p:txBody>
      </p:sp>
      <p:sp>
        <p:nvSpPr>
          <p:cNvPr id="176" name="Google Shape;176;g3cdee866afb_0_0"/>
          <p:cNvSpPr/>
          <p:nvPr/>
        </p:nvSpPr>
        <p:spPr>
          <a:xfrm>
            <a:off x="403421" y="2384049"/>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77" name="Google Shape;177;g3cdee866afb_0_0"/>
          <p:cNvSpPr txBox="1"/>
          <p:nvPr/>
        </p:nvSpPr>
        <p:spPr>
          <a:xfrm>
            <a:off x="691799" y="2280528"/>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000000"/>
                </a:solidFill>
                <a:latin typeface="Montserrat"/>
                <a:ea typeface="Montserrat"/>
                <a:cs typeface="Montserrat"/>
                <a:sym typeface="Montserrat"/>
              </a:rPr>
              <a:t>Question Answering using LLM with Prompt Engineering</a:t>
            </a:r>
            <a:endParaRPr b="0" i="0" sz="1400" u="none" cap="none" strike="noStrike">
              <a:solidFill>
                <a:srgbClr val="000000"/>
              </a:solidFill>
              <a:latin typeface="Montserrat"/>
              <a:ea typeface="Montserrat"/>
              <a:cs typeface="Montserrat"/>
              <a:sym typeface="Montserrat"/>
            </a:endParaRPr>
          </a:p>
        </p:txBody>
      </p:sp>
      <p:sp>
        <p:nvSpPr>
          <p:cNvPr id="178" name="Google Shape;178;g3cdee866afb_0_0"/>
          <p:cNvSpPr/>
          <p:nvPr/>
        </p:nvSpPr>
        <p:spPr>
          <a:xfrm>
            <a:off x="403421" y="2860299"/>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79" name="Google Shape;179;g3cdee866afb_0_0"/>
          <p:cNvSpPr txBox="1"/>
          <p:nvPr/>
        </p:nvSpPr>
        <p:spPr>
          <a:xfrm>
            <a:off x="691799" y="2751665"/>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000000"/>
                </a:solidFill>
                <a:latin typeface="Montserrat"/>
                <a:ea typeface="Montserrat"/>
                <a:cs typeface="Montserrat"/>
                <a:sym typeface="Montserrat"/>
              </a:rPr>
              <a:t>Data Preparation for RAG</a:t>
            </a:r>
            <a:endParaRPr b="0" i="0" sz="1400" u="none" cap="none" strike="noStrike">
              <a:solidFill>
                <a:srgbClr val="000000"/>
              </a:solidFill>
              <a:latin typeface="Montserrat"/>
              <a:ea typeface="Montserrat"/>
              <a:cs typeface="Montserrat"/>
              <a:sym typeface="Montserrat"/>
            </a:endParaRPr>
          </a:p>
        </p:txBody>
      </p:sp>
      <p:sp>
        <p:nvSpPr>
          <p:cNvPr id="180" name="Google Shape;180;g3cdee866afb_0_0"/>
          <p:cNvSpPr/>
          <p:nvPr/>
        </p:nvSpPr>
        <p:spPr>
          <a:xfrm>
            <a:off x="403421" y="3317499"/>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81" name="Google Shape;181;g3cdee866afb_0_0"/>
          <p:cNvSpPr txBox="1"/>
          <p:nvPr/>
        </p:nvSpPr>
        <p:spPr>
          <a:xfrm>
            <a:off x="691799" y="3208865"/>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000000"/>
                </a:solidFill>
                <a:latin typeface="Montserrat"/>
                <a:ea typeface="Montserrat"/>
                <a:cs typeface="Montserrat"/>
                <a:sym typeface="Montserrat"/>
              </a:rPr>
              <a:t>Question Answering using RAG</a:t>
            </a:r>
            <a:endParaRPr b="0" i="0" sz="1400" u="none" cap="none" strike="noStrike">
              <a:solidFill>
                <a:srgbClr val="000000"/>
              </a:solidFill>
              <a:latin typeface="Montserrat"/>
              <a:ea typeface="Montserrat"/>
              <a:cs typeface="Montserrat"/>
              <a:sym typeface="Montserrat"/>
            </a:endParaRPr>
          </a:p>
        </p:txBody>
      </p:sp>
      <p:sp>
        <p:nvSpPr>
          <p:cNvPr id="182" name="Google Shape;182;g3cdee866afb_0_0"/>
          <p:cNvSpPr/>
          <p:nvPr/>
        </p:nvSpPr>
        <p:spPr>
          <a:xfrm>
            <a:off x="403421" y="3774699"/>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83" name="Google Shape;183;g3cdee866afb_0_0"/>
          <p:cNvSpPr txBox="1"/>
          <p:nvPr/>
        </p:nvSpPr>
        <p:spPr>
          <a:xfrm>
            <a:off x="691799" y="3666065"/>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0" i="0" lang="en" sz="1400" u="none" cap="none" strike="noStrike">
                <a:solidFill>
                  <a:srgbClr val="000000"/>
                </a:solidFill>
                <a:latin typeface="Montserrat"/>
                <a:ea typeface="Montserrat"/>
                <a:cs typeface="Montserrat"/>
                <a:sym typeface="Montserrat"/>
              </a:rPr>
              <a:t>Output Evaluation</a:t>
            </a:r>
            <a:endParaRPr b="0" i="0" sz="1400" u="none" cap="none" strike="noStrike">
              <a:solidFill>
                <a:srgbClr val="000000"/>
              </a:solidFill>
              <a:latin typeface="Montserrat"/>
              <a:ea typeface="Montserrat"/>
              <a:cs typeface="Montserrat"/>
              <a:sym typeface="Montserrat"/>
            </a:endParaRPr>
          </a:p>
        </p:txBody>
      </p:sp>
      <p:sp>
        <p:nvSpPr>
          <p:cNvPr id="184" name="Google Shape;184;g3cdee866afb_0_0"/>
          <p:cNvSpPr/>
          <p:nvPr/>
        </p:nvSpPr>
        <p:spPr>
          <a:xfrm>
            <a:off x="402336" y="1067945"/>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85" name="Google Shape;185;g3cdee866afb_0_0"/>
          <p:cNvSpPr txBox="1"/>
          <p:nvPr/>
        </p:nvSpPr>
        <p:spPr>
          <a:xfrm>
            <a:off x="694944" y="943936"/>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Executive Summary</a:t>
            </a:r>
            <a:endParaRPr b="0" i="0" sz="1400" u="none" cap="none" strike="noStrike">
              <a:solidFill>
                <a:srgbClr val="000000"/>
              </a:solidFill>
              <a:latin typeface="Montserrat"/>
              <a:ea typeface="Montserrat"/>
              <a:cs typeface="Montserrat"/>
              <a:sym typeface="Montserrat"/>
            </a:endParaRPr>
          </a:p>
        </p:txBody>
      </p:sp>
      <p:sp>
        <p:nvSpPr>
          <p:cNvPr id="186" name="Google Shape;186;g3cdee866afb_0_0"/>
          <p:cNvSpPr/>
          <p:nvPr/>
        </p:nvSpPr>
        <p:spPr>
          <a:xfrm>
            <a:off x="406192" y="1488006"/>
            <a:ext cx="193200" cy="193200"/>
          </a:xfrm>
          <a:prstGeom prst="donut">
            <a:avLst>
              <a:gd fmla="val 25000" name="adj"/>
            </a:avLst>
          </a:prstGeom>
          <a:solidFill>
            <a:srgbClr val="0944A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Nunito"/>
              <a:ea typeface="Nunito"/>
              <a:cs typeface="Nunito"/>
              <a:sym typeface="Nunito"/>
            </a:endParaRPr>
          </a:p>
        </p:txBody>
      </p:sp>
      <p:sp>
        <p:nvSpPr>
          <p:cNvPr id="187" name="Google Shape;187;g3cdee866afb_0_0"/>
          <p:cNvSpPr txBox="1"/>
          <p:nvPr/>
        </p:nvSpPr>
        <p:spPr>
          <a:xfrm>
            <a:off x="694570" y="1363997"/>
            <a:ext cx="56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lang="en">
                <a:latin typeface="Montserrat"/>
                <a:ea typeface="Montserrat"/>
                <a:cs typeface="Montserrat"/>
                <a:sym typeface="Montserrat"/>
              </a:rPr>
              <a:t>Business Problem, Objective, Solution</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
          <p:cNvSpPr txBox="1"/>
          <p:nvPr>
            <p:ph type="title"/>
          </p:nvPr>
        </p:nvSpPr>
        <p:spPr>
          <a:xfrm>
            <a:off x="202550" y="1876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2400">
                <a:solidFill>
                  <a:srgbClr val="0E39A9"/>
                </a:solidFill>
                <a:latin typeface="Nunito Light"/>
                <a:ea typeface="Nunito Light"/>
                <a:cs typeface="Nunito Light"/>
                <a:sym typeface="Nunito Light"/>
              </a:rPr>
              <a:t>Executive Summary</a:t>
            </a:r>
            <a:endParaRPr b="0" sz="2400">
              <a:solidFill>
                <a:srgbClr val="0E39A9"/>
              </a:solidFill>
              <a:latin typeface="Nunito Light"/>
              <a:ea typeface="Nunito Light"/>
              <a:cs typeface="Nunito Light"/>
              <a:sym typeface="Nunito Light"/>
            </a:endParaRPr>
          </a:p>
        </p:txBody>
      </p:sp>
      <p:sp>
        <p:nvSpPr>
          <p:cNvPr id="193" name="Google Shape;193;p3"/>
          <p:cNvSpPr txBox="1"/>
          <p:nvPr/>
        </p:nvSpPr>
        <p:spPr>
          <a:xfrm>
            <a:off x="399700" y="760375"/>
            <a:ext cx="8251500" cy="3762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
                <a:latin typeface="Montserrat SemiBold"/>
                <a:ea typeface="Montserrat SemiBold"/>
                <a:cs typeface="Montserrat SemiBold"/>
                <a:sym typeface="Montserrat SemiBold"/>
              </a:rPr>
              <a:t>Goal : </a:t>
            </a:r>
            <a:r>
              <a:rPr b="1" lang="en" sz="1200">
                <a:latin typeface="Montserrat"/>
                <a:ea typeface="Montserrat"/>
                <a:cs typeface="Montserrat"/>
                <a:sym typeface="Montserrat"/>
              </a:rPr>
              <a:t> </a:t>
            </a:r>
            <a:r>
              <a:rPr lang="en" sz="1200">
                <a:latin typeface="Montserrat"/>
                <a:ea typeface="Montserrat"/>
                <a:cs typeface="Montserrat"/>
                <a:sym typeface="Montserrat"/>
              </a:rPr>
              <a:t>To build a reliable Medical assistant that helps medical professionals by providing fast, factual answers based on trusted Merc Manuals.</a:t>
            </a:r>
            <a:endParaRPr>
              <a:latin typeface="Montserrat SemiBold"/>
              <a:ea typeface="Montserrat SemiBold"/>
              <a:cs typeface="Montserrat SemiBold"/>
              <a:sym typeface="Montserrat SemiBold"/>
            </a:endParaRPr>
          </a:p>
          <a:p>
            <a:pPr indent="0" lvl="0" marL="0" marR="0" rtl="0" algn="l">
              <a:lnSpc>
                <a:spcPct val="115000"/>
              </a:lnSpc>
              <a:spcBef>
                <a:spcPts val="1000"/>
              </a:spcBef>
              <a:spcAft>
                <a:spcPts val="0"/>
              </a:spcAft>
              <a:buNone/>
            </a:pPr>
            <a:r>
              <a:rPr lang="en">
                <a:latin typeface="Montserrat SemiBold"/>
                <a:ea typeface="Montserrat SemiBold"/>
                <a:cs typeface="Montserrat SemiBold"/>
                <a:sym typeface="Montserrat SemiBold"/>
              </a:rPr>
              <a:t>Methodology:</a:t>
            </a:r>
            <a:r>
              <a:rPr b="1" lang="en" sz="1200">
                <a:latin typeface="Montserrat"/>
                <a:ea typeface="Montserrat"/>
                <a:cs typeface="Montserrat"/>
                <a:sym typeface="Montserrat"/>
              </a:rPr>
              <a:t>  </a:t>
            </a:r>
            <a:r>
              <a:rPr lang="en" sz="1200">
                <a:latin typeface="Montserrat"/>
                <a:ea typeface="Montserrat"/>
                <a:cs typeface="Montserrat"/>
                <a:sym typeface="Montserrat"/>
              </a:rPr>
              <a:t>To test and </a:t>
            </a:r>
            <a:r>
              <a:rPr lang="en" sz="1200">
                <a:latin typeface="Montserrat"/>
                <a:ea typeface="Montserrat"/>
                <a:cs typeface="Montserrat"/>
                <a:sym typeface="Montserrat"/>
              </a:rPr>
              <a:t>compare three</a:t>
            </a:r>
            <a:r>
              <a:rPr lang="en" sz="1200">
                <a:latin typeface="Montserrat"/>
                <a:ea typeface="Montserrat"/>
                <a:cs typeface="Montserrat"/>
                <a:sym typeface="Montserrat"/>
              </a:rPr>
              <a:t> approaches to find most accurate solution for medical professionals.  </a:t>
            </a:r>
            <a:endParaRPr sz="1200">
              <a:latin typeface="Montserrat"/>
              <a:ea typeface="Montserrat"/>
              <a:cs typeface="Montserrat"/>
              <a:sym typeface="Montserrat"/>
            </a:endParaRPr>
          </a:p>
          <a:p>
            <a:pPr indent="-304800" lvl="0" marL="457200" marR="0" rtl="0" algn="l">
              <a:lnSpc>
                <a:spcPct val="150000"/>
              </a:lnSpc>
              <a:spcBef>
                <a:spcPts val="1000"/>
              </a:spcBef>
              <a:spcAft>
                <a:spcPts val="0"/>
              </a:spcAft>
              <a:buSzPts val="1200"/>
              <a:buChar char="●"/>
            </a:pPr>
            <a:r>
              <a:rPr lang="en" sz="1200">
                <a:latin typeface="Montserrat SemiBold"/>
                <a:ea typeface="Montserrat SemiBold"/>
                <a:cs typeface="Montserrat SemiBold"/>
                <a:sym typeface="Montserrat SemiBold"/>
              </a:rPr>
              <a:t>Baseline standard LLM: </a:t>
            </a:r>
            <a:r>
              <a:rPr lang="en" sz="1200">
                <a:latin typeface="Montserrat"/>
                <a:ea typeface="Montserrat"/>
                <a:cs typeface="Montserrat"/>
                <a:sym typeface="Montserrat"/>
              </a:rPr>
              <a:t>Tested the "out-of-the-box" performance of a local Large Language Model (Mistral-7B) to see if its internal training was enough to answer medical questions.</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SzPts val="1200"/>
              <a:buChar char="●"/>
            </a:pPr>
            <a:r>
              <a:rPr lang="en" sz="1200">
                <a:latin typeface="Montserrat SemiBold"/>
                <a:ea typeface="Montserrat SemiBold"/>
                <a:cs typeface="Montserrat SemiBold"/>
                <a:sym typeface="Montserrat SemiBold"/>
              </a:rPr>
              <a:t>Optimization (Prompt Engineering)</a:t>
            </a:r>
            <a:r>
              <a:rPr b="1" lang="en" sz="1200">
                <a:latin typeface="Montserrat"/>
                <a:ea typeface="Montserrat"/>
                <a:cs typeface="Montserrat"/>
                <a:sym typeface="Montserrat"/>
              </a:rPr>
              <a:t>:  </a:t>
            </a:r>
            <a:r>
              <a:rPr lang="en" sz="1200">
                <a:latin typeface="Montserrat"/>
                <a:ea typeface="Montserrat"/>
                <a:cs typeface="Montserrat"/>
                <a:sym typeface="Montserrat"/>
              </a:rPr>
              <a:t>Applied a "System Message" to define a AI persona and enforce a specific output format (lists and summaries) to reduce conversational "fluff".</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SzPts val="1200"/>
              <a:buChar char="●"/>
            </a:pPr>
            <a:r>
              <a:rPr lang="en" sz="1200">
                <a:latin typeface="Montserrat SemiBold"/>
                <a:ea typeface="Montserrat SemiBold"/>
                <a:cs typeface="Montserrat SemiBold"/>
                <a:sym typeface="Montserrat SemiBold"/>
              </a:rPr>
              <a:t>Knowledge</a:t>
            </a:r>
            <a:r>
              <a:rPr lang="en" sz="1200">
                <a:latin typeface="Montserrat SemiBold"/>
                <a:ea typeface="Montserrat SemiBold"/>
                <a:cs typeface="Montserrat SemiBold"/>
                <a:sym typeface="Montserrat SemiBold"/>
              </a:rPr>
              <a:t> integration (RAG System )</a:t>
            </a:r>
            <a:r>
              <a:rPr b="1" lang="en" sz="1200">
                <a:latin typeface="Montserrat"/>
                <a:ea typeface="Montserrat"/>
                <a:cs typeface="Montserrat"/>
                <a:sym typeface="Montserrat"/>
              </a:rPr>
              <a:t>: </a:t>
            </a:r>
            <a:r>
              <a:rPr lang="en" sz="1200">
                <a:latin typeface="Montserrat"/>
                <a:ea typeface="Montserrat"/>
                <a:cs typeface="Montserrat"/>
                <a:sym typeface="Montserrat"/>
              </a:rPr>
              <a:t>Built a Retrieval-Augmented Generation pipeline using a Chroma vector database to allow the model retrieve  information from 4,114 pages of the Merck Manual before answering.</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SzPts val="1200"/>
              <a:buChar char="●"/>
            </a:pPr>
            <a:r>
              <a:rPr lang="en" sz="1200">
                <a:latin typeface="Montserrat SemiBold"/>
                <a:ea typeface="Montserrat SemiBold"/>
                <a:cs typeface="Montserrat SemiBold"/>
                <a:sym typeface="Montserrat SemiBold"/>
              </a:rPr>
              <a:t>Model Evaluation:</a:t>
            </a:r>
            <a:r>
              <a:rPr b="1" lang="en" sz="1200">
                <a:latin typeface="Montserrat"/>
                <a:ea typeface="Montserrat"/>
                <a:cs typeface="Montserrat"/>
                <a:sym typeface="Montserrat"/>
              </a:rPr>
              <a:t> </a:t>
            </a:r>
            <a:r>
              <a:rPr lang="en" sz="1200">
                <a:latin typeface="Montserrat"/>
                <a:ea typeface="Montserrat"/>
                <a:cs typeface="Montserrat"/>
                <a:sym typeface="Montserrat"/>
              </a:rPr>
              <a:t>Used LLM-as-a-Judge evaluation to score the final outputs on Groundness (Response is from context/manual only)  and Relevance (Direct answer to the user query).</a:t>
            </a:r>
            <a:endParaRPr sz="12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cdbb33ee7c_0_344"/>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2400">
                <a:solidFill>
                  <a:srgbClr val="0E39A9"/>
                </a:solidFill>
                <a:latin typeface="Nunito Light"/>
                <a:ea typeface="Nunito Light"/>
                <a:cs typeface="Nunito Light"/>
                <a:sym typeface="Nunito Light"/>
              </a:rPr>
              <a:t>Executive Summary</a:t>
            </a:r>
            <a:endParaRPr b="0" sz="2400">
              <a:solidFill>
                <a:srgbClr val="0E39A9"/>
              </a:solidFill>
              <a:latin typeface="Nunito Light"/>
              <a:ea typeface="Nunito Light"/>
              <a:cs typeface="Nunito Light"/>
              <a:sym typeface="Nunito Light"/>
            </a:endParaRPr>
          </a:p>
        </p:txBody>
      </p:sp>
      <p:sp>
        <p:nvSpPr>
          <p:cNvPr id="199" name="Google Shape;199;g3cdbb33ee7c_0_344"/>
          <p:cNvSpPr txBox="1"/>
          <p:nvPr/>
        </p:nvSpPr>
        <p:spPr>
          <a:xfrm>
            <a:off x="399700" y="932175"/>
            <a:ext cx="7718100" cy="3463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n">
                <a:latin typeface="Montserrat SemiBold"/>
                <a:ea typeface="Montserrat SemiBold"/>
                <a:cs typeface="Montserrat SemiBold"/>
                <a:sym typeface="Montserrat SemiBold"/>
              </a:rPr>
              <a:t>Key Observations</a:t>
            </a:r>
            <a:endParaRPr sz="1500">
              <a:latin typeface="Nunito SemiBold"/>
              <a:ea typeface="Nunito SemiBold"/>
              <a:cs typeface="Nunito SemiBold"/>
              <a:sym typeface="Nunito SemiBold"/>
            </a:endParaRPr>
          </a:p>
          <a:p>
            <a:pPr indent="-304800" lvl="0" marL="457200" marR="0" rtl="0" algn="l">
              <a:lnSpc>
                <a:spcPct val="150000"/>
              </a:lnSpc>
              <a:spcBef>
                <a:spcPts val="0"/>
              </a:spcBef>
              <a:spcAft>
                <a:spcPts val="0"/>
              </a:spcAft>
              <a:buClr>
                <a:srgbClr val="000000"/>
              </a:buClr>
              <a:buSzPts val="1200"/>
              <a:buFont typeface="Montserrat"/>
              <a:buChar char="●"/>
            </a:pPr>
            <a:r>
              <a:rPr lang="en" sz="1200">
                <a:latin typeface="Montserrat"/>
                <a:ea typeface="Montserrat"/>
                <a:cs typeface="Montserrat"/>
                <a:sym typeface="Montserrat"/>
              </a:rPr>
              <a:t>The baseline LLM gave only a generic answers that were limited to the data it trained on, which may not be enough for medical needs.</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Clr>
                <a:srgbClr val="000000"/>
              </a:buClr>
              <a:buSzPts val="1200"/>
              <a:buFont typeface="Montserrat"/>
              <a:buChar char="●"/>
            </a:pPr>
            <a:r>
              <a:rPr lang="en" sz="1200">
                <a:latin typeface="Montserrat"/>
                <a:ea typeface="Montserrat"/>
                <a:cs typeface="Montserrat"/>
                <a:sym typeface="Montserrat"/>
              </a:rPr>
              <a:t>Prompt engineering helped to define the AI persona and format, but the answers still lack still lacked technical details and authenticity.</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SzPts val="1200"/>
              <a:buFont typeface="Montserrat"/>
              <a:buChar char="●"/>
            </a:pPr>
            <a:r>
              <a:rPr lang="en" sz="1200">
                <a:latin typeface="Montserrat"/>
                <a:ea typeface="Montserrat"/>
                <a:cs typeface="Montserrat"/>
                <a:sym typeface="Montserrat"/>
              </a:rPr>
              <a:t>RAG System is able to retrieve the information from Merc Manual, provide direct and factual answers.</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SzPts val="1200"/>
              <a:buFont typeface="Montserrat"/>
              <a:buChar char="●"/>
            </a:pPr>
            <a:r>
              <a:rPr lang="en" sz="1200">
                <a:latin typeface="Montserrat"/>
                <a:ea typeface="Montserrat"/>
                <a:cs typeface="Montserrat"/>
                <a:sym typeface="Montserrat"/>
              </a:rPr>
              <a:t>RAG System provided more technical specifics like dosages and specific steps-  that a medical professional need in patient diagnosis and make informed decisions.</a:t>
            </a:r>
            <a:endParaRPr sz="1200">
              <a:latin typeface="Montserrat"/>
              <a:ea typeface="Montserrat"/>
              <a:cs typeface="Montserrat"/>
              <a:sym typeface="Montserrat"/>
            </a:endParaRPr>
          </a:p>
          <a:p>
            <a:pPr indent="-304800" lvl="0" marL="457200" marR="0" rtl="0" algn="l">
              <a:lnSpc>
                <a:spcPct val="150000"/>
              </a:lnSpc>
              <a:spcBef>
                <a:spcPts val="0"/>
              </a:spcBef>
              <a:spcAft>
                <a:spcPts val="0"/>
              </a:spcAft>
              <a:buSzPts val="1200"/>
              <a:buFont typeface="Montserrat"/>
              <a:buChar char="●"/>
            </a:pPr>
            <a:r>
              <a:rPr lang="en" sz="1200">
                <a:latin typeface="Montserrat"/>
                <a:ea typeface="Montserrat"/>
                <a:cs typeface="Montserrat"/>
                <a:sym typeface="Montserrat"/>
              </a:rPr>
              <a:t>Using LLM-as-a-Judge for validation, thye system </a:t>
            </a:r>
            <a:r>
              <a:rPr lang="en" sz="1200">
                <a:latin typeface="Montserrat"/>
                <a:ea typeface="Montserrat"/>
                <a:cs typeface="Montserrat"/>
                <a:sym typeface="Montserrat"/>
              </a:rPr>
              <a:t>received</a:t>
            </a:r>
            <a:r>
              <a:rPr lang="en" sz="1200">
                <a:latin typeface="Montserrat"/>
                <a:ea typeface="Montserrat"/>
                <a:cs typeface="Montserrat"/>
                <a:sym typeface="Montserrat"/>
              </a:rPr>
              <a:t> score of 5/5 for groundedness in 60% of tests, and a score of 4 /5 for relevance proving RAG system capability despite the output truncation due to tokens limit.</a:t>
            </a:r>
            <a:endParaRPr sz="1200">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cdbb33ee7c_0_35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2400">
                <a:solidFill>
                  <a:srgbClr val="0E39A9"/>
                </a:solidFill>
                <a:latin typeface="Nunito Light"/>
                <a:ea typeface="Nunito Light"/>
                <a:cs typeface="Nunito Light"/>
                <a:sym typeface="Nunito Light"/>
              </a:rPr>
              <a:t>Executive Summary</a:t>
            </a:r>
            <a:endParaRPr b="0" sz="2400">
              <a:solidFill>
                <a:srgbClr val="0E39A9"/>
              </a:solidFill>
              <a:latin typeface="Nunito Light"/>
              <a:ea typeface="Nunito Light"/>
              <a:cs typeface="Nunito Light"/>
              <a:sym typeface="Nunito Light"/>
            </a:endParaRPr>
          </a:p>
        </p:txBody>
      </p:sp>
      <p:sp>
        <p:nvSpPr>
          <p:cNvPr id="205" name="Google Shape;205;g3cdbb33ee7c_0_350"/>
          <p:cNvSpPr txBox="1"/>
          <p:nvPr/>
        </p:nvSpPr>
        <p:spPr>
          <a:xfrm>
            <a:off x="399700" y="932175"/>
            <a:ext cx="7718100" cy="3463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lang="en">
                <a:latin typeface="Montserrat SemiBold"/>
                <a:ea typeface="Montserrat SemiBold"/>
                <a:cs typeface="Montserrat SemiBold"/>
                <a:sym typeface="Montserrat SemiBold"/>
              </a:rPr>
              <a:t>Recommendations &amp; Next steps</a:t>
            </a:r>
            <a:endParaRPr sz="1500">
              <a:latin typeface="Nunito SemiBold"/>
              <a:ea typeface="Nunito SemiBold"/>
              <a:cs typeface="Nunito SemiBold"/>
              <a:sym typeface="Nunito SemiBold"/>
            </a:endParaRPr>
          </a:p>
          <a:p>
            <a:pPr indent="-304800" lvl="0" marL="457200" marR="0" rtl="0" algn="l">
              <a:lnSpc>
                <a:spcPct val="150000"/>
              </a:lnSpc>
              <a:spcBef>
                <a:spcPts val="0"/>
              </a:spcBef>
              <a:spcAft>
                <a:spcPts val="0"/>
              </a:spcAft>
              <a:buClr>
                <a:srgbClr val="000000"/>
              </a:buClr>
              <a:buSzPts val="1200"/>
              <a:buFont typeface="Montserrat"/>
              <a:buChar char="●"/>
            </a:pPr>
            <a:r>
              <a:rPr lang="en" sz="1200">
                <a:latin typeface="Montserrat SemiBold"/>
                <a:ea typeface="Montserrat SemiBold"/>
                <a:cs typeface="Montserrat SemiBold"/>
                <a:sym typeface="Montserrat SemiBold"/>
              </a:rPr>
              <a:t>Output truncation: </a:t>
            </a:r>
            <a:r>
              <a:rPr lang="en" sz="1200">
                <a:latin typeface="Montserrat"/>
                <a:ea typeface="Montserrat"/>
                <a:cs typeface="Montserrat"/>
                <a:sym typeface="Montserrat"/>
              </a:rPr>
              <a:t> Finetune the model by increasing the max_tokens from 128 to 256 or 512. This will give the model enough space to finish complex clinical protocols without losing the "Summary" at the end.</a:t>
            </a:r>
            <a:endParaRPr sz="1200">
              <a:latin typeface="Montserrat"/>
              <a:ea typeface="Montserrat"/>
              <a:cs typeface="Montserrat"/>
              <a:sym typeface="Montserrat"/>
            </a:endParaRPr>
          </a:p>
          <a:p>
            <a:pPr indent="-304800" lvl="0" marL="457200" rtl="0" algn="l">
              <a:lnSpc>
                <a:spcPct val="150000"/>
              </a:lnSpc>
              <a:spcBef>
                <a:spcPts val="0"/>
              </a:spcBef>
              <a:spcAft>
                <a:spcPts val="0"/>
              </a:spcAft>
              <a:buSzPts val="1200"/>
              <a:buFont typeface="Montserrat"/>
              <a:buChar char="●"/>
            </a:pPr>
            <a:r>
              <a:rPr lang="en" sz="1200">
                <a:latin typeface="Montserrat SemiBold"/>
                <a:ea typeface="Montserrat SemiBold"/>
                <a:cs typeface="Montserrat SemiBold"/>
                <a:sym typeface="Montserrat SemiBold"/>
              </a:rPr>
              <a:t>Improving LLM-as-a-Judge</a:t>
            </a:r>
            <a:r>
              <a:rPr lang="en" sz="1200">
                <a:latin typeface="Montserrat SemiBold"/>
                <a:ea typeface="Montserrat SemiBold"/>
                <a:cs typeface="Montserrat SemiBold"/>
                <a:sym typeface="Montserrat SemiBold"/>
              </a:rPr>
              <a:t>: </a:t>
            </a:r>
            <a:r>
              <a:rPr lang="en" sz="1200">
                <a:latin typeface="Montserrat"/>
                <a:ea typeface="Montserrat"/>
                <a:cs typeface="Montserrat"/>
                <a:sym typeface="Montserrat"/>
              </a:rPr>
              <a:t>Re-ordering the evaluation prompt so the Numerical Rating comes first, followed by the explanation. This ensures we always get a measurable score for our data reports.</a:t>
            </a:r>
            <a:endParaRPr sz="1200">
              <a:latin typeface="Montserrat"/>
              <a:ea typeface="Montserrat"/>
              <a:cs typeface="Montserrat"/>
              <a:sym typeface="Montserrat"/>
            </a:endParaRPr>
          </a:p>
          <a:p>
            <a:pPr indent="-304800" lvl="0" marL="457200" rtl="0" algn="l">
              <a:lnSpc>
                <a:spcPct val="150000"/>
              </a:lnSpc>
              <a:spcBef>
                <a:spcPts val="0"/>
              </a:spcBef>
              <a:spcAft>
                <a:spcPts val="0"/>
              </a:spcAft>
              <a:buSzPts val="1200"/>
              <a:buFont typeface="Montserrat"/>
              <a:buChar char="●"/>
            </a:pPr>
            <a:r>
              <a:rPr lang="en" sz="1200">
                <a:latin typeface="Montserrat SemiBold"/>
                <a:ea typeface="Montserrat SemiBold"/>
                <a:cs typeface="Montserrat SemiBold"/>
                <a:sym typeface="Montserrat SemiBold"/>
              </a:rPr>
              <a:t>Prompt Improvements: </a:t>
            </a:r>
            <a:r>
              <a:rPr lang="en" sz="1200">
                <a:latin typeface="Montserrat"/>
                <a:ea typeface="Montserrat"/>
                <a:cs typeface="Montserrat"/>
                <a:sym typeface="Montserrat"/>
              </a:rPr>
              <a:t> Answers to include the manual page and citations so that medical professional can verify the source in the Merc manual.</a:t>
            </a:r>
            <a:endParaRPr sz="1200">
              <a:latin typeface="Montserrat"/>
              <a:ea typeface="Montserrat"/>
              <a:cs typeface="Montserrat"/>
              <a:sym typeface="Montserrat"/>
            </a:endParaRPr>
          </a:p>
          <a:p>
            <a:pPr indent="-304800" lvl="0" marL="457200" rtl="0" algn="l">
              <a:lnSpc>
                <a:spcPct val="150000"/>
              </a:lnSpc>
              <a:spcBef>
                <a:spcPts val="0"/>
              </a:spcBef>
              <a:spcAft>
                <a:spcPts val="0"/>
              </a:spcAft>
              <a:buSzPts val="1200"/>
              <a:buFont typeface="Montserrat"/>
              <a:buChar char="●"/>
            </a:pPr>
            <a:r>
              <a:rPr lang="en" sz="1200">
                <a:latin typeface="Montserrat SemiBold"/>
                <a:ea typeface="Montserrat SemiBold"/>
                <a:cs typeface="Montserrat SemiBold"/>
                <a:sym typeface="Montserrat SemiBold"/>
              </a:rPr>
              <a:t>Test Improvements: </a:t>
            </a:r>
            <a:r>
              <a:rPr b="1" lang="en" sz="1200">
                <a:latin typeface="Montserrat"/>
                <a:ea typeface="Montserrat"/>
                <a:cs typeface="Montserrat"/>
                <a:sym typeface="Montserrat"/>
              </a:rPr>
              <a:t> </a:t>
            </a:r>
            <a:r>
              <a:rPr lang="en" sz="1200">
                <a:latin typeface="Montserrat"/>
                <a:ea typeface="Montserrat"/>
                <a:cs typeface="Montserrat"/>
                <a:sym typeface="Montserrat"/>
              </a:rPr>
              <a:t>Include Medical professionals to review sample outputs.. This will help to compare the scores from Human review and LLM-as-a-judge to validate how well the system works.</a:t>
            </a:r>
            <a:endParaRPr sz="1200">
              <a:latin typeface="Montserrat SemiBold"/>
              <a:ea typeface="Montserrat SemiBold"/>
              <a:cs typeface="Montserrat SemiBold"/>
              <a:sym typeface="Montserrat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
          <p:cNvSpPr txBox="1"/>
          <p:nvPr>
            <p:ph type="title"/>
          </p:nvPr>
        </p:nvSpPr>
        <p:spPr>
          <a:xfrm>
            <a:off x="783512" y="156479"/>
            <a:ext cx="34107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2400">
                <a:solidFill>
                  <a:srgbClr val="0E39A9"/>
                </a:solidFill>
                <a:latin typeface="Nunito Light"/>
                <a:ea typeface="Nunito Light"/>
                <a:cs typeface="Nunito Light"/>
                <a:sym typeface="Nunito Light"/>
              </a:rPr>
              <a:t>Business Problem </a:t>
            </a:r>
            <a:endParaRPr b="0" sz="2400">
              <a:solidFill>
                <a:srgbClr val="0E39A9"/>
              </a:solidFill>
              <a:latin typeface="Nunito Light"/>
              <a:ea typeface="Nunito Light"/>
              <a:cs typeface="Nunito Light"/>
              <a:sym typeface="Nunito Light"/>
            </a:endParaRPr>
          </a:p>
        </p:txBody>
      </p:sp>
      <p:sp>
        <p:nvSpPr>
          <p:cNvPr id="211" name="Google Shape;211;p4"/>
          <p:cNvSpPr txBox="1"/>
          <p:nvPr/>
        </p:nvSpPr>
        <p:spPr>
          <a:xfrm>
            <a:off x="377350" y="625912"/>
            <a:ext cx="4095000" cy="2062500"/>
          </a:xfrm>
          <a:prstGeom prst="rect">
            <a:avLst/>
          </a:prstGeom>
          <a:noFill/>
          <a:ln>
            <a:noFill/>
          </a:ln>
        </p:spPr>
        <p:txBody>
          <a:bodyPr anchorCtr="0" anchor="t" bIns="182875" lIns="91425" spcFirstLastPara="1" rIns="91425" wrap="square" tIns="182875">
            <a:spAutoFit/>
          </a:bodyPr>
          <a:lstStyle/>
          <a:p>
            <a:pPr indent="0" lvl="0" marL="91440" marR="91440" rtl="0" algn="l">
              <a:lnSpc>
                <a:spcPct val="150000"/>
              </a:lnSpc>
              <a:spcBef>
                <a:spcPts val="0"/>
              </a:spcBef>
              <a:spcAft>
                <a:spcPts val="0"/>
              </a:spcAft>
              <a:buClr>
                <a:srgbClr val="000000"/>
              </a:buClr>
              <a:buSzPts val="1400"/>
              <a:buFont typeface="Arial"/>
              <a:buNone/>
            </a:pPr>
            <a:r>
              <a:rPr lang="en" sz="1100">
                <a:solidFill>
                  <a:srgbClr val="4C1130"/>
                </a:solidFill>
                <a:latin typeface="Montserrat"/>
                <a:ea typeface="Montserrat"/>
                <a:cs typeface="Montserrat"/>
                <a:sym typeface="Montserrat"/>
              </a:rPr>
              <a:t>Healthcare professionals are struggling to keep up with rapidly evolving medical data, making it difficult to find specific information when they need it most. This search for reliable research often slows down diagnoses and treatment plans, leading to operational inefficiencies and impacting the overall standard of patient care.</a:t>
            </a:r>
            <a:endParaRPr sz="1100">
              <a:solidFill>
                <a:srgbClr val="4C1130"/>
              </a:solidFill>
              <a:latin typeface="Montserrat"/>
              <a:ea typeface="Montserrat"/>
              <a:cs typeface="Montserrat"/>
              <a:sym typeface="Montserrat"/>
            </a:endParaRPr>
          </a:p>
        </p:txBody>
      </p:sp>
      <p:sp>
        <p:nvSpPr>
          <p:cNvPr id="212" name="Google Shape;212;p4"/>
          <p:cNvSpPr txBox="1"/>
          <p:nvPr>
            <p:ph type="title"/>
          </p:nvPr>
        </p:nvSpPr>
        <p:spPr>
          <a:xfrm>
            <a:off x="4750626" y="155448"/>
            <a:ext cx="34107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2400">
                <a:solidFill>
                  <a:srgbClr val="0E39A9"/>
                </a:solidFill>
                <a:latin typeface="Nunito Light"/>
                <a:ea typeface="Nunito Light"/>
                <a:cs typeface="Nunito Light"/>
                <a:sym typeface="Nunito Light"/>
              </a:rPr>
              <a:t>Objective</a:t>
            </a:r>
            <a:endParaRPr b="0" sz="2400">
              <a:solidFill>
                <a:srgbClr val="0E39A9"/>
              </a:solidFill>
              <a:latin typeface="Nunito Light"/>
              <a:ea typeface="Nunito Light"/>
              <a:cs typeface="Nunito Light"/>
              <a:sym typeface="Nunito Light"/>
            </a:endParaRPr>
          </a:p>
        </p:txBody>
      </p:sp>
      <p:sp>
        <p:nvSpPr>
          <p:cNvPr id="213" name="Google Shape;213;p4"/>
          <p:cNvSpPr txBox="1"/>
          <p:nvPr/>
        </p:nvSpPr>
        <p:spPr>
          <a:xfrm>
            <a:off x="4750625" y="625687"/>
            <a:ext cx="4095000" cy="2062500"/>
          </a:xfrm>
          <a:prstGeom prst="rect">
            <a:avLst/>
          </a:prstGeom>
          <a:noFill/>
          <a:ln>
            <a:noFill/>
          </a:ln>
        </p:spPr>
        <p:txBody>
          <a:bodyPr anchorCtr="0" anchor="t" bIns="182875" lIns="91425" spcFirstLastPara="1" rIns="91425" wrap="square" tIns="182875">
            <a:spAutoFit/>
          </a:bodyPr>
          <a:lstStyle/>
          <a:p>
            <a:pPr indent="0" lvl="0" marL="91440" marR="91440" rtl="0" algn="l">
              <a:lnSpc>
                <a:spcPct val="150000"/>
              </a:lnSpc>
              <a:spcBef>
                <a:spcPts val="0"/>
              </a:spcBef>
              <a:spcAft>
                <a:spcPts val="0"/>
              </a:spcAft>
              <a:buClr>
                <a:srgbClr val="000000"/>
              </a:buClr>
              <a:buSzPts val="1400"/>
              <a:buFont typeface="Arial"/>
              <a:buNone/>
            </a:pPr>
            <a:r>
              <a:rPr lang="en" sz="1100">
                <a:solidFill>
                  <a:srgbClr val="4C1130"/>
                </a:solidFill>
                <a:latin typeface="Montserrat"/>
                <a:ea typeface="Montserrat"/>
                <a:cs typeface="Montserrat"/>
                <a:sym typeface="Montserrat"/>
              </a:rPr>
              <a:t>To build a LLM &amp; RAG based AI prototype that uses trusted medical manuals. The goal is to streamline clinical decision making and reduce information overload. By making reliable data instantly accessible, we aim to improve diagnostic accuracy and help standardize high-quality care across the healthcare system.</a:t>
            </a:r>
            <a:endParaRPr b="0" i="0" sz="1100" u="none" cap="none" strike="noStrike">
              <a:solidFill>
                <a:srgbClr val="4C1130"/>
              </a:solidFill>
              <a:latin typeface="Montserrat"/>
              <a:ea typeface="Montserrat"/>
              <a:cs typeface="Montserrat"/>
              <a:sym typeface="Montserrat"/>
            </a:endParaRPr>
          </a:p>
        </p:txBody>
      </p:sp>
      <p:sp>
        <p:nvSpPr>
          <p:cNvPr id="214" name="Google Shape;214;p4"/>
          <p:cNvSpPr txBox="1"/>
          <p:nvPr>
            <p:ph type="title"/>
          </p:nvPr>
        </p:nvSpPr>
        <p:spPr>
          <a:xfrm>
            <a:off x="194082" y="2740500"/>
            <a:ext cx="1371600" cy="385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2000">
                <a:solidFill>
                  <a:srgbClr val="0E39A9"/>
                </a:solidFill>
                <a:latin typeface="Nunito Light"/>
                <a:ea typeface="Nunito Light"/>
                <a:cs typeface="Nunito Light"/>
                <a:sym typeface="Nunito Light"/>
              </a:rPr>
              <a:t>Solution</a:t>
            </a:r>
            <a:endParaRPr b="0" sz="2000">
              <a:solidFill>
                <a:srgbClr val="0E39A9"/>
              </a:solidFill>
              <a:latin typeface="Nunito Light"/>
              <a:ea typeface="Nunito Light"/>
              <a:cs typeface="Nunito Light"/>
              <a:sym typeface="Nunito Light"/>
            </a:endParaRPr>
          </a:p>
        </p:txBody>
      </p:sp>
      <p:sp>
        <p:nvSpPr>
          <p:cNvPr id="215" name="Google Shape;215;p4"/>
          <p:cNvSpPr/>
          <p:nvPr/>
        </p:nvSpPr>
        <p:spPr>
          <a:xfrm>
            <a:off x="769426" y="3212009"/>
            <a:ext cx="14355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unito"/>
                <a:ea typeface="Nunito"/>
                <a:cs typeface="Nunito"/>
                <a:sym typeface="Nunito"/>
              </a:rPr>
              <a:t>LLM Based Solution</a:t>
            </a:r>
            <a:endParaRPr sz="1200">
              <a:solidFill>
                <a:schemeClr val="dk1"/>
              </a:solidFill>
              <a:latin typeface="Nunito"/>
              <a:ea typeface="Nunito"/>
              <a:cs typeface="Nunito"/>
              <a:sym typeface="Nunito"/>
            </a:endParaRPr>
          </a:p>
        </p:txBody>
      </p:sp>
      <p:sp>
        <p:nvSpPr>
          <p:cNvPr id="216" name="Google Shape;216;p4"/>
          <p:cNvSpPr/>
          <p:nvPr/>
        </p:nvSpPr>
        <p:spPr>
          <a:xfrm>
            <a:off x="2847524" y="3212009"/>
            <a:ext cx="14322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Nunito"/>
                <a:ea typeface="Nunito"/>
                <a:cs typeface="Nunito"/>
                <a:sym typeface="Nunito"/>
              </a:rPr>
              <a:t>LLM with Prompt Engineering</a:t>
            </a:r>
            <a:endParaRPr sz="1200">
              <a:solidFill>
                <a:schemeClr val="dk1"/>
              </a:solidFill>
              <a:latin typeface="Nunito"/>
              <a:ea typeface="Nunito"/>
              <a:cs typeface="Nunito"/>
              <a:sym typeface="Nunito"/>
            </a:endParaRPr>
          </a:p>
        </p:txBody>
      </p:sp>
      <p:sp>
        <p:nvSpPr>
          <p:cNvPr id="217" name="Google Shape;217;p4"/>
          <p:cNvSpPr/>
          <p:nvPr/>
        </p:nvSpPr>
        <p:spPr>
          <a:xfrm>
            <a:off x="2297629" y="3319118"/>
            <a:ext cx="457200" cy="33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200">
              <a:solidFill>
                <a:schemeClr val="dk1"/>
              </a:solidFill>
              <a:latin typeface="Nunito"/>
              <a:ea typeface="Nunito"/>
              <a:cs typeface="Nunito"/>
              <a:sym typeface="Nunito"/>
            </a:endParaRPr>
          </a:p>
        </p:txBody>
      </p:sp>
      <p:sp>
        <p:nvSpPr>
          <p:cNvPr id="218" name="Google Shape;218;p4"/>
          <p:cNvSpPr/>
          <p:nvPr/>
        </p:nvSpPr>
        <p:spPr>
          <a:xfrm>
            <a:off x="4950855" y="3198497"/>
            <a:ext cx="14322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Nunito"/>
                <a:ea typeface="Nunito"/>
                <a:cs typeface="Nunito"/>
                <a:sym typeface="Nunito"/>
              </a:rPr>
              <a:t>RAG Based Solution</a:t>
            </a:r>
            <a:endParaRPr sz="1200">
              <a:solidFill>
                <a:schemeClr val="dk1"/>
              </a:solidFill>
              <a:latin typeface="Nunito"/>
              <a:ea typeface="Nunito"/>
              <a:cs typeface="Nunito"/>
              <a:sym typeface="Nunito"/>
            </a:endParaRPr>
          </a:p>
        </p:txBody>
      </p:sp>
      <p:sp>
        <p:nvSpPr>
          <p:cNvPr id="219" name="Google Shape;219;p4"/>
          <p:cNvSpPr/>
          <p:nvPr/>
        </p:nvSpPr>
        <p:spPr>
          <a:xfrm>
            <a:off x="4400797" y="3319307"/>
            <a:ext cx="457200" cy="33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200">
              <a:solidFill>
                <a:schemeClr val="dk1"/>
              </a:solidFill>
              <a:latin typeface="Nunito"/>
              <a:ea typeface="Nunito"/>
              <a:cs typeface="Nunito"/>
              <a:sym typeface="Nunito"/>
            </a:endParaRPr>
          </a:p>
        </p:txBody>
      </p:sp>
      <p:sp>
        <p:nvSpPr>
          <p:cNvPr id="220" name="Google Shape;220;p4"/>
          <p:cNvSpPr/>
          <p:nvPr/>
        </p:nvSpPr>
        <p:spPr>
          <a:xfrm>
            <a:off x="7054188" y="3212009"/>
            <a:ext cx="14322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Nunito"/>
                <a:ea typeface="Nunito"/>
                <a:cs typeface="Nunito"/>
                <a:sym typeface="Nunito"/>
              </a:rPr>
              <a:t>Finetune &amp; Evaluate</a:t>
            </a:r>
            <a:endParaRPr sz="1200">
              <a:solidFill>
                <a:schemeClr val="dk1"/>
              </a:solidFill>
              <a:latin typeface="Nunito"/>
              <a:ea typeface="Nunito"/>
              <a:cs typeface="Nunito"/>
              <a:sym typeface="Nunito"/>
            </a:endParaRPr>
          </a:p>
        </p:txBody>
      </p:sp>
      <p:sp>
        <p:nvSpPr>
          <p:cNvPr id="221" name="Google Shape;221;p4"/>
          <p:cNvSpPr/>
          <p:nvPr/>
        </p:nvSpPr>
        <p:spPr>
          <a:xfrm>
            <a:off x="6492313" y="3318832"/>
            <a:ext cx="457200" cy="33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200">
              <a:solidFill>
                <a:schemeClr val="dk1"/>
              </a:solidFill>
              <a:latin typeface="Nunito"/>
              <a:ea typeface="Nunito"/>
              <a:cs typeface="Nunito"/>
              <a:sym typeface="Nunito"/>
            </a:endParaRPr>
          </a:p>
        </p:txBody>
      </p:sp>
      <p:sp>
        <p:nvSpPr>
          <p:cNvPr id="222" name="Google Shape;222;p4"/>
          <p:cNvSpPr txBox="1"/>
          <p:nvPr/>
        </p:nvSpPr>
        <p:spPr>
          <a:xfrm>
            <a:off x="649125" y="3842500"/>
            <a:ext cx="1827000" cy="9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Nunito"/>
                <a:ea typeface="Nunito"/>
                <a:cs typeface="Nunito"/>
                <a:sym typeface="Nunito"/>
              </a:rPr>
              <a:t>We will start with implementing  an open source LLM from </a:t>
            </a:r>
            <a:r>
              <a:rPr lang="en" sz="1000">
                <a:solidFill>
                  <a:schemeClr val="dk2"/>
                </a:solidFill>
                <a:latin typeface="Nunito"/>
                <a:ea typeface="Nunito"/>
                <a:cs typeface="Nunito"/>
                <a:sym typeface="Nunito"/>
              </a:rPr>
              <a:t>Hugging Face to generate responses</a:t>
            </a:r>
            <a:endParaRPr sz="1000">
              <a:solidFill>
                <a:schemeClr val="dk2"/>
              </a:solidFill>
              <a:latin typeface="Nunito"/>
              <a:ea typeface="Nunito"/>
              <a:cs typeface="Nunito"/>
              <a:sym typeface="Nunito"/>
            </a:endParaRPr>
          </a:p>
        </p:txBody>
      </p:sp>
      <p:sp>
        <p:nvSpPr>
          <p:cNvPr id="223" name="Google Shape;223;p4"/>
          <p:cNvSpPr txBox="1"/>
          <p:nvPr/>
        </p:nvSpPr>
        <p:spPr>
          <a:xfrm>
            <a:off x="2739375" y="3840040"/>
            <a:ext cx="1648500" cy="9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Nunito"/>
                <a:ea typeface="Nunito"/>
                <a:cs typeface="Nunito"/>
                <a:sym typeface="Nunito"/>
              </a:rPr>
              <a:t>Next, We will use prompt engineering techniques to improve the </a:t>
            </a:r>
            <a:r>
              <a:rPr lang="en" sz="1000">
                <a:solidFill>
                  <a:schemeClr val="dk2"/>
                </a:solidFill>
                <a:latin typeface="Nunito"/>
                <a:ea typeface="Nunito"/>
                <a:cs typeface="Nunito"/>
                <a:sym typeface="Nunito"/>
              </a:rPr>
              <a:t>response</a:t>
            </a:r>
            <a:r>
              <a:rPr lang="en" sz="1000">
                <a:solidFill>
                  <a:schemeClr val="dk2"/>
                </a:solidFill>
                <a:latin typeface="Nunito"/>
                <a:ea typeface="Nunito"/>
                <a:cs typeface="Nunito"/>
                <a:sym typeface="Nunito"/>
              </a:rPr>
              <a:t> quality.</a:t>
            </a:r>
            <a:endParaRPr sz="1000">
              <a:solidFill>
                <a:schemeClr val="dk2"/>
              </a:solidFill>
              <a:latin typeface="Nunito"/>
              <a:ea typeface="Nunito"/>
              <a:cs typeface="Nunito"/>
              <a:sym typeface="Nunito"/>
            </a:endParaRPr>
          </a:p>
        </p:txBody>
      </p:sp>
      <p:sp>
        <p:nvSpPr>
          <p:cNvPr id="224" name="Google Shape;224;p4"/>
          <p:cNvSpPr txBox="1"/>
          <p:nvPr/>
        </p:nvSpPr>
        <p:spPr>
          <a:xfrm>
            <a:off x="4651150" y="3840050"/>
            <a:ext cx="2170200" cy="9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Nunito"/>
                <a:ea typeface="Nunito"/>
                <a:cs typeface="Nunito"/>
                <a:sym typeface="Nunito"/>
              </a:rPr>
              <a:t>We will implement RAG based solution by embedding and performing semantic similarities to retrieve context, augment the prompt, and generate response</a:t>
            </a:r>
            <a:endParaRPr sz="1000">
              <a:solidFill>
                <a:schemeClr val="dk2"/>
              </a:solidFill>
              <a:latin typeface="Nunito"/>
              <a:ea typeface="Nunito"/>
              <a:cs typeface="Nunito"/>
              <a:sym typeface="Nunito"/>
            </a:endParaRPr>
          </a:p>
        </p:txBody>
      </p:sp>
      <p:sp>
        <p:nvSpPr>
          <p:cNvPr id="225" name="Google Shape;225;p4"/>
          <p:cNvSpPr txBox="1"/>
          <p:nvPr/>
        </p:nvSpPr>
        <p:spPr>
          <a:xfrm>
            <a:off x="6949525" y="3840480"/>
            <a:ext cx="1978800" cy="9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Nunito"/>
                <a:ea typeface="Nunito"/>
                <a:cs typeface="Nunito"/>
                <a:sym typeface="Nunito"/>
              </a:rPr>
              <a:t>Finally, we will finetune the RAG solution using prompt engineering and evaluate the using LLM as a judge</a:t>
            </a:r>
            <a:endParaRPr sz="1000">
              <a:solidFill>
                <a:schemeClr val="dk2"/>
              </a:solidFill>
              <a:latin typeface="Nunito"/>
              <a:ea typeface="Nunito"/>
              <a:cs typeface="Nunito"/>
              <a:sym typeface="Nunito"/>
            </a:endParaRPr>
          </a:p>
        </p:txBody>
      </p:sp>
      <p:cxnSp>
        <p:nvCxnSpPr>
          <p:cNvPr id="226" name="Google Shape;226;p4"/>
          <p:cNvCxnSpPr/>
          <p:nvPr/>
        </p:nvCxnSpPr>
        <p:spPr>
          <a:xfrm flipH="1" rot="10800000">
            <a:off x="1293283" y="2940950"/>
            <a:ext cx="7209300" cy="37200"/>
          </a:xfrm>
          <a:prstGeom prst="straightConnector1">
            <a:avLst/>
          </a:prstGeom>
          <a:noFill/>
          <a:ln cap="flat" cmpd="sng" w="9525">
            <a:solidFill>
              <a:srgbClr val="CC0000"/>
            </a:solidFill>
            <a:prstDash val="dash"/>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5"/>
          <p:cNvSpPr txBox="1"/>
          <p:nvPr>
            <p:ph type="title"/>
          </p:nvPr>
        </p:nvSpPr>
        <p:spPr>
          <a:xfrm>
            <a:off x="234300" y="90350"/>
            <a:ext cx="54192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800">
                <a:solidFill>
                  <a:srgbClr val="0E39A9"/>
                </a:solidFill>
                <a:latin typeface="Nunito Light"/>
                <a:ea typeface="Nunito Light"/>
                <a:cs typeface="Nunito Light"/>
                <a:sym typeface="Nunito Light"/>
              </a:rPr>
              <a:t>Baseline</a:t>
            </a:r>
            <a:r>
              <a:rPr b="0" lang="en" sz="2400">
                <a:solidFill>
                  <a:srgbClr val="0E39A9"/>
                </a:solidFill>
                <a:latin typeface="Nunito Light"/>
                <a:ea typeface="Nunito Light"/>
                <a:cs typeface="Nunito Light"/>
                <a:sym typeface="Nunito Light"/>
              </a:rPr>
              <a:t>: </a:t>
            </a:r>
            <a:r>
              <a:rPr b="0" lang="en" sz="1800">
                <a:solidFill>
                  <a:schemeClr val="lt2"/>
                </a:solidFill>
                <a:latin typeface="Nunito Light"/>
                <a:ea typeface="Nunito Light"/>
                <a:cs typeface="Nunito Light"/>
                <a:sym typeface="Nunito Light"/>
              </a:rPr>
              <a:t>Question Answering using LLM</a:t>
            </a:r>
            <a:endParaRPr b="0" sz="2400">
              <a:solidFill>
                <a:srgbClr val="0E39A9"/>
              </a:solidFill>
              <a:latin typeface="Nunito Light"/>
              <a:ea typeface="Nunito Light"/>
              <a:cs typeface="Nunito Light"/>
              <a:sym typeface="Nunito Light"/>
            </a:endParaRPr>
          </a:p>
        </p:txBody>
      </p:sp>
      <p:sp>
        <p:nvSpPr>
          <p:cNvPr id="232" name="Google Shape;232;p5"/>
          <p:cNvSpPr txBox="1"/>
          <p:nvPr/>
        </p:nvSpPr>
        <p:spPr>
          <a:xfrm>
            <a:off x="234300" y="1062533"/>
            <a:ext cx="720300" cy="285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Light"/>
                <a:ea typeface="Nunito Light"/>
                <a:cs typeface="Nunito Light"/>
                <a:sym typeface="Nunito Light"/>
              </a:rPr>
              <a:t>Source</a:t>
            </a:r>
            <a:endParaRPr sz="1000">
              <a:solidFill>
                <a:schemeClr val="dk2"/>
              </a:solidFill>
              <a:latin typeface="Nunito Light"/>
              <a:ea typeface="Nunito Light"/>
              <a:cs typeface="Nunito Light"/>
              <a:sym typeface="Nunito Light"/>
            </a:endParaRPr>
          </a:p>
        </p:txBody>
      </p:sp>
      <p:sp>
        <p:nvSpPr>
          <p:cNvPr id="233" name="Google Shape;233;p5"/>
          <p:cNvSpPr/>
          <p:nvPr/>
        </p:nvSpPr>
        <p:spPr>
          <a:xfrm>
            <a:off x="234300" y="1439833"/>
            <a:ext cx="720300" cy="5259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Hugging Face</a:t>
            </a:r>
            <a:endParaRPr sz="1000">
              <a:solidFill>
                <a:schemeClr val="dk1"/>
              </a:solidFill>
              <a:latin typeface="Nunito Light"/>
              <a:ea typeface="Nunito Light"/>
              <a:cs typeface="Nunito Light"/>
              <a:sym typeface="Nunito Light"/>
            </a:endParaRPr>
          </a:p>
        </p:txBody>
      </p:sp>
      <p:sp>
        <p:nvSpPr>
          <p:cNvPr id="234" name="Google Shape;234;p5"/>
          <p:cNvSpPr txBox="1"/>
          <p:nvPr/>
        </p:nvSpPr>
        <p:spPr>
          <a:xfrm>
            <a:off x="1032274" y="1062533"/>
            <a:ext cx="2017800" cy="285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Light"/>
                <a:ea typeface="Nunito Light"/>
                <a:cs typeface="Nunito Light"/>
                <a:sym typeface="Nunito Light"/>
              </a:rPr>
              <a:t>Model</a:t>
            </a:r>
            <a:endParaRPr sz="1000">
              <a:solidFill>
                <a:schemeClr val="dk2"/>
              </a:solidFill>
              <a:latin typeface="Nunito Light"/>
              <a:ea typeface="Nunito Light"/>
              <a:cs typeface="Nunito Light"/>
              <a:sym typeface="Nunito Light"/>
            </a:endParaRPr>
          </a:p>
        </p:txBody>
      </p:sp>
      <p:sp>
        <p:nvSpPr>
          <p:cNvPr id="235" name="Google Shape;235;p5"/>
          <p:cNvSpPr/>
          <p:nvPr/>
        </p:nvSpPr>
        <p:spPr>
          <a:xfrm>
            <a:off x="1032275" y="1439833"/>
            <a:ext cx="2017800" cy="5259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1000">
                <a:solidFill>
                  <a:schemeClr val="dk1"/>
                </a:solidFill>
                <a:latin typeface="Nunito Light"/>
                <a:ea typeface="Nunito Light"/>
                <a:cs typeface="Nunito Light"/>
                <a:sym typeface="Nunito Light"/>
              </a:rPr>
              <a:t>TheBloke /</a:t>
            </a:r>
            <a:endParaRPr sz="1000">
              <a:solidFill>
                <a:schemeClr val="dk1"/>
              </a:solidFill>
              <a:latin typeface="Nunito Light"/>
              <a:ea typeface="Nunito Light"/>
              <a:cs typeface="Nunito Light"/>
              <a:sym typeface="Nunito Light"/>
            </a:endParaRPr>
          </a:p>
          <a:p>
            <a:pPr indent="0" lvl="0" marL="0" marR="0" rtl="0" algn="l">
              <a:lnSpc>
                <a:spcPct val="100000"/>
              </a:lnSpc>
              <a:spcBef>
                <a:spcPts val="0"/>
              </a:spcBef>
              <a:spcAft>
                <a:spcPts val="0"/>
              </a:spcAft>
              <a:buNone/>
            </a:pPr>
            <a:r>
              <a:rPr lang="en" sz="1000">
                <a:solidFill>
                  <a:schemeClr val="dk1"/>
                </a:solidFill>
                <a:latin typeface="Nunito Light"/>
                <a:ea typeface="Nunito Light"/>
                <a:cs typeface="Nunito Light"/>
                <a:sym typeface="Nunito Light"/>
              </a:rPr>
              <a:t>Mistral-7B-Instruct-v0.2-GGUF</a:t>
            </a:r>
            <a:endParaRPr sz="1000">
              <a:solidFill>
                <a:schemeClr val="dk1"/>
              </a:solidFill>
              <a:latin typeface="Nunito Light"/>
              <a:ea typeface="Nunito Light"/>
              <a:cs typeface="Nunito Light"/>
              <a:sym typeface="Nunito Light"/>
            </a:endParaRPr>
          </a:p>
        </p:txBody>
      </p:sp>
      <p:sp>
        <p:nvSpPr>
          <p:cNvPr id="236" name="Google Shape;236;p5"/>
          <p:cNvSpPr txBox="1"/>
          <p:nvPr>
            <p:ph type="title"/>
          </p:nvPr>
        </p:nvSpPr>
        <p:spPr>
          <a:xfrm>
            <a:off x="234275" y="616250"/>
            <a:ext cx="36138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1400">
                <a:solidFill>
                  <a:srgbClr val="CC0000"/>
                </a:solidFill>
                <a:latin typeface="Nunito Light"/>
                <a:ea typeface="Nunito Light"/>
                <a:cs typeface="Nunito Light"/>
                <a:sym typeface="Nunito Light"/>
              </a:rPr>
              <a:t>Local LLM Deployment </a:t>
            </a:r>
            <a:endParaRPr b="0" sz="1400">
              <a:solidFill>
                <a:srgbClr val="CC0000"/>
              </a:solidFill>
              <a:latin typeface="Nunito Light"/>
              <a:ea typeface="Nunito Light"/>
              <a:cs typeface="Nunito Light"/>
              <a:sym typeface="Nunito Light"/>
            </a:endParaRPr>
          </a:p>
        </p:txBody>
      </p:sp>
      <p:sp>
        <p:nvSpPr>
          <p:cNvPr id="237" name="Google Shape;237;p5"/>
          <p:cNvSpPr txBox="1"/>
          <p:nvPr/>
        </p:nvSpPr>
        <p:spPr>
          <a:xfrm>
            <a:off x="3127750" y="1062533"/>
            <a:ext cx="720300" cy="285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2"/>
                </a:solidFill>
                <a:latin typeface="Nunito Light"/>
                <a:ea typeface="Nunito Light"/>
                <a:cs typeface="Nunito Light"/>
                <a:sym typeface="Nunito Light"/>
              </a:rPr>
              <a:t>Parameters</a:t>
            </a:r>
            <a:endParaRPr sz="800">
              <a:solidFill>
                <a:schemeClr val="dk2"/>
              </a:solidFill>
              <a:latin typeface="Nunito Light"/>
              <a:ea typeface="Nunito Light"/>
              <a:cs typeface="Nunito Light"/>
              <a:sym typeface="Nunito Light"/>
            </a:endParaRPr>
          </a:p>
        </p:txBody>
      </p:sp>
      <p:sp>
        <p:nvSpPr>
          <p:cNvPr id="238" name="Google Shape;238;p5"/>
          <p:cNvSpPr/>
          <p:nvPr/>
        </p:nvSpPr>
        <p:spPr>
          <a:xfrm>
            <a:off x="3127750" y="1439833"/>
            <a:ext cx="720300" cy="5259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Nunito Light"/>
                <a:ea typeface="Nunito Light"/>
                <a:cs typeface="Nunito Light"/>
                <a:sym typeface="Nunito Light"/>
              </a:rPr>
              <a:t>7B</a:t>
            </a:r>
            <a:endParaRPr sz="1000">
              <a:solidFill>
                <a:schemeClr val="dk1"/>
              </a:solidFill>
              <a:latin typeface="Nunito Light"/>
              <a:ea typeface="Nunito Light"/>
              <a:cs typeface="Nunito Light"/>
              <a:sym typeface="Nunito Light"/>
            </a:endParaRPr>
          </a:p>
        </p:txBody>
      </p:sp>
      <p:sp>
        <p:nvSpPr>
          <p:cNvPr id="239" name="Google Shape;239;p5"/>
          <p:cNvSpPr/>
          <p:nvPr/>
        </p:nvSpPr>
        <p:spPr>
          <a:xfrm>
            <a:off x="234275" y="2099725"/>
            <a:ext cx="3613800" cy="232800"/>
          </a:xfrm>
          <a:prstGeom prst="rect">
            <a:avLst/>
          </a:prstGeom>
          <a:solidFill>
            <a:srgbClr val="F9CB9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Nunito Light"/>
                <a:ea typeface="Nunito Light"/>
                <a:cs typeface="Nunito Light"/>
                <a:sym typeface="Nunito Light"/>
              </a:rPr>
              <a:t>llama.cpp</a:t>
            </a:r>
            <a:endParaRPr sz="1000">
              <a:solidFill>
                <a:schemeClr val="dk1"/>
              </a:solidFill>
              <a:latin typeface="Nunito Light"/>
              <a:ea typeface="Nunito Light"/>
              <a:cs typeface="Nunito Light"/>
              <a:sym typeface="Nunito Light"/>
            </a:endParaRPr>
          </a:p>
        </p:txBody>
      </p:sp>
      <p:sp>
        <p:nvSpPr>
          <p:cNvPr id="240" name="Google Shape;240;p5"/>
          <p:cNvSpPr txBox="1"/>
          <p:nvPr>
            <p:ph type="title"/>
          </p:nvPr>
        </p:nvSpPr>
        <p:spPr>
          <a:xfrm>
            <a:off x="234275" y="2466525"/>
            <a:ext cx="36138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1400">
                <a:solidFill>
                  <a:srgbClr val="CC0000"/>
                </a:solidFill>
                <a:latin typeface="Nunito Light"/>
                <a:ea typeface="Nunito Light"/>
                <a:cs typeface="Nunito Light"/>
                <a:sym typeface="Nunito Light"/>
              </a:rPr>
              <a:t>Prompt Template</a:t>
            </a:r>
            <a:endParaRPr b="0" sz="1400">
              <a:solidFill>
                <a:srgbClr val="CC0000"/>
              </a:solidFill>
              <a:latin typeface="Nunito Light"/>
              <a:ea typeface="Nunito Light"/>
              <a:cs typeface="Nunito Light"/>
              <a:sym typeface="Nunito Light"/>
            </a:endParaRPr>
          </a:p>
        </p:txBody>
      </p:sp>
      <p:sp>
        <p:nvSpPr>
          <p:cNvPr id="241" name="Google Shape;241;p5"/>
          <p:cNvSpPr/>
          <p:nvPr/>
        </p:nvSpPr>
        <p:spPr>
          <a:xfrm>
            <a:off x="309025" y="2872325"/>
            <a:ext cx="3613800" cy="402300"/>
          </a:xfrm>
          <a:prstGeom prst="rect">
            <a:avLst/>
          </a:prstGeom>
          <a:solidFill>
            <a:srgbClr val="EFEFEF"/>
          </a:solidFill>
          <a:ln>
            <a:noFill/>
          </a:ln>
          <a:effectLst>
            <a:outerShdw blurRad="57150" rotWithShape="0" algn="bl" dir="5400000" dist="85725">
              <a:srgbClr val="000000">
                <a:alpha val="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Nunito Light"/>
                <a:ea typeface="Nunito Light"/>
                <a:cs typeface="Nunito Light"/>
                <a:sym typeface="Nunito Light"/>
              </a:rPr>
              <a:t>&lt;s&gt;[INST] {prompt} [/INST]</a:t>
            </a:r>
            <a:endParaRPr sz="1000">
              <a:solidFill>
                <a:schemeClr val="dk1"/>
              </a:solidFill>
              <a:latin typeface="Nunito Light"/>
              <a:ea typeface="Nunito Light"/>
              <a:cs typeface="Nunito Light"/>
              <a:sym typeface="Nunito Light"/>
            </a:endParaRPr>
          </a:p>
        </p:txBody>
      </p:sp>
      <p:sp>
        <p:nvSpPr>
          <p:cNvPr id="242" name="Google Shape;242;p5"/>
          <p:cNvSpPr txBox="1"/>
          <p:nvPr>
            <p:ph type="title"/>
          </p:nvPr>
        </p:nvSpPr>
        <p:spPr>
          <a:xfrm>
            <a:off x="3922825" y="616250"/>
            <a:ext cx="44250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1400">
                <a:solidFill>
                  <a:srgbClr val="CC0000"/>
                </a:solidFill>
                <a:latin typeface="Nunito Light"/>
                <a:ea typeface="Nunito Light"/>
                <a:cs typeface="Nunito Light"/>
                <a:sym typeface="Nunito Light"/>
              </a:rPr>
              <a:t>Response Generation - Important parameters</a:t>
            </a:r>
            <a:endParaRPr b="0" sz="1400">
              <a:solidFill>
                <a:srgbClr val="CC0000"/>
              </a:solidFill>
              <a:latin typeface="Nunito Light"/>
              <a:ea typeface="Nunito Light"/>
              <a:cs typeface="Nunito Light"/>
              <a:sym typeface="Nunito Light"/>
            </a:endParaRPr>
          </a:p>
        </p:txBody>
      </p:sp>
      <p:sp>
        <p:nvSpPr>
          <p:cNvPr id="243" name="Google Shape;243;p5"/>
          <p:cNvSpPr/>
          <p:nvPr/>
        </p:nvSpPr>
        <p:spPr>
          <a:xfrm>
            <a:off x="4514200" y="1115975"/>
            <a:ext cx="1051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m</a:t>
            </a:r>
            <a:r>
              <a:rPr lang="en" sz="1000">
                <a:solidFill>
                  <a:schemeClr val="dk1"/>
                </a:solidFill>
                <a:latin typeface="Nunito Light"/>
                <a:ea typeface="Nunito Light"/>
                <a:cs typeface="Nunito Light"/>
                <a:sym typeface="Nunito Light"/>
              </a:rPr>
              <a:t>ax_tokens: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b="1" lang="en" sz="1000">
                <a:solidFill>
                  <a:schemeClr val="dk1"/>
                </a:solidFill>
                <a:latin typeface="Nunito"/>
                <a:ea typeface="Nunito"/>
                <a:cs typeface="Nunito"/>
                <a:sym typeface="Nunito"/>
              </a:rPr>
              <a:t>512</a:t>
            </a:r>
            <a:endParaRPr b="1" sz="1000">
              <a:solidFill>
                <a:schemeClr val="dk1"/>
              </a:solidFill>
              <a:latin typeface="Nunito"/>
              <a:ea typeface="Nunito"/>
              <a:cs typeface="Nunito"/>
              <a:sym typeface="Nunito"/>
            </a:endParaRPr>
          </a:p>
        </p:txBody>
      </p:sp>
      <p:sp>
        <p:nvSpPr>
          <p:cNvPr id="244" name="Google Shape;244;p5"/>
          <p:cNvSpPr txBox="1"/>
          <p:nvPr/>
        </p:nvSpPr>
        <p:spPr>
          <a:xfrm>
            <a:off x="5671950" y="1062650"/>
            <a:ext cx="2889300" cy="5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F1F1F"/>
                </a:solidFill>
                <a:highlight>
                  <a:srgbClr val="FFFFFF"/>
                </a:highlight>
                <a:latin typeface="Nunito"/>
                <a:ea typeface="Nunito"/>
                <a:cs typeface="Nunito"/>
                <a:sym typeface="Nunito"/>
              </a:rPr>
              <a:t>Maximum number of tokens</a:t>
            </a:r>
            <a:r>
              <a:rPr lang="en" sz="1000">
                <a:solidFill>
                  <a:srgbClr val="1F1F1F"/>
                </a:solidFill>
                <a:highlight>
                  <a:srgbClr val="FFFFFF"/>
                </a:highlight>
                <a:latin typeface="Nunito Light"/>
                <a:ea typeface="Nunito Light"/>
                <a:cs typeface="Nunito Light"/>
                <a:sym typeface="Nunito Light"/>
              </a:rPr>
              <a:t> that the model should generate </a:t>
            </a:r>
            <a:r>
              <a:rPr b="1" lang="en" sz="1000">
                <a:solidFill>
                  <a:srgbClr val="1F1F1F"/>
                </a:solidFill>
                <a:highlight>
                  <a:srgbClr val="FFFFFF"/>
                </a:highlight>
                <a:latin typeface="Nunito"/>
                <a:ea typeface="Nunito"/>
                <a:cs typeface="Nunito"/>
                <a:sym typeface="Nunito"/>
              </a:rPr>
              <a:t>in response</a:t>
            </a:r>
            <a:r>
              <a:rPr lang="en" sz="1000">
                <a:solidFill>
                  <a:srgbClr val="1F1F1F"/>
                </a:solidFill>
                <a:highlight>
                  <a:srgbClr val="FFFFFF"/>
                </a:highlight>
                <a:latin typeface="Nunito Light"/>
                <a:ea typeface="Nunito Light"/>
                <a:cs typeface="Nunito Light"/>
                <a:sym typeface="Nunito Light"/>
              </a:rPr>
              <a:t> to the prompt.</a:t>
            </a:r>
            <a:endParaRPr sz="1000">
              <a:solidFill>
                <a:schemeClr val="dk2"/>
              </a:solidFill>
              <a:latin typeface="Nunito Light"/>
              <a:ea typeface="Nunito Light"/>
              <a:cs typeface="Nunito Light"/>
              <a:sym typeface="Nunito Light"/>
            </a:endParaRPr>
          </a:p>
        </p:txBody>
      </p:sp>
      <p:sp>
        <p:nvSpPr>
          <p:cNvPr id="245" name="Google Shape;245;p5"/>
          <p:cNvSpPr/>
          <p:nvPr/>
        </p:nvSpPr>
        <p:spPr>
          <a:xfrm>
            <a:off x="4514200" y="1669025"/>
            <a:ext cx="1048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temperature: </a:t>
            </a:r>
            <a:r>
              <a:rPr b="1" lang="en" sz="1000">
                <a:solidFill>
                  <a:schemeClr val="dk1"/>
                </a:solidFill>
                <a:latin typeface="Nunito"/>
                <a:ea typeface="Nunito"/>
                <a:cs typeface="Nunito"/>
                <a:sym typeface="Nunito"/>
              </a:rPr>
              <a:t>0</a:t>
            </a:r>
            <a:endParaRPr b="1" sz="1000">
              <a:solidFill>
                <a:schemeClr val="dk1"/>
              </a:solidFill>
              <a:latin typeface="Nunito"/>
              <a:ea typeface="Nunito"/>
              <a:cs typeface="Nunito"/>
              <a:sym typeface="Nunito"/>
            </a:endParaRPr>
          </a:p>
        </p:txBody>
      </p:sp>
      <p:sp>
        <p:nvSpPr>
          <p:cNvPr id="246" name="Google Shape;246;p5"/>
          <p:cNvSpPr txBox="1"/>
          <p:nvPr/>
        </p:nvSpPr>
        <p:spPr>
          <a:xfrm>
            <a:off x="5671950" y="1615700"/>
            <a:ext cx="2889300" cy="52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000">
                <a:solidFill>
                  <a:srgbClr val="1F1F1F"/>
                </a:solidFill>
                <a:highlight>
                  <a:srgbClr val="FFFFFF"/>
                </a:highlight>
                <a:latin typeface="Nunito Light"/>
                <a:ea typeface="Nunito Light"/>
                <a:cs typeface="Nunito Light"/>
                <a:sym typeface="Nunito Light"/>
              </a:rPr>
              <a:t>R</a:t>
            </a:r>
            <a:r>
              <a:rPr b="1" lang="en" sz="1000">
                <a:solidFill>
                  <a:srgbClr val="1F1F1F"/>
                </a:solidFill>
                <a:highlight>
                  <a:srgbClr val="FFFFFF"/>
                </a:highlight>
                <a:latin typeface="Nunito"/>
                <a:ea typeface="Nunito"/>
                <a:cs typeface="Nunito"/>
                <a:sym typeface="Nunito"/>
              </a:rPr>
              <a:t>andomness of the generated response</a:t>
            </a:r>
            <a:r>
              <a:rPr lang="en" sz="1000">
                <a:solidFill>
                  <a:srgbClr val="1F1F1F"/>
                </a:solidFill>
                <a:highlight>
                  <a:srgbClr val="FFFFFF"/>
                </a:highlight>
                <a:latin typeface="Nunito Light"/>
                <a:ea typeface="Nunito Light"/>
                <a:cs typeface="Nunito Light"/>
                <a:sym typeface="Nunito Light"/>
              </a:rPr>
              <a:t>. A higher temperature value will result in a more random response, while a lower temperature value will result in a more predictable response.</a:t>
            </a:r>
            <a:endParaRPr sz="1000">
              <a:solidFill>
                <a:srgbClr val="1F1F1F"/>
              </a:solidFill>
              <a:highlight>
                <a:srgbClr val="FFFFFF"/>
              </a:highlight>
              <a:latin typeface="Nunito Light"/>
              <a:ea typeface="Nunito Light"/>
              <a:cs typeface="Nunito Light"/>
              <a:sym typeface="Nunito Light"/>
            </a:endParaRPr>
          </a:p>
        </p:txBody>
      </p:sp>
      <p:sp>
        <p:nvSpPr>
          <p:cNvPr id="247" name="Google Shape;247;p5"/>
          <p:cNvSpPr/>
          <p:nvPr/>
        </p:nvSpPr>
        <p:spPr>
          <a:xfrm>
            <a:off x="4517136" y="2626400"/>
            <a:ext cx="1051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Top_p</a:t>
            </a:r>
            <a:r>
              <a:rPr lang="en" sz="1000">
                <a:solidFill>
                  <a:schemeClr val="dk1"/>
                </a:solidFill>
                <a:latin typeface="Nunito Light"/>
                <a:ea typeface="Nunito Light"/>
                <a:cs typeface="Nunito Light"/>
                <a:sym typeface="Nunito Light"/>
              </a:rPr>
              <a:t>: </a:t>
            </a:r>
            <a:r>
              <a:rPr b="1" lang="en" sz="1000">
                <a:solidFill>
                  <a:schemeClr val="dk1"/>
                </a:solidFill>
                <a:latin typeface="Nunito"/>
                <a:ea typeface="Nunito"/>
                <a:cs typeface="Nunito"/>
                <a:sym typeface="Nunito"/>
              </a:rPr>
              <a:t>0.95</a:t>
            </a:r>
            <a:endParaRPr b="1" sz="1000">
              <a:solidFill>
                <a:schemeClr val="dk1"/>
              </a:solidFill>
              <a:latin typeface="Nunito"/>
              <a:ea typeface="Nunito"/>
              <a:cs typeface="Nunito"/>
              <a:sym typeface="Nunito"/>
            </a:endParaRPr>
          </a:p>
        </p:txBody>
      </p:sp>
      <p:sp>
        <p:nvSpPr>
          <p:cNvPr id="248" name="Google Shape;248;p5"/>
          <p:cNvSpPr txBox="1"/>
          <p:nvPr/>
        </p:nvSpPr>
        <p:spPr>
          <a:xfrm>
            <a:off x="5718525" y="2573075"/>
            <a:ext cx="2889300" cy="5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F1F1F"/>
                </a:solidFill>
                <a:highlight>
                  <a:srgbClr val="FFFFFF"/>
                </a:highlight>
                <a:latin typeface="Nunito"/>
                <a:ea typeface="Nunito"/>
                <a:cs typeface="Nunito"/>
                <a:sym typeface="Nunito"/>
              </a:rPr>
              <a:t>Diversity of the generated response </a:t>
            </a:r>
            <a:r>
              <a:rPr lang="en" sz="1000">
                <a:solidFill>
                  <a:srgbClr val="1F1F1F"/>
                </a:solidFill>
                <a:highlight>
                  <a:srgbClr val="FFFFFF"/>
                </a:highlight>
                <a:latin typeface="Nunito Light"/>
                <a:ea typeface="Nunito Light"/>
                <a:cs typeface="Nunito Light"/>
                <a:sym typeface="Nunito Light"/>
              </a:rPr>
              <a:t>by establishing a cumulative probability cutoff for token selection. A higher value of top_p will result in a more diverse response, while a lower value will result in a less diverse response.</a:t>
            </a:r>
            <a:endParaRPr sz="1000">
              <a:solidFill>
                <a:srgbClr val="1F1F1F"/>
              </a:solidFill>
              <a:highlight>
                <a:srgbClr val="FFFFFF"/>
              </a:highlight>
              <a:latin typeface="Nunito Light"/>
              <a:ea typeface="Nunito Light"/>
              <a:cs typeface="Nunito Light"/>
              <a:sym typeface="Nunito Light"/>
            </a:endParaRPr>
          </a:p>
        </p:txBody>
      </p:sp>
      <p:sp>
        <p:nvSpPr>
          <p:cNvPr id="249" name="Google Shape;249;p5"/>
          <p:cNvSpPr/>
          <p:nvPr/>
        </p:nvSpPr>
        <p:spPr>
          <a:xfrm>
            <a:off x="4517136" y="3741875"/>
            <a:ext cx="1051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a:t>
            </a:r>
            <a:r>
              <a:rPr lang="en" sz="1000">
                <a:solidFill>
                  <a:schemeClr val="dk1"/>
                </a:solidFill>
                <a:latin typeface="Nunito Light"/>
                <a:ea typeface="Nunito Light"/>
                <a:cs typeface="Nunito Light"/>
                <a:sym typeface="Nunito Light"/>
              </a:rPr>
              <a:t>op_k: </a:t>
            </a:r>
            <a:r>
              <a:rPr b="1" lang="en" sz="1000">
                <a:solidFill>
                  <a:schemeClr val="dk1"/>
                </a:solidFill>
                <a:latin typeface="Nunito"/>
                <a:ea typeface="Nunito"/>
                <a:cs typeface="Nunito"/>
                <a:sym typeface="Nunito"/>
              </a:rPr>
              <a:t>50</a:t>
            </a:r>
            <a:endParaRPr b="1" sz="1000">
              <a:solidFill>
                <a:schemeClr val="dk1"/>
              </a:solidFill>
              <a:latin typeface="Nunito"/>
              <a:ea typeface="Nunito"/>
              <a:cs typeface="Nunito"/>
              <a:sym typeface="Nunito"/>
            </a:endParaRPr>
          </a:p>
        </p:txBody>
      </p:sp>
      <p:sp>
        <p:nvSpPr>
          <p:cNvPr id="250" name="Google Shape;250;p5"/>
          <p:cNvSpPr txBox="1"/>
          <p:nvPr/>
        </p:nvSpPr>
        <p:spPr>
          <a:xfrm>
            <a:off x="5718525" y="3688550"/>
            <a:ext cx="2889300" cy="5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F1F1F"/>
                </a:solidFill>
                <a:highlight>
                  <a:srgbClr val="FFFFFF"/>
                </a:highlight>
                <a:latin typeface="Nunito"/>
                <a:ea typeface="Nunito"/>
                <a:cs typeface="Nunito"/>
                <a:sym typeface="Nunito"/>
              </a:rPr>
              <a:t>Maximum number of most-likely next tokens</a:t>
            </a:r>
            <a:r>
              <a:rPr lang="en" sz="1000">
                <a:solidFill>
                  <a:srgbClr val="1F1F1F"/>
                </a:solidFill>
                <a:highlight>
                  <a:srgbClr val="FFFFFF"/>
                </a:highlight>
                <a:latin typeface="Nunito Light"/>
                <a:ea typeface="Nunito Light"/>
                <a:cs typeface="Nunito Light"/>
                <a:sym typeface="Nunito Light"/>
              </a:rPr>
              <a:t> to consider when generating the response at each step</a:t>
            </a:r>
            <a:endParaRPr sz="1000">
              <a:solidFill>
                <a:srgbClr val="1F1F1F"/>
              </a:solidFill>
              <a:highlight>
                <a:srgbClr val="FFFFFF"/>
              </a:highlight>
              <a:latin typeface="Nunito Light"/>
              <a:ea typeface="Nunito Light"/>
              <a:cs typeface="Nunito Light"/>
              <a:sym typeface="Nunito Light"/>
            </a:endParaRPr>
          </a:p>
        </p:txBody>
      </p:sp>
      <p:cxnSp>
        <p:nvCxnSpPr>
          <p:cNvPr id="251" name="Google Shape;251;p5"/>
          <p:cNvCxnSpPr/>
          <p:nvPr/>
        </p:nvCxnSpPr>
        <p:spPr>
          <a:xfrm flipH="1">
            <a:off x="4166150" y="1432550"/>
            <a:ext cx="9600" cy="26118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cd6a9c3abf_0_58"/>
          <p:cNvSpPr txBox="1"/>
          <p:nvPr>
            <p:ph type="title"/>
          </p:nvPr>
        </p:nvSpPr>
        <p:spPr>
          <a:xfrm>
            <a:off x="234300" y="90350"/>
            <a:ext cx="54192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800">
                <a:solidFill>
                  <a:srgbClr val="0E39A9"/>
                </a:solidFill>
                <a:latin typeface="Nunito Light"/>
                <a:ea typeface="Nunito Light"/>
                <a:cs typeface="Nunito Light"/>
                <a:sym typeface="Nunito Light"/>
              </a:rPr>
              <a:t>Baseline</a:t>
            </a:r>
            <a:r>
              <a:rPr b="0" lang="en" sz="2400">
                <a:solidFill>
                  <a:srgbClr val="0E39A9"/>
                </a:solidFill>
                <a:latin typeface="Nunito Light"/>
                <a:ea typeface="Nunito Light"/>
                <a:cs typeface="Nunito Light"/>
                <a:sym typeface="Nunito Light"/>
              </a:rPr>
              <a:t>: </a:t>
            </a:r>
            <a:r>
              <a:rPr b="0" lang="en" sz="1800">
                <a:solidFill>
                  <a:schemeClr val="lt2"/>
                </a:solidFill>
                <a:latin typeface="Nunito Light"/>
                <a:ea typeface="Nunito Light"/>
                <a:cs typeface="Nunito Light"/>
                <a:sym typeface="Nunito Light"/>
              </a:rPr>
              <a:t>Question Answering using LLM</a:t>
            </a:r>
            <a:endParaRPr b="0" sz="2400">
              <a:solidFill>
                <a:srgbClr val="0E39A9"/>
              </a:solidFill>
              <a:latin typeface="Nunito Light"/>
              <a:ea typeface="Nunito Light"/>
              <a:cs typeface="Nunito Light"/>
              <a:sym typeface="Nunito Light"/>
            </a:endParaRPr>
          </a:p>
        </p:txBody>
      </p:sp>
      <p:sp>
        <p:nvSpPr>
          <p:cNvPr id="257" name="Google Shape;257;g3cd6a9c3abf_0_58"/>
          <p:cNvSpPr txBox="1"/>
          <p:nvPr>
            <p:ph type="title"/>
          </p:nvPr>
        </p:nvSpPr>
        <p:spPr>
          <a:xfrm>
            <a:off x="234300" y="701350"/>
            <a:ext cx="3865200" cy="248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200"/>
              <a:buNone/>
            </a:pPr>
            <a:r>
              <a:rPr b="0" lang="en" sz="1300">
                <a:solidFill>
                  <a:srgbClr val="CC0000"/>
                </a:solidFill>
                <a:latin typeface="Nunito Light"/>
                <a:ea typeface="Nunito Light"/>
                <a:cs typeface="Nunito Light"/>
                <a:sym typeface="Nunito Light"/>
              </a:rPr>
              <a:t>Question 1: What is the protocol for managing sepsis in a critical care unit?</a:t>
            </a:r>
            <a:endParaRPr b="0" sz="13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1300">
              <a:solidFill>
                <a:srgbClr val="CC0000"/>
              </a:solidFill>
              <a:latin typeface="Nunito Light"/>
              <a:ea typeface="Nunito Light"/>
              <a:cs typeface="Nunito Light"/>
              <a:sym typeface="Nunito Light"/>
            </a:endParaRPr>
          </a:p>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Answer</a:t>
            </a:r>
            <a:r>
              <a:rPr b="0" lang="en" sz="1300">
                <a:solidFill>
                  <a:srgbClr val="CC0000"/>
                </a:solidFill>
                <a:latin typeface="Nunito Light"/>
                <a:ea typeface="Nunito Light"/>
                <a:cs typeface="Nunito Light"/>
                <a:sym typeface="Nunito Light"/>
              </a:rPr>
              <a:t>:</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Sepsis is a life-threatening condition that can arise from an infection, and it requires prompt recognition and aggressive management in a critical care unit. The following are general steps for managing sepsis in a critical care unit:</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1. Early recognition: Recognize the signs and symptoms of sepsis early and initiate treatment as soon as possible. Sepsis can present with various clinical features, including fever or hypothermia, tachycardia or bradycardia, altered mental status, respiratory distress, and lactic acidosis.</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2. ABCs</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
        <p:nvSpPr>
          <p:cNvPr id="258" name="Google Shape;258;g3cd6a9c3abf_0_58"/>
          <p:cNvSpPr txBox="1"/>
          <p:nvPr>
            <p:ph type="title"/>
          </p:nvPr>
        </p:nvSpPr>
        <p:spPr>
          <a:xfrm>
            <a:off x="549300" y="3383125"/>
            <a:ext cx="8214000" cy="1246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1300">
                <a:solidFill>
                  <a:srgbClr val="CC0000"/>
                </a:solidFill>
                <a:latin typeface="Nunito Light"/>
                <a:ea typeface="Nunito Light"/>
                <a:cs typeface="Nunito Light"/>
                <a:sym typeface="Nunito Light"/>
              </a:rPr>
              <a:t>:</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model does well with in its limitations and </a:t>
            </a:r>
            <a:r>
              <a:rPr b="0" lang="en" sz="1100">
                <a:solidFill>
                  <a:srgbClr val="A31515"/>
                </a:solidFill>
                <a:highlight>
                  <a:srgbClr val="FFFFFF"/>
                </a:highlight>
                <a:latin typeface="Nunito Light"/>
                <a:ea typeface="Nunito Light"/>
                <a:cs typeface="Nunito Light"/>
                <a:sym typeface="Nunito Light"/>
              </a:rPr>
              <a:t>provides a generic answers to both questions.</a:t>
            </a:r>
            <a:endParaRPr b="0" sz="1100">
              <a:solidFill>
                <a:srgbClr val="A31515"/>
              </a:solidFill>
              <a:highlight>
                <a:srgbClr val="FFFFFF"/>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rgbClr val="FFFFFF"/>
                </a:highlight>
                <a:latin typeface="Nunito Light"/>
                <a:ea typeface="Nunito Light"/>
                <a:cs typeface="Nunito Light"/>
                <a:sym typeface="Nunito Light"/>
              </a:rPr>
              <a:t>However, it lacks the </a:t>
            </a:r>
            <a:r>
              <a:rPr b="0" lang="en" sz="1100">
                <a:solidFill>
                  <a:srgbClr val="A31515"/>
                </a:solidFill>
                <a:highlight>
                  <a:srgbClr val="FFFFFF"/>
                </a:highlight>
                <a:latin typeface="Nunito Light"/>
                <a:ea typeface="Nunito Light"/>
                <a:cs typeface="Nunito Light"/>
                <a:sym typeface="Nunito Light"/>
              </a:rPr>
              <a:t>specific</a:t>
            </a:r>
            <a:r>
              <a:rPr b="0" lang="en" sz="1100">
                <a:solidFill>
                  <a:srgbClr val="A31515"/>
                </a:solidFill>
                <a:highlight>
                  <a:srgbClr val="FFFFFF"/>
                </a:highlight>
                <a:latin typeface="Nunito Light"/>
                <a:ea typeface="Nunito Light"/>
                <a:cs typeface="Nunito Light"/>
                <a:sym typeface="Nunito Light"/>
              </a:rPr>
              <a:t> details and references  that a healthcare professional may be looking for.</a:t>
            </a:r>
            <a:endParaRPr b="0" sz="1100">
              <a:solidFill>
                <a:srgbClr val="A31515"/>
              </a:solidFill>
              <a:highlight>
                <a:srgbClr val="FFFFFF"/>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rgbClr val="FFFFFF"/>
                </a:highlight>
                <a:latin typeface="Nunito Light"/>
                <a:ea typeface="Nunito Light"/>
                <a:cs typeface="Nunito Light"/>
                <a:sym typeface="Nunito Light"/>
              </a:rPr>
              <a:t>The response is truncated at 512 tokens as specified in the response parameter, It requires a well constructed prompt to get the most details.</a:t>
            </a:r>
            <a:endParaRPr b="0" sz="1100">
              <a:solidFill>
                <a:srgbClr val="A31515"/>
              </a:solidFill>
              <a:highlight>
                <a:srgbClr val="FFFFFF"/>
              </a:highlight>
              <a:latin typeface="Nunito Light"/>
              <a:ea typeface="Nunito Light"/>
              <a:cs typeface="Nunito Light"/>
              <a:sym typeface="Nunito Light"/>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
        <p:nvSpPr>
          <p:cNvPr id="259" name="Google Shape;259;g3cd6a9c3abf_0_58"/>
          <p:cNvSpPr txBox="1"/>
          <p:nvPr>
            <p:ph type="title"/>
          </p:nvPr>
        </p:nvSpPr>
        <p:spPr>
          <a:xfrm>
            <a:off x="4572000" y="701350"/>
            <a:ext cx="4287600" cy="2481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700"/>
              </a:spcBef>
              <a:spcAft>
                <a:spcPts val="0"/>
              </a:spcAft>
              <a:buNone/>
            </a:pPr>
            <a:r>
              <a:rPr b="0" lang="en" sz="1300">
                <a:solidFill>
                  <a:srgbClr val="CC0000"/>
                </a:solidFill>
                <a:latin typeface="Nunito Light"/>
                <a:ea typeface="Nunito Light"/>
                <a:cs typeface="Nunito Light"/>
                <a:sym typeface="Nunito Light"/>
              </a:rPr>
              <a:t>Query 2: What are the common symptoms for appendicitis, and can it be cured via medicine? If not, what surgical procedure should be followed to treat it?</a:t>
            </a:r>
            <a:endParaRPr b="0" sz="1300">
              <a:solidFill>
                <a:srgbClr val="CC0000"/>
              </a:solidFill>
              <a:latin typeface="Nunito Light"/>
              <a:ea typeface="Nunito Light"/>
              <a:cs typeface="Nunito Light"/>
              <a:sym typeface="Nunito Light"/>
            </a:endParaRPr>
          </a:p>
          <a:p>
            <a:pPr indent="0" lvl="0" marL="0" rtl="0" algn="l">
              <a:lnSpc>
                <a:spcPct val="115000"/>
              </a:lnSpc>
              <a:spcBef>
                <a:spcPts val="700"/>
              </a:spcBef>
              <a:spcAft>
                <a:spcPts val="0"/>
              </a:spcAft>
              <a:buNone/>
            </a:pPr>
            <a:r>
              <a:rPr b="0" lang="en" sz="1300">
                <a:solidFill>
                  <a:srgbClr val="CC0000"/>
                </a:solidFill>
                <a:latin typeface="Nunito Light"/>
                <a:ea typeface="Nunito Light"/>
                <a:cs typeface="Nunito Light"/>
                <a:sym typeface="Nunito Light"/>
              </a:rPr>
              <a:t>Answer:</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Courier New"/>
              <a:ea typeface="Courier New"/>
              <a:cs typeface="Courier New"/>
              <a:sym typeface="Courier New"/>
            </a:endParaRPr>
          </a:p>
          <a:p>
            <a:pPr indent="0" lvl="0" marL="0" marR="0" rtl="0" algn="l">
              <a:lnSpc>
                <a:spcPct val="100000"/>
              </a:lnSpc>
              <a:spcBef>
                <a:spcPts val="700"/>
              </a:spcBef>
              <a:spcAft>
                <a:spcPts val="0"/>
              </a:spcAft>
              <a:buNone/>
            </a:pPr>
            <a:r>
              <a:rPr b="0" lang="en" sz="900">
                <a:solidFill>
                  <a:srgbClr val="1F1F1F"/>
                </a:solidFill>
                <a:highlight>
                  <a:srgbClr val="FFFFFF"/>
                </a:highlight>
                <a:latin typeface="Arial"/>
                <a:ea typeface="Arial"/>
                <a:cs typeface="Arial"/>
                <a:sym typeface="Arial"/>
              </a:rPr>
              <a:t>Appendicitis is a medical condition characterized by inflammation of the appendix, a small pouch-like structure that extends from the large intestine. The symptoms of appendicitis can vary from person to person, but some common signs include:</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1. Abdominal pain: The pain is typically located in the lower right side of the abdomen and may be constant or come and go. It may start as a mild discomfort that worsens over time.</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2. Loss of appetite: People with appendicitis often lose their appetite due to abdominal pain and nausea</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cd6a9c3abf_0_92"/>
          <p:cNvSpPr txBox="1"/>
          <p:nvPr>
            <p:ph type="title"/>
          </p:nvPr>
        </p:nvSpPr>
        <p:spPr>
          <a:xfrm>
            <a:off x="234300" y="90350"/>
            <a:ext cx="54192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800">
                <a:solidFill>
                  <a:srgbClr val="0E39A9"/>
                </a:solidFill>
                <a:latin typeface="Nunito Light"/>
                <a:ea typeface="Nunito Light"/>
                <a:cs typeface="Nunito Light"/>
                <a:sym typeface="Nunito Light"/>
              </a:rPr>
              <a:t>Baseline</a:t>
            </a:r>
            <a:r>
              <a:rPr b="0" lang="en" sz="2400">
                <a:solidFill>
                  <a:srgbClr val="0E39A9"/>
                </a:solidFill>
                <a:latin typeface="Nunito Light"/>
                <a:ea typeface="Nunito Light"/>
                <a:cs typeface="Nunito Light"/>
                <a:sym typeface="Nunito Light"/>
              </a:rPr>
              <a:t>: </a:t>
            </a:r>
            <a:r>
              <a:rPr b="0" lang="en" sz="1800">
                <a:solidFill>
                  <a:schemeClr val="lt2"/>
                </a:solidFill>
                <a:latin typeface="Nunito Light"/>
                <a:ea typeface="Nunito Light"/>
                <a:cs typeface="Nunito Light"/>
                <a:sym typeface="Nunito Light"/>
              </a:rPr>
              <a:t>Question Answering using LLM</a:t>
            </a:r>
            <a:endParaRPr b="0" sz="2400">
              <a:solidFill>
                <a:srgbClr val="0E39A9"/>
              </a:solidFill>
              <a:latin typeface="Nunito Light"/>
              <a:ea typeface="Nunito Light"/>
              <a:cs typeface="Nunito Light"/>
              <a:sym typeface="Nunito Light"/>
            </a:endParaRPr>
          </a:p>
        </p:txBody>
      </p:sp>
      <p:sp>
        <p:nvSpPr>
          <p:cNvPr id="265" name="Google Shape;265;g3cd6a9c3abf_0_92"/>
          <p:cNvSpPr txBox="1"/>
          <p:nvPr>
            <p:ph type="title"/>
          </p:nvPr>
        </p:nvSpPr>
        <p:spPr>
          <a:xfrm>
            <a:off x="234300" y="701350"/>
            <a:ext cx="4182900" cy="248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200"/>
              <a:buNone/>
            </a:pPr>
            <a:r>
              <a:t/>
            </a:r>
            <a:endParaRPr b="0" sz="1200">
              <a:solidFill>
                <a:srgbClr val="CC0000"/>
              </a:solidFill>
              <a:latin typeface="Nunito Light"/>
              <a:ea typeface="Nunito Light"/>
              <a:cs typeface="Nunito Light"/>
              <a:sym typeface="Nunito Light"/>
            </a:endParaRPr>
          </a:p>
          <a:p>
            <a:pPr indent="0" lvl="0" marL="0" rtl="0" algn="l">
              <a:spcBef>
                <a:spcPts val="0"/>
              </a:spcBef>
              <a:spcAft>
                <a:spcPts val="0"/>
              </a:spcAft>
              <a:buSzPts val="2200"/>
              <a:buNone/>
            </a:pPr>
            <a:r>
              <a:rPr b="0" lang="en" sz="1200">
                <a:solidFill>
                  <a:srgbClr val="CC0000"/>
                </a:solidFill>
                <a:latin typeface="Nunito Light"/>
                <a:ea typeface="Nunito Light"/>
                <a:cs typeface="Nunito Light"/>
                <a:sym typeface="Nunito Light"/>
              </a:rPr>
              <a:t>Question 3: </a:t>
            </a:r>
            <a:r>
              <a:rPr b="0" lang="en" sz="1200">
                <a:solidFill>
                  <a:srgbClr val="CC0000"/>
                </a:solidFill>
                <a:latin typeface="Nunito Light"/>
                <a:ea typeface="Nunito Light"/>
                <a:cs typeface="Nunito Light"/>
                <a:sym typeface="Nunito Light"/>
              </a:rPr>
              <a:t> What are the effective treatments or solutions for addressing sudden patchy hair loss, commonly seen as localized bald spots on the scalp, and what could be the possible causes behind it?</a:t>
            </a:r>
            <a:endParaRPr b="0" sz="1200">
              <a:solidFill>
                <a:srgbClr val="CC0000"/>
              </a:solidFill>
              <a:latin typeface="Nunito Light"/>
              <a:ea typeface="Nunito Light"/>
              <a:cs typeface="Nunito Light"/>
              <a:sym typeface="Nunito Light"/>
            </a:endParaRPr>
          </a:p>
          <a:p>
            <a:pPr indent="0" lvl="0" marL="0" rtl="0" algn="l">
              <a:spcBef>
                <a:spcPts val="0"/>
              </a:spcBef>
              <a:spcAft>
                <a:spcPts val="0"/>
              </a:spcAft>
              <a:buSzPts val="2200"/>
              <a:buNone/>
            </a:pPr>
            <a:r>
              <a:t/>
            </a:r>
            <a:endParaRPr b="0" sz="1200">
              <a:solidFill>
                <a:srgbClr val="CC0000"/>
              </a:solidFill>
              <a:latin typeface="Nunito Light"/>
              <a:ea typeface="Nunito Light"/>
              <a:cs typeface="Nunito Light"/>
              <a:sym typeface="Nunito Light"/>
            </a:endParaRPr>
          </a:p>
          <a:p>
            <a:pPr indent="0" lvl="0" marL="0" rtl="0" algn="l">
              <a:lnSpc>
                <a:spcPct val="100000"/>
              </a:lnSpc>
              <a:spcBef>
                <a:spcPts val="0"/>
              </a:spcBef>
              <a:spcAft>
                <a:spcPts val="0"/>
              </a:spcAft>
              <a:buSzPts val="2200"/>
              <a:buNone/>
            </a:pPr>
            <a:r>
              <a:rPr b="0" lang="en" sz="1200">
                <a:solidFill>
                  <a:srgbClr val="CC0000"/>
                </a:solidFill>
                <a:latin typeface="Nunito Light"/>
                <a:ea typeface="Nunito Light"/>
                <a:cs typeface="Nunito Light"/>
                <a:sym typeface="Nunito Light"/>
              </a:rPr>
              <a:t>Answer: </a:t>
            </a:r>
            <a:endParaRPr b="0" sz="12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Sudden patchy hair loss, also known as alopecia areata, is a common autoimmune disorder that affects the hair follicles. It can result in round or oval bald patches on the scalp, but it can also occur on other parts of the body such as the beard area, eyebrows, and eyelashes.</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The exact cause of alopecia areata is not known, but it's believed to be related to a problem with the immune system. Some possible triggers for this condition include stress, genetics, viral infections, and certain medications.</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
        <p:nvSpPr>
          <p:cNvPr id="266" name="Google Shape;266;g3cd6a9c3abf_0_92"/>
          <p:cNvSpPr txBox="1"/>
          <p:nvPr>
            <p:ph type="title"/>
          </p:nvPr>
        </p:nvSpPr>
        <p:spPr>
          <a:xfrm>
            <a:off x="549300" y="3383125"/>
            <a:ext cx="8200200" cy="1246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Similar to Q1 and Q2, the model response is more like a web search and provides generic information.</a:t>
            </a:r>
            <a:endParaRPr b="0" sz="1100">
              <a:solidFill>
                <a:srgbClr val="A31515"/>
              </a:solidFill>
              <a:highlight>
                <a:srgbClr val="FFFFFF"/>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rgbClr val="FFFFFF"/>
                </a:highlight>
                <a:latin typeface="Nunito Light"/>
                <a:ea typeface="Nunito Light"/>
                <a:cs typeface="Nunito Light"/>
                <a:sym typeface="Nunito Light"/>
              </a:rPr>
              <a:t>Specific details and references are missing, and response is </a:t>
            </a:r>
            <a:r>
              <a:rPr b="0" lang="en" sz="1100">
                <a:solidFill>
                  <a:srgbClr val="A31515"/>
                </a:solidFill>
                <a:highlight>
                  <a:srgbClr val="FFFFFF"/>
                </a:highlight>
                <a:latin typeface="Nunito Light"/>
                <a:ea typeface="Nunito Light"/>
                <a:cs typeface="Nunito Light"/>
                <a:sym typeface="Nunito Light"/>
              </a:rPr>
              <a:t>truncated</a:t>
            </a:r>
            <a:r>
              <a:rPr b="0" lang="en" sz="1100">
                <a:solidFill>
                  <a:srgbClr val="A31515"/>
                </a:solidFill>
                <a:highlight>
                  <a:srgbClr val="FFFFFF"/>
                </a:highlight>
                <a:latin typeface="Nunito Light"/>
                <a:ea typeface="Nunito Light"/>
                <a:cs typeface="Nunito Light"/>
                <a:sym typeface="Nunito Light"/>
              </a:rPr>
              <a:t> to 512 tokens.</a:t>
            </a:r>
            <a:endParaRPr b="0" sz="1100">
              <a:solidFill>
                <a:srgbClr val="A31515"/>
              </a:solidFill>
              <a:highlight>
                <a:srgbClr val="FFFFFF"/>
              </a:highlight>
              <a:latin typeface="Nunito Light"/>
              <a:ea typeface="Nunito Light"/>
              <a:cs typeface="Nunito Light"/>
              <a:sym typeface="Nunito Light"/>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
        <p:nvSpPr>
          <p:cNvPr id="267" name="Google Shape;267;g3cd6a9c3abf_0_92"/>
          <p:cNvSpPr txBox="1"/>
          <p:nvPr>
            <p:ph type="title"/>
          </p:nvPr>
        </p:nvSpPr>
        <p:spPr>
          <a:xfrm>
            <a:off x="4499875" y="701350"/>
            <a:ext cx="4359600" cy="2481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700"/>
              </a:spcBef>
              <a:spcAft>
                <a:spcPts val="0"/>
              </a:spcAft>
              <a:buNone/>
            </a:pPr>
            <a:r>
              <a:rPr b="0" lang="en" sz="1200">
                <a:solidFill>
                  <a:srgbClr val="CC0000"/>
                </a:solidFill>
                <a:latin typeface="Nunito Light"/>
                <a:ea typeface="Nunito Light"/>
                <a:cs typeface="Nunito Light"/>
                <a:sym typeface="Nunito Light"/>
              </a:rPr>
              <a:t>Query 4: </a:t>
            </a:r>
            <a:r>
              <a:rPr b="0" lang="en" sz="1200">
                <a:solidFill>
                  <a:srgbClr val="CC0000"/>
                </a:solidFill>
                <a:latin typeface="Nunito Light"/>
                <a:ea typeface="Nunito Light"/>
                <a:cs typeface="Nunito Light"/>
                <a:sym typeface="Nunito Light"/>
              </a:rPr>
              <a:t>What treatments are recommended for a person who has sustained a physical injury to brain tissue, resulting in temporary or permanent impairment of brain function?</a:t>
            </a:r>
            <a:endParaRPr b="0" sz="1200">
              <a:solidFill>
                <a:srgbClr val="CC0000"/>
              </a:solidFill>
              <a:latin typeface="Nunito Light"/>
              <a:ea typeface="Nunito Light"/>
              <a:cs typeface="Nunito Light"/>
              <a:sym typeface="Nunito Light"/>
            </a:endParaRPr>
          </a:p>
          <a:p>
            <a:pPr indent="0" lvl="0" marL="0" rtl="0" algn="l">
              <a:lnSpc>
                <a:spcPct val="115000"/>
              </a:lnSpc>
              <a:spcBef>
                <a:spcPts val="700"/>
              </a:spcBef>
              <a:spcAft>
                <a:spcPts val="0"/>
              </a:spcAft>
              <a:buNone/>
            </a:pPr>
            <a:r>
              <a:rPr b="0" lang="en" sz="1200">
                <a:solidFill>
                  <a:srgbClr val="CC0000"/>
                </a:solidFill>
                <a:latin typeface="Nunito Light"/>
                <a:ea typeface="Nunito Light"/>
                <a:cs typeface="Nunito Light"/>
                <a:sym typeface="Nunito Light"/>
              </a:rPr>
              <a:t>Answer: </a:t>
            </a:r>
            <a:endParaRPr b="0" sz="1200">
              <a:solidFill>
                <a:srgbClr val="A31515"/>
              </a:solidFill>
              <a:highlight>
                <a:srgbClr val="FFFFFF"/>
              </a:highlight>
              <a:latin typeface="Courier New"/>
              <a:ea typeface="Courier New"/>
              <a:cs typeface="Courier New"/>
              <a:sym typeface="Courier New"/>
            </a:endParaRPr>
          </a:p>
          <a:p>
            <a:pPr indent="0" lvl="0" marL="0" marR="0" rtl="0" algn="l">
              <a:lnSpc>
                <a:spcPct val="100000"/>
              </a:lnSpc>
              <a:spcBef>
                <a:spcPts val="700"/>
              </a:spcBef>
              <a:spcAft>
                <a:spcPts val="0"/>
              </a:spcAft>
              <a:buNone/>
            </a:pPr>
            <a:r>
              <a:rPr b="0" lang="en" sz="900">
                <a:solidFill>
                  <a:srgbClr val="1F1F1F"/>
                </a:solidFill>
                <a:highlight>
                  <a:srgbClr val="FFFFFF"/>
                </a:highlight>
                <a:latin typeface="Arial"/>
                <a:ea typeface="Arial"/>
                <a:cs typeface="Arial"/>
                <a:sym typeface="Arial"/>
              </a:rPr>
              <a:t>A person who has sustained a physical injury to the brain tissue may require various treatments depending on the severity and location of the injury. Here are some common treatments that may be recommended:</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1. Emergency care: In case of a traumatic brain injury (TBI), it is essential to seek emergency medical attention as soon as possible. The primary goal of emergency care is to prevent further damage to the brain, stabilize vital signs, and manage any life-threatening conditions.</a:t>
            </a:r>
            <a:endParaRPr b="0" sz="900">
              <a:solidFill>
                <a:srgbClr val="1F1F1F"/>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rPr b="0" lang="en" sz="900">
                <a:solidFill>
                  <a:srgbClr val="1F1F1F"/>
                </a:solidFill>
                <a:highlight>
                  <a:srgbClr val="FFFFFF"/>
                </a:highlight>
                <a:latin typeface="Arial"/>
                <a:ea typeface="Arial"/>
                <a:cs typeface="Arial"/>
                <a:sym typeface="Arial"/>
              </a:rPr>
              <a:t>2. Medications: Depending on the symptoms, healthcare professionals may prescribe medications to manage various conditions associated with a</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cd6a9c3abf_0_103"/>
          <p:cNvSpPr txBox="1"/>
          <p:nvPr>
            <p:ph type="title"/>
          </p:nvPr>
        </p:nvSpPr>
        <p:spPr>
          <a:xfrm>
            <a:off x="234300" y="90350"/>
            <a:ext cx="54192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800">
                <a:solidFill>
                  <a:srgbClr val="0E39A9"/>
                </a:solidFill>
                <a:latin typeface="Nunito Light"/>
                <a:ea typeface="Nunito Light"/>
                <a:cs typeface="Nunito Light"/>
                <a:sym typeface="Nunito Light"/>
              </a:rPr>
              <a:t>Baseline</a:t>
            </a:r>
            <a:r>
              <a:rPr b="0" lang="en" sz="2400">
                <a:solidFill>
                  <a:srgbClr val="0E39A9"/>
                </a:solidFill>
                <a:latin typeface="Nunito Light"/>
                <a:ea typeface="Nunito Light"/>
                <a:cs typeface="Nunito Light"/>
                <a:sym typeface="Nunito Light"/>
              </a:rPr>
              <a:t>: </a:t>
            </a:r>
            <a:r>
              <a:rPr b="0" lang="en" sz="1800">
                <a:solidFill>
                  <a:schemeClr val="lt2"/>
                </a:solidFill>
                <a:latin typeface="Nunito Light"/>
                <a:ea typeface="Nunito Light"/>
                <a:cs typeface="Nunito Light"/>
                <a:sym typeface="Nunito Light"/>
              </a:rPr>
              <a:t>Question Answering using LLM</a:t>
            </a:r>
            <a:endParaRPr b="0" sz="2400">
              <a:solidFill>
                <a:srgbClr val="0E39A9"/>
              </a:solidFill>
              <a:latin typeface="Nunito Light"/>
              <a:ea typeface="Nunito Light"/>
              <a:cs typeface="Nunito Light"/>
              <a:sym typeface="Nunito Light"/>
            </a:endParaRPr>
          </a:p>
        </p:txBody>
      </p:sp>
      <p:sp>
        <p:nvSpPr>
          <p:cNvPr id="273" name="Google Shape;273;g3cd6a9c3abf_0_103"/>
          <p:cNvSpPr txBox="1"/>
          <p:nvPr>
            <p:ph type="title"/>
          </p:nvPr>
        </p:nvSpPr>
        <p:spPr>
          <a:xfrm>
            <a:off x="234300" y="701350"/>
            <a:ext cx="8130000" cy="248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200"/>
              <a:buNone/>
            </a:pPr>
            <a:r>
              <a:t/>
            </a:r>
            <a:endParaRPr b="0" sz="1200">
              <a:solidFill>
                <a:srgbClr val="CC0000"/>
              </a:solidFill>
              <a:latin typeface="Nunito Light"/>
              <a:ea typeface="Nunito Light"/>
              <a:cs typeface="Nunito Light"/>
              <a:sym typeface="Nunito Light"/>
            </a:endParaRPr>
          </a:p>
          <a:p>
            <a:pPr indent="0" lvl="0" marL="0" rtl="0" algn="l">
              <a:spcBef>
                <a:spcPts val="0"/>
              </a:spcBef>
              <a:spcAft>
                <a:spcPts val="0"/>
              </a:spcAft>
              <a:buSzPts val="2200"/>
              <a:buNone/>
            </a:pPr>
            <a:r>
              <a:rPr b="0" lang="en" sz="1200">
                <a:solidFill>
                  <a:srgbClr val="CC0000"/>
                </a:solidFill>
                <a:latin typeface="Nunito Light"/>
                <a:ea typeface="Nunito Light"/>
                <a:cs typeface="Nunito Light"/>
                <a:sym typeface="Nunito Light"/>
              </a:rPr>
              <a:t>Question 5:  </a:t>
            </a:r>
            <a:r>
              <a:rPr b="0" lang="en" sz="1200">
                <a:solidFill>
                  <a:srgbClr val="CC0000"/>
                </a:solidFill>
                <a:latin typeface="Nunito Light"/>
                <a:ea typeface="Nunito Light"/>
                <a:cs typeface="Nunito Light"/>
                <a:sym typeface="Nunito Light"/>
              </a:rPr>
              <a:t>What are the necessary precautions and treatment steps for a person who has fractured their leg during a hiking trip, and what should be considered for their care and recovery?</a:t>
            </a:r>
            <a:endParaRPr b="0" sz="1500">
              <a:solidFill>
                <a:srgbClr val="1F1F1F"/>
              </a:solidFill>
              <a:highlight>
                <a:srgbClr val="FFFFFF"/>
              </a:highlight>
              <a:latin typeface="Arial"/>
              <a:ea typeface="Arial"/>
              <a:cs typeface="Arial"/>
              <a:sym typeface="Arial"/>
            </a:endParaRPr>
          </a:p>
          <a:p>
            <a:pPr indent="0" lvl="0" marL="0" rtl="0" algn="l">
              <a:spcBef>
                <a:spcPts val="0"/>
              </a:spcBef>
              <a:spcAft>
                <a:spcPts val="0"/>
              </a:spcAft>
              <a:buSzPts val="2200"/>
              <a:buNone/>
            </a:pPr>
            <a:r>
              <a:t/>
            </a:r>
            <a:endParaRPr b="0" sz="1200">
              <a:solidFill>
                <a:srgbClr val="CC0000"/>
              </a:solidFill>
              <a:latin typeface="Nunito Light"/>
              <a:ea typeface="Nunito Light"/>
              <a:cs typeface="Nunito Light"/>
              <a:sym typeface="Nunito Light"/>
            </a:endParaRPr>
          </a:p>
          <a:p>
            <a:pPr indent="0" lvl="0" marL="0" rtl="0" algn="l">
              <a:lnSpc>
                <a:spcPct val="100000"/>
              </a:lnSpc>
              <a:spcBef>
                <a:spcPts val="0"/>
              </a:spcBef>
              <a:spcAft>
                <a:spcPts val="0"/>
              </a:spcAft>
              <a:buSzPts val="2200"/>
              <a:buNone/>
            </a:pPr>
            <a:r>
              <a:rPr b="0" lang="en" sz="1200">
                <a:solidFill>
                  <a:srgbClr val="CC0000"/>
                </a:solidFill>
                <a:latin typeface="Nunito Light"/>
                <a:ea typeface="Nunito Light"/>
                <a:cs typeface="Nunito Light"/>
                <a:sym typeface="Nunito Light"/>
              </a:rPr>
              <a:t>Answer: </a:t>
            </a:r>
            <a:endParaRPr b="0" sz="12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0" lang="en" sz="900">
                <a:solidFill>
                  <a:srgbClr val="1F1F1F"/>
                </a:solidFill>
                <a:highlight>
                  <a:srgbClr val="FFFFFF"/>
                </a:highlight>
                <a:latin typeface="Arial"/>
                <a:ea typeface="Arial"/>
                <a:cs typeface="Arial"/>
                <a:sym typeface="Arial"/>
              </a:rPr>
              <a:t>First and foremost, if you suspect that someone has fractured their leg while hiking, it's essential to ensure their safety and prevent further injury. Here are some necessary precautions:</a:t>
            </a:r>
            <a:endParaRPr b="0" sz="900">
              <a:solidFill>
                <a:srgbClr val="1F1F1F"/>
              </a:solidFill>
              <a:highlight>
                <a:srgbClr val="FFFFFF"/>
              </a:highlight>
              <a:latin typeface="Arial"/>
              <a:ea typeface="Arial"/>
              <a:cs typeface="Arial"/>
              <a:sym typeface="Arial"/>
            </a:endParaRPr>
          </a:p>
          <a:p>
            <a:pPr indent="0" lvl="0" marL="0" rtl="0" algn="l">
              <a:spcBef>
                <a:spcPts val="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rtl="0" algn="l">
              <a:spcBef>
                <a:spcPts val="0"/>
              </a:spcBef>
              <a:spcAft>
                <a:spcPts val="0"/>
              </a:spcAft>
              <a:buNone/>
            </a:pPr>
            <a:r>
              <a:rPr b="0" lang="en" sz="900">
                <a:solidFill>
                  <a:srgbClr val="1F1F1F"/>
                </a:solidFill>
                <a:highlight>
                  <a:srgbClr val="FFFFFF"/>
                </a:highlight>
                <a:latin typeface="Arial"/>
                <a:ea typeface="Arial"/>
                <a:cs typeface="Arial"/>
                <a:sym typeface="Arial"/>
              </a:rPr>
              <a:t>1. Keep the person calm and still: Encourage them to remain as still as possible to minimize pain and prevent worsening the injury.</a:t>
            </a:r>
            <a:endParaRPr b="0" sz="900">
              <a:solidFill>
                <a:srgbClr val="1F1F1F"/>
              </a:solidFill>
              <a:highlight>
                <a:srgbClr val="FFFFFF"/>
              </a:highlight>
              <a:latin typeface="Arial"/>
              <a:ea typeface="Arial"/>
              <a:cs typeface="Arial"/>
              <a:sym typeface="Arial"/>
            </a:endParaRPr>
          </a:p>
          <a:p>
            <a:pPr indent="0" lvl="0" marL="0" rtl="0" algn="l">
              <a:spcBef>
                <a:spcPts val="0"/>
              </a:spcBef>
              <a:spcAft>
                <a:spcPts val="0"/>
              </a:spcAft>
              <a:buNone/>
            </a:pPr>
            <a:r>
              <a:rPr b="0" lang="en" sz="900">
                <a:solidFill>
                  <a:srgbClr val="1F1F1F"/>
                </a:solidFill>
                <a:highlight>
                  <a:srgbClr val="FFFFFF"/>
                </a:highlight>
                <a:latin typeface="Arial"/>
                <a:ea typeface="Arial"/>
                <a:cs typeface="Arial"/>
                <a:sym typeface="Arial"/>
              </a:rPr>
              <a:t>2. Assess the situation: Check for any signs of shock, such as pale skin, rapid heartbeat, or shallow breathing. If you notice these symptoms, seek medical help immediately.</a:t>
            </a:r>
            <a:endParaRPr b="0" sz="900">
              <a:solidFill>
                <a:srgbClr val="1F1F1F"/>
              </a:solidFill>
              <a:highlight>
                <a:srgbClr val="FFFFFF"/>
              </a:highlight>
              <a:latin typeface="Arial"/>
              <a:ea typeface="Arial"/>
              <a:cs typeface="Arial"/>
              <a:sym typeface="Arial"/>
            </a:endParaRPr>
          </a:p>
          <a:p>
            <a:pPr indent="0" lvl="0" marL="0" rtl="0" algn="l">
              <a:spcBef>
                <a:spcPts val="0"/>
              </a:spcBef>
              <a:spcAft>
                <a:spcPts val="0"/>
              </a:spcAft>
              <a:buNone/>
            </a:pPr>
            <a:r>
              <a:rPr b="0" lang="en" sz="900">
                <a:solidFill>
                  <a:srgbClr val="1F1F1F"/>
                </a:solidFill>
                <a:highlight>
                  <a:srgbClr val="FFFFFF"/>
                </a:highlight>
                <a:latin typeface="Arial"/>
                <a:ea typeface="Arial"/>
                <a:cs typeface="Arial"/>
                <a:sym typeface="Arial"/>
              </a:rPr>
              <a:t>3. Immobilize the leg: Use a splint, sl</a:t>
            </a:r>
            <a:endParaRPr b="0"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
        <p:nvSpPr>
          <p:cNvPr id="274" name="Google Shape;274;g3cd6a9c3abf_0_103"/>
          <p:cNvSpPr txBox="1"/>
          <p:nvPr>
            <p:ph type="title"/>
          </p:nvPr>
        </p:nvSpPr>
        <p:spPr>
          <a:xfrm>
            <a:off x="549300" y="3383125"/>
            <a:ext cx="8200200" cy="1246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tone is casual, model starts with first and foremost, if you suspect, etc.. which may not be what a doctor is looking for. </a:t>
            </a:r>
            <a:endParaRPr b="0" sz="1100">
              <a:solidFill>
                <a:srgbClr val="A31515"/>
              </a:solidFill>
              <a:highlight>
                <a:srgbClr val="FFFFFF"/>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rgbClr val="FFFFFF"/>
                </a:highlight>
                <a:latin typeface="Nunito Light"/>
                <a:ea typeface="Nunito Light"/>
                <a:cs typeface="Nunito Light"/>
                <a:sym typeface="Nunito Light"/>
              </a:rPr>
              <a:t>It requires a well constructed prompt to get the most details.</a:t>
            </a:r>
            <a:endParaRPr b="0" sz="1100">
              <a:solidFill>
                <a:srgbClr val="A31515"/>
              </a:solidFill>
              <a:highlight>
                <a:srgbClr val="FFFFFF"/>
              </a:highlight>
              <a:latin typeface="Nunito Light"/>
              <a:ea typeface="Nunito Light"/>
              <a:cs typeface="Nunito Light"/>
              <a:sym typeface="Nunito Light"/>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cd6a9c3abf_0_118"/>
          <p:cNvSpPr txBox="1"/>
          <p:nvPr>
            <p:ph type="title"/>
          </p:nvPr>
        </p:nvSpPr>
        <p:spPr>
          <a:xfrm>
            <a:off x="234300" y="90350"/>
            <a:ext cx="7676400" cy="525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SzPts val="2200"/>
              <a:buNone/>
            </a:pPr>
            <a:r>
              <a:rPr b="0" lang="en" sz="2300">
                <a:solidFill>
                  <a:schemeClr val="lt2"/>
                </a:solidFill>
                <a:latin typeface="Nunito Light"/>
                <a:ea typeface="Nunito Light"/>
                <a:cs typeface="Nunito Light"/>
                <a:sym typeface="Nunito Light"/>
              </a:rPr>
              <a:t>Question Answering using LLM with Prompt Engineering</a:t>
            </a:r>
            <a:endParaRPr b="0" sz="2300">
              <a:solidFill>
                <a:srgbClr val="0E39A9"/>
              </a:solidFill>
              <a:latin typeface="Nunito Light"/>
              <a:ea typeface="Nunito Light"/>
              <a:cs typeface="Nunito Light"/>
              <a:sym typeface="Nunito Light"/>
            </a:endParaRPr>
          </a:p>
        </p:txBody>
      </p:sp>
      <p:sp>
        <p:nvSpPr>
          <p:cNvPr id="280" name="Google Shape;280;g3cd6a9c3abf_0_118"/>
          <p:cNvSpPr/>
          <p:nvPr/>
        </p:nvSpPr>
        <p:spPr>
          <a:xfrm>
            <a:off x="309025" y="1115975"/>
            <a:ext cx="3613800" cy="34557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[INST]&lt;&lt;SYS&gt;&gt;</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You are a Clinical Assistant helping a doctor. </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Your task to give direct, professional answers,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so that doctors can make quick and informed decisions.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Rules: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1. Do not give definitions or introductory "fluff" (e.g., "Hypertension is a common condition").</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2. Get straight to the point so the answer doesn't get cut off.</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3. Do not use polite conversational fillers like "I hope this helps."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Format:</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 A 1-2 sentence direct summary of the answer.</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 A bulleted list of specific treatment or management steps.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&lt;&lt;SYS&gt;&gt;[/INST]</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t/>
            </a:r>
            <a:endParaRPr sz="1000">
              <a:solidFill>
                <a:schemeClr val="dk1"/>
              </a:solidFill>
              <a:latin typeface="Nunito Light"/>
              <a:ea typeface="Nunito Light"/>
              <a:cs typeface="Nunito Light"/>
              <a:sym typeface="Nunito Light"/>
            </a:endParaRPr>
          </a:p>
          <a:p>
            <a:pPr indent="0" lvl="0" marL="0" marR="0" rtl="0" algn="l">
              <a:lnSpc>
                <a:spcPct val="100000"/>
              </a:lnSpc>
              <a:spcBef>
                <a:spcPts val="0"/>
              </a:spcBef>
              <a:spcAft>
                <a:spcPts val="0"/>
              </a:spcAft>
              <a:buNone/>
            </a:pPr>
            <a:r>
              <a:t/>
            </a:r>
            <a:endParaRPr sz="1000">
              <a:solidFill>
                <a:schemeClr val="dk1"/>
              </a:solidFill>
              <a:latin typeface="Nunito Light"/>
              <a:ea typeface="Nunito Light"/>
              <a:cs typeface="Nunito Light"/>
              <a:sym typeface="Nunito Light"/>
            </a:endParaRPr>
          </a:p>
        </p:txBody>
      </p:sp>
      <p:sp>
        <p:nvSpPr>
          <p:cNvPr id="281" name="Google Shape;281;g3cd6a9c3abf_0_118"/>
          <p:cNvSpPr txBox="1"/>
          <p:nvPr>
            <p:ph type="title"/>
          </p:nvPr>
        </p:nvSpPr>
        <p:spPr>
          <a:xfrm>
            <a:off x="234275" y="616250"/>
            <a:ext cx="36138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1400">
                <a:solidFill>
                  <a:srgbClr val="CC0000"/>
                </a:solidFill>
                <a:latin typeface="Nunito Light"/>
                <a:ea typeface="Nunito Light"/>
                <a:cs typeface="Nunito Light"/>
                <a:sym typeface="Nunito Light"/>
              </a:rPr>
              <a:t>System Prompt</a:t>
            </a:r>
            <a:endParaRPr b="0" sz="1400">
              <a:solidFill>
                <a:srgbClr val="CC0000"/>
              </a:solidFill>
              <a:latin typeface="Nunito Light"/>
              <a:ea typeface="Nunito Light"/>
              <a:cs typeface="Nunito Light"/>
              <a:sym typeface="Nunito Light"/>
            </a:endParaRPr>
          </a:p>
        </p:txBody>
      </p:sp>
      <p:sp>
        <p:nvSpPr>
          <p:cNvPr id="282" name="Google Shape;282;g3cd6a9c3abf_0_118"/>
          <p:cNvSpPr txBox="1"/>
          <p:nvPr>
            <p:ph type="title"/>
          </p:nvPr>
        </p:nvSpPr>
        <p:spPr>
          <a:xfrm>
            <a:off x="3922825" y="616250"/>
            <a:ext cx="4425000" cy="446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200"/>
              <a:buNone/>
            </a:pPr>
            <a:r>
              <a:rPr b="0" lang="en" sz="1400">
                <a:solidFill>
                  <a:srgbClr val="CC0000"/>
                </a:solidFill>
                <a:latin typeface="Nunito Light"/>
                <a:ea typeface="Nunito Light"/>
                <a:cs typeface="Nunito Light"/>
                <a:sym typeface="Nunito Light"/>
              </a:rPr>
              <a:t>Response Generation - Important parameters</a:t>
            </a:r>
            <a:endParaRPr b="0" sz="1400">
              <a:solidFill>
                <a:srgbClr val="CC0000"/>
              </a:solidFill>
              <a:latin typeface="Nunito Light"/>
              <a:ea typeface="Nunito Light"/>
              <a:cs typeface="Nunito Light"/>
              <a:sym typeface="Nunito Light"/>
            </a:endParaRPr>
          </a:p>
        </p:txBody>
      </p:sp>
      <p:sp>
        <p:nvSpPr>
          <p:cNvPr id="283" name="Google Shape;283;g3cd6a9c3abf_0_118"/>
          <p:cNvSpPr/>
          <p:nvPr/>
        </p:nvSpPr>
        <p:spPr>
          <a:xfrm>
            <a:off x="4514200" y="1115975"/>
            <a:ext cx="1051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max_tokens:</a:t>
            </a:r>
            <a:endParaRPr sz="1000">
              <a:solidFill>
                <a:schemeClr val="dk1"/>
              </a:solidFill>
              <a:latin typeface="Nunito Light"/>
              <a:ea typeface="Nunito Light"/>
              <a:cs typeface="Nunito Light"/>
              <a:sym typeface="Nunito Light"/>
            </a:endParaRPr>
          </a:p>
          <a:p>
            <a:pPr indent="0" lvl="0" marL="0" rtl="0" algn="l">
              <a:spcBef>
                <a:spcPts val="0"/>
              </a:spcBef>
              <a:spcAft>
                <a:spcPts val="0"/>
              </a:spcAft>
              <a:buNone/>
            </a:pPr>
            <a:r>
              <a:rPr b="1" lang="en" sz="1000">
                <a:solidFill>
                  <a:schemeClr val="dk1"/>
                </a:solidFill>
                <a:latin typeface="Nunito"/>
                <a:ea typeface="Nunito"/>
                <a:cs typeface="Nunito"/>
                <a:sym typeface="Nunito"/>
              </a:rPr>
              <a:t>512</a:t>
            </a:r>
            <a:endParaRPr b="1" sz="1000">
              <a:solidFill>
                <a:schemeClr val="dk1"/>
              </a:solidFill>
              <a:latin typeface="Nunito"/>
              <a:ea typeface="Nunito"/>
              <a:cs typeface="Nunito"/>
              <a:sym typeface="Nunito"/>
            </a:endParaRPr>
          </a:p>
        </p:txBody>
      </p:sp>
      <p:sp>
        <p:nvSpPr>
          <p:cNvPr id="284" name="Google Shape;284;g3cd6a9c3abf_0_118"/>
          <p:cNvSpPr txBox="1"/>
          <p:nvPr/>
        </p:nvSpPr>
        <p:spPr>
          <a:xfrm>
            <a:off x="5671950" y="1062650"/>
            <a:ext cx="2889300" cy="5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F1F1F"/>
                </a:solidFill>
                <a:highlight>
                  <a:srgbClr val="FFFFFF"/>
                </a:highlight>
                <a:latin typeface="Nunito"/>
                <a:ea typeface="Nunito"/>
                <a:cs typeface="Nunito"/>
                <a:sym typeface="Nunito"/>
              </a:rPr>
              <a:t>Maximum number of tokens</a:t>
            </a:r>
            <a:r>
              <a:rPr lang="en" sz="1000">
                <a:solidFill>
                  <a:srgbClr val="1F1F1F"/>
                </a:solidFill>
                <a:highlight>
                  <a:srgbClr val="FFFFFF"/>
                </a:highlight>
                <a:latin typeface="Nunito Light"/>
                <a:ea typeface="Nunito Light"/>
                <a:cs typeface="Nunito Light"/>
                <a:sym typeface="Nunito Light"/>
              </a:rPr>
              <a:t> that the model should generate </a:t>
            </a:r>
            <a:r>
              <a:rPr b="1" lang="en" sz="1000">
                <a:solidFill>
                  <a:srgbClr val="1F1F1F"/>
                </a:solidFill>
                <a:highlight>
                  <a:srgbClr val="FFFFFF"/>
                </a:highlight>
                <a:latin typeface="Nunito"/>
                <a:ea typeface="Nunito"/>
                <a:cs typeface="Nunito"/>
                <a:sym typeface="Nunito"/>
              </a:rPr>
              <a:t>in response</a:t>
            </a:r>
            <a:r>
              <a:rPr lang="en" sz="1000">
                <a:solidFill>
                  <a:srgbClr val="1F1F1F"/>
                </a:solidFill>
                <a:highlight>
                  <a:srgbClr val="FFFFFF"/>
                </a:highlight>
                <a:latin typeface="Nunito Light"/>
                <a:ea typeface="Nunito Light"/>
                <a:cs typeface="Nunito Light"/>
                <a:sym typeface="Nunito Light"/>
              </a:rPr>
              <a:t> to the prompt.</a:t>
            </a:r>
            <a:endParaRPr sz="1000">
              <a:solidFill>
                <a:schemeClr val="dk2"/>
              </a:solidFill>
              <a:latin typeface="Nunito Light"/>
              <a:ea typeface="Nunito Light"/>
              <a:cs typeface="Nunito Light"/>
              <a:sym typeface="Nunito Light"/>
            </a:endParaRPr>
          </a:p>
        </p:txBody>
      </p:sp>
      <p:sp>
        <p:nvSpPr>
          <p:cNvPr id="285" name="Google Shape;285;g3cd6a9c3abf_0_118"/>
          <p:cNvSpPr/>
          <p:nvPr/>
        </p:nvSpPr>
        <p:spPr>
          <a:xfrm>
            <a:off x="4514200" y="1669025"/>
            <a:ext cx="1048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temperature: </a:t>
            </a:r>
            <a:r>
              <a:rPr b="1" lang="en" sz="1000">
                <a:solidFill>
                  <a:schemeClr val="dk1"/>
                </a:solidFill>
                <a:latin typeface="Nunito"/>
                <a:ea typeface="Nunito"/>
                <a:cs typeface="Nunito"/>
                <a:sym typeface="Nunito"/>
              </a:rPr>
              <a:t>0</a:t>
            </a:r>
            <a:endParaRPr b="1" sz="1000">
              <a:solidFill>
                <a:schemeClr val="dk1"/>
              </a:solidFill>
              <a:latin typeface="Nunito"/>
              <a:ea typeface="Nunito"/>
              <a:cs typeface="Nunito"/>
              <a:sym typeface="Nunito"/>
            </a:endParaRPr>
          </a:p>
        </p:txBody>
      </p:sp>
      <p:sp>
        <p:nvSpPr>
          <p:cNvPr id="286" name="Google Shape;286;g3cd6a9c3abf_0_118"/>
          <p:cNvSpPr txBox="1"/>
          <p:nvPr/>
        </p:nvSpPr>
        <p:spPr>
          <a:xfrm>
            <a:off x="5671950" y="1615700"/>
            <a:ext cx="2889300" cy="52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000">
                <a:solidFill>
                  <a:srgbClr val="1F1F1F"/>
                </a:solidFill>
                <a:highlight>
                  <a:srgbClr val="FFFFFF"/>
                </a:highlight>
                <a:latin typeface="Nunito Light"/>
                <a:ea typeface="Nunito Light"/>
                <a:cs typeface="Nunito Light"/>
                <a:sym typeface="Nunito Light"/>
              </a:rPr>
              <a:t>R</a:t>
            </a:r>
            <a:r>
              <a:rPr b="1" lang="en" sz="1000">
                <a:solidFill>
                  <a:srgbClr val="1F1F1F"/>
                </a:solidFill>
                <a:highlight>
                  <a:srgbClr val="FFFFFF"/>
                </a:highlight>
                <a:latin typeface="Nunito"/>
                <a:ea typeface="Nunito"/>
                <a:cs typeface="Nunito"/>
                <a:sym typeface="Nunito"/>
              </a:rPr>
              <a:t>andomness of the generated response</a:t>
            </a:r>
            <a:r>
              <a:rPr lang="en" sz="1000">
                <a:solidFill>
                  <a:srgbClr val="1F1F1F"/>
                </a:solidFill>
                <a:highlight>
                  <a:srgbClr val="FFFFFF"/>
                </a:highlight>
                <a:latin typeface="Nunito Light"/>
                <a:ea typeface="Nunito Light"/>
                <a:cs typeface="Nunito Light"/>
                <a:sym typeface="Nunito Light"/>
              </a:rPr>
              <a:t>. A higher temperature value will result in a more random response, while a lower temperature value will result in a more predictable response.</a:t>
            </a:r>
            <a:endParaRPr sz="1000">
              <a:solidFill>
                <a:srgbClr val="1F1F1F"/>
              </a:solidFill>
              <a:highlight>
                <a:srgbClr val="FFFFFF"/>
              </a:highlight>
              <a:latin typeface="Nunito Light"/>
              <a:ea typeface="Nunito Light"/>
              <a:cs typeface="Nunito Light"/>
              <a:sym typeface="Nunito Light"/>
            </a:endParaRPr>
          </a:p>
        </p:txBody>
      </p:sp>
      <p:sp>
        <p:nvSpPr>
          <p:cNvPr id="287" name="Google Shape;287;g3cd6a9c3abf_0_118"/>
          <p:cNvSpPr/>
          <p:nvPr/>
        </p:nvSpPr>
        <p:spPr>
          <a:xfrm>
            <a:off x="4517136" y="2626400"/>
            <a:ext cx="1051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Top_p: </a:t>
            </a:r>
            <a:r>
              <a:rPr b="1" lang="en" sz="1000">
                <a:solidFill>
                  <a:schemeClr val="dk1"/>
                </a:solidFill>
                <a:latin typeface="Nunito"/>
                <a:ea typeface="Nunito"/>
                <a:cs typeface="Nunito"/>
                <a:sym typeface="Nunito"/>
              </a:rPr>
              <a:t>0.95</a:t>
            </a:r>
            <a:endParaRPr b="1" sz="1000">
              <a:solidFill>
                <a:schemeClr val="dk1"/>
              </a:solidFill>
              <a:latin typeface="Nunito"/>
              <a:ea typeface="Nunito"/>
              <a:cs typeface="Nunito"/>
              <a:sym typeface="Nunito"/>
            </a:endParaRPr>
          </a:p>
        </p:txBody>
      </p:sp>
      <p:sp>
        <p:nvSpPr>
          <p:cNvPr id="288" name="Google Shape;288;g3cd6a9c3abf_0_118"/>
          <p:cNvSpPr txBox="1"/>
          <p:nvPr/>
        </p:nvSpPr>
        <p:spPr>
          <a:xfrm>
            <a:off x="5718525" y="2573075"/>
            <a:ext cx="2889300" cy="5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F1F1F"/>
                </a:solidFill>
                <a:highlight>
                  <a:srgbClr val="FFFFFF"/>
                </a:highlight>
                <a:latin typeface="Nunito"/>
                <a:ea typeface="Nunito"/>
                <a:cs typeface="Nunito"/>
                <a:sym typeface="Nunito"/>
              </a:rPr>
              <a:t>Diversity of the generated response </a:t>
            </a:r>
            <a:r>
              <a:rPr lang="en" sz="1000">
                <a:solidFill>
                  <a:srgbClr val="1F1F1F"/>
                </a:solidFill>
                <a:highlight>
                  <a:srgbClr val="FFFFFF"/>
                </a:highlight>
                <a:latin typeface="Nunito Light"/>
                <a:ea typeface="Nunito Light"/>
                <a:cs typeface="Nunito Light"/>
                <a:sym typeface="Nunito Light"/>
              </a:rPr>
              <a:t>by establishing a cumulative probability cutoff for token selection. A higher value of top_p will result in a more diverse response, while a lower value will result in a less diverse response.</a:t>
            </a:r>
            <a:endParaRPr sz="1000">
              <a:solidFill>
                <a:srgbClr val="1F1F1F"/>
              </a:solidFill>
              <a:highlight>
                <a:srgbClr val="FFFFFF"/>
              </a:highlight>
              <a:latin typeface="Nunito Light"/>
              <a:ea typeface="Nunito Light"/>
              <a:cs typeface="Nunito Light"/>
              <a:sym typeface="Nunito Light"/>
            </a:endParaRPr>
          </a:p>
        </p:txBody>
      </p:sp>
      <p:sp>
        <p:nvSpPr>
          <p:cNvPr id="289" name="Google Shape;289;g3cd6a9c3abf_0_118"/>
          <p:cNvSpPr/>
          <p:nvPr/>
        </p:nvSpPr>
        <p:spPr>
          <a:xfrm>
            <a:off x="4517136" y="3741875"/>
            <a:ext cx="1051500" cy="457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Top_k: </a:t>
            </a:r>
            <a:r>
              <a:rPr b="1" lang="en" sz="1000">
                <a:solidFill>
                  <a:schemeClr val="dk1"/>
                </a:solidFill>
                <a:latin typeface="Nunito"/>
                <a:ea typeface="Nunito"/>
                <a:cs typeface="Nunito"/>
                <a:sym typeface="Nunito"/>
              </a:rPr>
              <a:t>50</a:t>
            </a:r>
            <a:endParaRPr b="1" sz="1000">
              <a:solidFill>
                <a:schemeClr val="dk1"/>
              </a:solidFill>
              <a:latin typeface="Nunito"/>
              <a:ea typeface="Nunito"/>
              <a:cs typeface="Nunito"/>
              <a:sym typeface="Nunito"/>
            </a:endParaRPr>
          </a:p>
        </p:txBody>
      </p:sp>
      <p:sp>
        <p:nvSpPr>
          <p:cNvPr id="290" name="Google Shape;290;g3cd6a9c3abf_0_118"/>
          <p:cNvSpPr txBox="1"/>
          <p:nvPr/>
        </p:nvSpPr>
        <p:spPr>
          <a:xfrm>
            <a:off x="5718525" y="3688550"/>
            <a:ext cx="2889300" cy="5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1F1F1F"/>
                </a:solidFill>
                <a:highlight>
                  <a:srgbClr val="FFFFFF"/>
                </a:highlight>
                <a:latin typeface="Nunito"/>
                <a:ea typeface="Nunito"/>
                <a:cs typeface="Nunito"/>
                <a:sym typeface="Nunito"/>
              </a:rPr>
              <a:t>Maximum number of most-likely next tokens</a:t>
            </a:r>
            <a:r>
              <a:rPr lang="en" sz="1000">
                <a:solidFill>
                  <a:srgbClr val="1F1F1F"/>
                </a:solidFill>
                <a:highlight>
                  <a:srgbClr val="FFFFFF"/>
                </a:highlight>
                <a:latin typeface="Nunito Light"/>
                <a:ea typeface="Nunito Light"/>
                <a:cs typeface="Nunito Light"/>
                <a:sym typeface="Nunito Light"/>
              </a:rPr>
              <a:t> to consider when generating the response at each step</a:t>
            </a:r>
            <a:endParaRPr sz="1000">
              <a:solidFill>
                <a:srgbClr val="1F1F1F"/>
              </a:solidFill>
              <a:highlight>
                <a:srgbClr val="FFFFFF"/>
              </a:highlight>
              <a:latin typeface="Nunito Light"/>
              <a:ea typeface="Nunito Light"/>
              <a:cs typeface="Nunito Light"/>
              <a:sym typeface="Nunito Light"/>
            </a:endParaRPr>
          </a:p>
        </p:txBody>
      </p:sp>
      <p:cxnSp>
        <p:nvCxnSpPr>
          <p:cNvPr id="291" name="Google Shape;291;g3cd6a9c3abf_0_118"/>
          <p:cNvCxnSpPr/>
          <p:nvPr/>
        </p:nvCxnSpPr>
        <p:spPr>
          <a:xfrm flipH="1">
            <a:off x="4166150" y="1432550"/>
            <a:ext cx="9600" cy="26118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cd6a9c3abf_0_144"/>
          <p:cNvSpPr txBox="1"/>
          <p:nvPr>
            <p:ph type="title"/>
          </p:nvPr>
        </p:nvSpPr>
        <p:spPr>
          <a:xfrm>
            <a:off x="234300" y="90350"/>
            <a:ext cx="41832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Prompt Engineering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Question Answering using LLM</a:t>
            </a:r>
            <a:endParaRPr b="0" sz="2300">
              <a:solidFill>
                <a:srgbClr val="0E39A9"/>
              </a:solidFill>
              <a:latin typeface="Nunito Light"/>
              <a:ea typeface="Nunito Light"/>
              <a:cs typeface="Nunito Light"/>
              <a:sym typeface="Nunito Light"/>
            </a:endParaRPr>
          </a:p>
        </p:txBody>
      </p:sp>
      <p:sp>
        <p:nvSpPr>
          <p:cNvPr id="297" name="Google Shape;297;g3cd6a9c3abf_0_144"/>
          <p:cNvSpPr txBox="1"/>
          <p:nvPr>
            <p:ph type="title"/>
          </p:nvPr>
        </p:nvSpPr>
        <p:spPr>
          <a:xfrm>
            <a:off x="234300" y="701350"/>
            <a:ext cx="4287600" cy="281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300">
                <a:solidFill>
                  <a:srgbClr val="CC0000"/>
                </a:solidFill>
                <a:latin typeface="Nunito Light"/>
                <a:ea typeface="Nunito Light"/>
                <a:cs typeface="Nunito Light"/>
                <a:sym typeface="Nunito Light"/>
              </a:rPr>
              <a:t>Question 1: What is the protocol for managing sepsis in a critical care unit?</a:t>
            </a:r>
            <a:endParaRPr b="0" sz="1300">
              <a:solidFill>
                <a:srgbClr val="CC0000"/>
              </a:solidFill>
              <a:latin typeface="Nunito Light"/>
              <a:ea typeface="Nunito Light"/>
              <a:cs typeface="Nunito Light"/>
              <a:sym typeface="Nunito Light"/>
            </a:endParaRPr>
          </a:p>
          <a:p>
            <a:pPr indent="0" lvl="0" marL="0" marR="0" rtl="0" algn="l">
              <a:lnSpc>
                <a:spcPct val="115000"/>
              </a:lnSpc>
              <a:spcBef>
                <a:spcPts val="500"/>
              </a:spcBef>
              <a:spcAft>
                <a:spcPts val="0"/>
              </a:spcAft>
              <a:buNone/>
            </a:pPr>
            <a:r>
              <a:rPr b="0" lang="en" sz="1300">
                <a:solidFill>
                  <a:srgbClr val="CC0000"/>
                </a:solidFill>
                <a:latin typeface="Nunito Light"/>
                <a:ea typeface="Nunito Light"/>
                <a:cs typeface="Nunito Light"/>
                <a:sym typeface="Nunito Light"/>
              </a:rPr>
              <a:t>Answer:</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50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Initiate broad-spectrum antibiotics as soon as possible.</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Administer fluid resuscitation to maintain adequate blood pressure and organ perfusion.</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Provide oxygen support via non-rebreather mask or mechanical ventilation if needed.</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Monitor and treat lactate levels, urine output, and electrolyte imbalances.</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Consider vasopressors for refractory hypotension.</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Implement source control measures for infection site (e.g., surgical intervention).</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Provide supportive care, including nutritional support and pain management.</a:t>
            </a:r>
            <a:endParaRPr b="0" sz="900">
              <a:solidFill>
                <a:srgbClr val="1F1F1F"/>
              </a:solidFill>
              <a:highlight>
                <a:srgbClr val="FFFFFF"/>
              </a:highlight>
              <a:latin typeface="Arial"/>
              <a:ea typeface="Arial"/>
              <a:cs typeface="Arial"/>
              <a:sym typeface="Arial"/>
            </a:endParaRPr>
          </a:p>
        </p:txBody>
      </p:sp>
      <p:sp>
        <p:nvSpPr>
          <p:cNvPr id="298" name="Google Shape;298;g3cd6a9c3abf_0_144"/>
          <p:cNvSpPr txBox="1"/>
          <p:nvPr>
            <p:ph type="title"/>
          </p:nvPr>
        </p:nvSpPr>
        <p:spPr>
          <a:xfrm>
            <a:off x="549300" y="3383125"/>
            <a:ext cx="8214000" cy="1490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Model response has improved, no fluff and filler content is included.</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However the response is still generic like a websearch, does not include technical details.</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For Question 1, the model ignored the instructions to present a summary and is still struggling to follow the instructions.</a:t>
            </a:r>
            <a:endParaRPr b="0" sz="1100">
              <a:solidFill>
                <a:srgbClr val="A31515"/>
              </a:solidFill>
              <a:highlight>
                <a:schemeClr val="lt1"/>
              </a:highlight>
              <a:latin typeface="Nunito Light"/>
              <a:ea typeface="Nunito Light"/>
              <a:cs typeface="Nunito Light"/>
              <a:sym typeface="Nunito Light"/>
            </a:endParaRPr>
          </a:p>
        </p:txBody>
      </p:sp>
      <p:sp>
        <p:nvSpPr>
          <p:cNvPr id="299" name="Google Shape;299;g3cd6a9c3abf_0_144"/>
          <p:cNvSpPr txBox="1"/>
          <p:nvPr>
            <p:ph type="title"/>
          </p:nvPr>
        </p:nvSpPr>
        <p:spPr>
          <a:xfrm>
            <a:off x="4572000" y="701350"/>
            <a:ext cx="4287600" cy="2681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700"/>
              </a:spcBef>
              <a:spcAft>
                <a:spcPts val="0"/>
              </a:spcAft>
              <a:buNone/>
            </a:pPr>
            <a:r>
              <a:rPr b="0" lang="en" sz="1300">
                <a:solidFill>
                  <a:srgbClr val="CC0000"/>
                </a:solidFill>
                <a:latin typeface="Nunito Light"/>
                <a:ea typeface="Nunito Light"/>
                <a:cs typeface="Nunito Light"/>
                <a:sym typeface="Nunito Light"/>
              </a:rPr>
              <a:t>Query 2: What are the common symptoms for appendicitis, and can it be cured via medicine? If not, what surgical procedure should be followed to treat it?</a:t>
            </a:r>
            <a:endParaRPr b="0" sz="1300">
              <a:solidFill>
                <a:srgbClr val="CC0000"/>
              </a:solidFill>
              <a:latin typeface="Nunito Light"/>
              <a:ea typeface="Nunito Light"/>
              <a:cs typeface="Nunito Light"/>
              <a:sym typeface="Nunito Light"/>
            </a:endParaRPr>
          </a:p>
          <a:p>
            <a:pPr indent="0" lvl="0" marL="0" rtl="0" algn="l">
              <a:lnSpc>
                <a:spcPct val="115000"/>
              </a:lnSpc>
              <a:spcBef>
                <a:spcPts val="700"/>
              </a:spcBef>
              <a:spcAft>
                <a:spcPts val="0"/>
              </a:spcAft>
              <a:buNone/>
            </a:pPr>
            <a:r>
              <a:rPr b="0" lang="en" sz="1300">
                <a:solidFill>
                  <a:srgbClr val="CC0000"/>
                </a:solidFill>
                <a:latin typeface="Nunito Light"/>
                <a:ea typeface="Nunito Light"/>
                <a:cs typeface="Nunito Light"/>
                <a:sym typeface="Nunito Light"/>
              </a:rPr>
              <a:t>Answer:</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700"/>
              </a:spcBef>
              <a:spcAft>
                <a:spcPts val="0"/>
              </a:spcAft>
              <a:buNone/>
            </a:pPr>
            <a:r>
              <a:rPr b="0" lang="en" sz="900">
                <a:solidFill>
                  <a:srgbClr val="1F1F1F"/>
                </a:solidFill>
                <a:highlight>
                  <a:srgbClr val="FFFFFF"/>
                </a:highlight>
                <a:latin typeface="Arial"/>
                <a:ea typeface="Arial"/>
                <a:cs typeface="Arial"/>
                <a:sym typeface="Arial"/>
              </a:rPr>
              <a:t>Symptoms: Abdominal pain (periumbilical or right lower quadrant), loss of appetite, nausea, vomiting, fever, and leukocytosis.</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Treatment:</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500"/>
              </a:spcBef>
              <a:spcAft>
                <a:spcPts val="0"/>
              </a:spcAft>
              <a:buClr>
                <a:srgbClr val="1F1F1F"/>
              </a:buClr>
              <a:buSzPts val="1050"/>
              <a:buFont typeface="Arial"/>
              <a:buChar char="●"/>
            </a:pPr>
            <a:r>
              <a:rPr b="0" lang="en" sz="900">
                <a:solidFill>
                  <a:srgbClr val="1F1F1F"/>
                </a:solidFill>
                <a:highlight>
                  <a:srgbClr val="FFFFFF"/>
                </a:highlight>
                <a:latin typeface="Arial"/>
                <a:ea typeface="Arial"/>
                <a:cs typeface="Arial"/>
                <a:sym typeface="Arial"/>
              </a:rPr>
              <a:t>Administer broad-spectrum antibiotics if diagnosis is uncertain but symptoms are worsening.</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Char char="●"/>
            </a:pPr>
            <a:r>
              <a:rPr b="0" lang="en" sz="900">
                <a:solidFill>
                  <a:srgbClr val="1F1F1F"/>
                </a:solidFill>
                <a:highlight>
                  <a:srgbClr val="FFFFFF"/>
                </a:highlight>
                <a:latin typeface="Arial"/>
                <a:ea typeface="Arial"/>
                <a:cs typeface="Arial"/>
                <a:sym typeface="Arial"/>
              </a:rPr>
              <a:t>Perform appendectomy as soon as possible if diagnosis is confirmed or symptoms become severe.</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Char char="●"/>
            </a:pPr>
            <a:r>
              <a:rPr b="0" lang="en" sz="900">
                <a:solidFill>
                  <a:srgbClr val="1F1F1F"/>
                </a:solidFill>
                <a:highlight>
                  <a:srgbClr val="FFFFFF"/>
                </a:highlight>
                <a:latin typeface="Arial"/>
                <a:ea typeface="Arial"/>
                <a:cs typeface="Arial"/>
                <a:sym typeface="Arial"/>
              </a:rPr>
              <a:t>Monitor for complications such as perforation, abscess formation, or sepsis during and after surgery.</a:t>
            </a:r>
            <a:endParaRPr b="0" sz="900">
              <a:solidFill>
                <a:srgbClr val="1F1F1F"/>
              </a:solidFill>
              <a:highlight>
                <a:srgbClr val="FFFFFF"/>
              </a:highlight>
              <a:latin typeface="Arial"/>
              <a:ea typeface="Arial"/>
              <a:cs typeface="Arial"/>
              <a:sym typeface="Arial"/>
            </a:endParaRPr>
          </a:p>
          <a:p>
            <a:pPr indent="0" lvl="0" marL="0" rtl="0" algn="l">
              <a:spcBef>
                <a:spcPts val="500"/>
              </a:spcBef>
              <a:spcAft>
                <a:spcPts val="0"/>
              </a:spcAft>
              <a:buNone/>
            </a:pPr>
            <a:r>
              <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SzPts val="2200"/>
              <a:buNone/>
            </a:pPr>
            <a:r>
              <a:t/>
            </a:r>
            <a:endParaRPr b="0" sz="7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cd6a9c3abf_0_164"/>
          <p:cNvSpPr txBox="1"/>
          <p:nvPr>
            <p:ph type="title"/>
          </p:nvPr>
        </p:nvSpPr>
        <p:spPr>
          <a:xfrm>
            <a:off x="234300" y="90350"/>
            <a:ext cx="41832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Prompt Engineering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Question Answering using LLM</a:t>
            </a:r>
            <a:endParaRPr b="0" sz="2300">
              <a:solidFill>
                <a:srgbClr val="0E39A9"/>
              </a:solidFill>
              <a:latin typeface="Nunito Light"/>
              <a:ea typeface="Nunito Light"/>
              <a:cs typeface="Nunito Light"/>
              <a:sym typeface="Nunito Light"/>
            </a:endParaRPr>
          </a:p>
        </p:txBody>
      </p:sp>
      <p:sp>
        <p:nvSpPr>
          <p:cNvPr id="305" name="Google Shape;305;g3cd6a9c3abf_0_164"/>
          <p:cNvSpPr txBox="1"/>
          <p:nvPr>
            <p:ph type="title"/>
          </p:nvPr>
        </p:nvSpPr>
        <p:spPr>
          <a:xfrm>
            <a:off x="234300" y="701350"/>
            <a:ext cx="4568100" cy="281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300">
                <a:solidFill>
                  <a:srgbClr val="CC0000"/>
                </a:solidFill>
                <a:latin typeface="Nunito Light"/>
                <a:ea typeface="Nunito Light"/>
                <a:cs typeface="Nunito Light"/>
                <a:sym typeface="Nunito Light"/>
              </a:rPr>
              <a:t>Query 3: What are the effective treatments or solutions for addressing sudden patchy hair loss, commonly seen as localized bald spots on the scalp, and what could be the possible causes behind it?</a:t>
            </a:r>
            <a:endParaRPr b="0" sz="1300">
              <a:solidFill>
                <a:srgbClr val="CC0000"/>
              </a:solidFill>
              <a:latin typeface="Nunito Light"/>
              <a:ea typeface="Nunito Light"/>
              <a:cs typeface="Nunito Light"/>
              <a:sym typeface="Nunito Light"/>
            </a:endParaRPr>
          </a:p>
          <a:p>
            <a:pPr indent="0" lvl="0" marL="0" marR="0" rtl="0" algn="l">
              <a:lnSpc>
                <a:spcPct val="115000"/>
              </a:lnSpc>
              <a:spcBef>
                <a:spcPts val="500"/>
              </a:spcBef>
              <a:spcAft>
                <a:spcPts val="0"/>
              </a:spcAft>
              <a:buNone/>
            </a:pPr>
            <a:r>
              <a:rPr b="0" lang="en" sz="1300">
                <a:solidFill>
                  <a:srgbClr val="CC0000"/>
                </a:solidFill>
                <a:latin typeface="Nunito Light"/>
                <a:ea typeface="Nunito Light"/>
                <a:cs typeface="Nunito Light"/>
                <a:sym typeface="Nunito Light"/>
              </a:rPr>
              <a:t>Answer:</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110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Consider a diagnosis of alopecia areata, an autoimmune condition causing hair loss in patches.</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Prescribe topical corticosteroids or intralesional triamcinolone for small areas to reduce inflammation and promote regrowth.</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Explore other treatment options like minoxidil, anthralin, or immunotherapy if the condition persists or spreads.</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Encourage stress management techniques, such as meditation, yoga, or counseling, as stress can worsen alopecia areata.</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Advise against pulling or twisting hair and avoid tight hairstyles to prevent further damage.</a:t>
            </a:r>
            <a:endParaRPr b="0" sz="900">
              <a:solidFill>
                <a:srgbClr val="1F1F1F"/>
              </a:solidFill>
              <a:highlight>
                <a:srgbClr val="FFFFFF"/>
              </a:highlight>
              <a:latin typeface="Arial"/>
              <a:ea typeface="Arial"/>
              <a:cs typeface="Arial"/>
              <a:sym typeface="Arial"/>
            </a:endParaRPr>
          </a:p>
        </p:txBody>
      </p:sp>
      <p:sp>
        <p:nvSpPr>
          <p:cNvPr id="306" name="Google Shape;306;g3cd6a9c3abf_0_164"/>
          <p:cNvSpPr txBox="1"/>
          <p:nvPr>
            <p:ph type="title"/>
          </p:nvPr>
        </p:nvSpPr>
        <p:spPr>
          <a:xfrm>
            <a:off x="234300" y="3597450"/>
            <a:ext cx="8529000" cy="1276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Model response has improved, but there are no specific details or references. A doctor may want to see the authenticity of the information, instead of relying on the AI output.</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Model continue to struggle to follow the instructions and failed to generate 1-2 sentence summary.</a:t>
            </a:r>
            <a:endParaRPr b="0" sz="1100">
              <a:solidFill>
                <a:srgbClr val="A31515"/>
              </a:solidFill>
              <a:highlight>
                <a:schemeClr val="lt1"/>
              </a:highlight>
              <a:latin typeface="Nunito Light"/>
              <a:ea typeface="Nunito Light"/>
              <a:cs typeface="Nunito Light"/>
              <a:sym typeface="Nunito Light"/>
            </a:endParaRPr>
          </a:p>
        </p:txBody>
      </p:sp>
      <p:sp>
        <p:nvSpPr>
          <p:cNvPr id="307" name="Google Shape;307;g3cd6a9c3abf_0_164"/>
          <p:cNvSpPr txBox="1"/>
          <p:nvPr>
            <p:ph type="title"/>
          </p:nvPr>
        </p:nvSpPr>
        <p:spPr>
          <a:xfrm>
            <a:off x="4802425" y="701350"/>
            <a:ext cx="4057200" cy="2962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700"/>
              </a:spcBef>
              <a:spcAft>
                <a:spcPts val="0"/>
              </a:spcAft>
              <a:buNone/>
            </a:pPr>
            <a:r>
              <a:rPr b="0" lang="en" sz="1300">
                <a:solidFill>
                  <a:srgbClr val="CC0000"/>
                </a:solidFill>
                <a:latin typeface="Nunito Light"/>
                <a:ea typeface="Nunito Light"/>
                <a:cs typeface="Nunito Light"/>
                <a:sym typeface="Nunito Light"/>
              </a:rPr>
              <a:t>Query 4: What treatments are recommended for a person who has sustained a physical injury to brain tissue, resulting in temporary or permanent impairment of brain function?</a:t>
            </a:r>
            <a:endParaRPr b="0" sz="1300">
              <a:solidFill>
                <a:srgbClr val="CC0000"/>
              </a:solidFill>
              <a:latin typeface="Nunito Light"/>
              <a:ea typeface="Nunito Light"/>
              <a:cs typeface="Nunito Light"/>
              <a:sym typeface="Nunito Light"/>
            </a:endParaRPr>
          </a:p>
          <a:p>
            <a:pPr indent="0" lvl="0" marL="0" rtl="0" algn="l">
              <a:lnSpc>
                <a:spcPct val="115000"/>
              </a:lnSpc>
              <a:spcBef>
                <a:spcPts val="700"/>
              </a:spcBef>
              <a:spcAft>
                <a:spcPts val="0"/>
              </a:spcAft>
              <a:buNone/>
            </a:pPr>
            <a:r>
              <a:rPr b="0" lang="en" sz="1300">
                <a:solidFill>
                  <a:srgbClr val="CC0000"/>
                </a:solidFill>
                <a:latin typeface="Nunito Light"/>
                <a:ea typeface="Nunito Light"/>
                <a:cs typeface="Nunito Light"/>
                <a:sym typeface="Nunito Light"/>
              </a:rPr>
              <a:t>Answer:</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Courier New"/>
              <a:ea typeface="Courier New"/>
              <a:cs typeface="Courier New"/>
              <a:sym typeface="Courier New"/>
            </a:endParaRPr>
          </a:p>
          <a:p>
            <a:pPr indent="-285750" lvl="0" marL="457200" rtl="0" algn="l">
              <a:lnSpc>
                <a:spcPct val="115000"/>
              </a:lnSpc>
              <a:spcBef>
                <a:spcPts val="70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Consider rehabilitation therapy: occupational, speech, physical, and cognitive.</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Administer medications as needed: anti-inflammatory drugs, anticonvulsants, analgesics, and psychotropic agents.</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Monitor for complications: infections, hemorrhages, seizures, and edema.</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Provide supportive care: adequate nutrition, hydration, and rest.</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Consider surgical intervention if there is an intracranial hematoma or mass lesion.</a:t>
            </a:r>
            <a:endParaRPr b="0" sz="7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cd6a9c3abf_0_175"/>
          <p:cNvSpPr txBox="1"/>
          <p:nvPr>
            <p:ph type="title"/>
          </p:nvPr>
        </p:nvSpPr>
        <p:spPr>
          <a:xfrm>
            <a:off x="234300" y="90350"/>
            <a:ext cx="6273600" cy="525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Prompt Engineering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Question Answering using LLM</a:t>
            </a:r>
            <a:endParaRPr b="0" sz="2300">
              <a:solidFill>
                <a:srgbClr val="0E39A9"/>
              </a:solidFill>
              <a:latin typeface="Nunito Light"/>
              <a:ea typeface="Nunito Light"/>
              <a:cs typeface="Nunito Light"/>
              <a:sym typeface="Nunito Light"/>
            </a:endParaRPr>
          </a:p>
        </p:txBody>
      </p:sp>
      <p:sp>
        <p:nvSpPr>
          <p:cNvPr id="313" name="Google Shape;313;g3cd6a9c3abf_0_175"/>
          <p:cNvSpPr txBox="1"/>
          <p:nvPr>
            <p:ph type="title"/>
          </p:nvPr>
        </p:nvSpPr>
        <p:spPr>
          <a:xfrm>
            <a:off x="234300" y="701350"/>
            <a:ext cx="7676400" cy="28110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300">
                <a:solidFill>
                  <a:srgbClr val="CC0000"/>
                </a:solidFill>
                <a:latin typeface="Nunito Light"/>
                <a:ea typeface="Nunito Light"/>
                <a:cs typeface="Nunito Light"/>
                <a:sym typeface="Nunito Light"/>
              </a:rPr>
              <a:t>Query 5: What are the necessary precautions and treatment steps for a person who has fractured their leg during a hiking trip, and what should be considered for their care and recovery?</a:t>
            </a:r>
            <a:endParaRPr b="0" sz="1500">
              <a:solidFill>
                <a:srgbClr val="1F1F1F"/>
              </a:solidFill>
              <a:highlight>
                <a:srgbClr val="FFFFFF"/>
              </a:highlight>
              <a:latin typeface="Arial"/>
              <a:ea typeface="Arial"/>
              <a:cs typeface="Arial"/>
              <a:sym typeface="Arial"/>
            </a:endParaRPr>
          </a:p>
          <a:p>
            <a:pPr indent="0" lvl="0" marL="0" marR="0" rtl="0" algn="l">
              <a:lnSpc>
                <a:spcPct val="115000"/>
              </a:lnSpc>
              <a:spcBef>
                <a:spcPts val="500"/>
              </a:spcBef>
              <a:spcAft>
                <a:spcPts val="0"/>
              </a:spcAft>
              <a:buNone/>
            </a:pPr>
            <a:r>
              <a:t/>
            </a:r>
            <a:endParaRPr b="0" sz="1300">
              <a:solidFill>
                <a:srgbClr val="CC0000"/>
              </a:solidFill>
              <a:latin typeface="Nunito Light"/>
              <a:ea typeface="Nunito Light"/>
              <a:cs typeface="Nunito Light"/>
              <a:sym typeface="Nunito Light"/>
            </a:endParaRPr>
          </a:p>
          <a:p>
            <a:pPr indent="0" lvl="0" marL="0" marR="0" rtl="0" algn="l">
              <a:lnSpc>
                <a:spcPct val="115000"/>
              </a:lnSpc>
              <a:spcBef>
                <a:spcPts val="500"/>
              </a:spcBef>
              <a:spcAft>
                <a:spcPts val="0"/>
              </a:spcAft>
              <a:buNone/>
            </a:pPr>
            <a:r>
              <a:rPr b="0" lang="en" sz="1300">
                <a:solidFill>
                  <a:srgbClr val="CC0000"/>
                </a:solidFill>
                <a:latin typeface="Nunito Light"/>
                <a:ea typeface="Nunito Light"/>
                <a:cs typeface="Nunito Light"/>
                <a:sym typeface="Nunito Light"/>
              </a:rPr>
              <a:t>Answer:</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110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Immobilize the affected leg using a splint or cast to prevent further damage and promote healing.</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Administer pain medication as needed to manage discomfort.</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Encourage elevation of the injured leg above heart level to reduce swelling and promote blood flow.</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Provide crutches or other assistive devices for mobility.</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Monitor for signs of infection, such as redness, warmth, or increased pain, and seek medical attention if present.</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Encourage regular exercise and physical therapy to maintain muscle strength and flexibility during recovery.</a:t>
            </a:r>
            <a:endParaRPr b="0" sz="900">
              <a:solidFill>
                <a:srgbClr val="1F1F1F"/>
              </a:solidFill>
              <a:highlight>
                <a:srgbClr val="FFFFFF"/>
              </a:highlight>
              <a:latin typeface="Arial"/>
              <a:ea typeface="Arial"/>
              <a:cs typeface="Arial"/>
              <a:sym typeface="Arial"/>
            </a:endParaRPr>
          </a:p>
          <a:p>
            <a:pPr indent="-285750" lvl="0" marL="365760" rtl="0" algn="l">
              <a:lnSpc>
                <a:spcPct val="115000"/>
              </a:lnSpc>
              <a:spcBef>
                <a:spcPts val="0"/>
              </a:spcBef>
              <a:spcAft>
                <a:spcPts val="0"/>
              </a:spcAft>
              <a:buClr>
                <a:srgbClr val="1F1F1F"/>
              </a:buClr>
              <a:buSzPts val="900"/>
              <a:buFont typeface="Arial"/>
              <a:buChar char="●"/>
            </a:pPr>
            <a:r>
              <a:rPr b="0" lang="en" sz="900">
                <a:solidFill>
                  <a:srgbClr val="1F1F1F"/>
                </a:solidFill>
                <a:highlight>
                  <a:srgbClr val="FFFFFF"/>
                </a:highlight>
                <a:latin typeface="Arial"/>
                <a:ea typeface="Arial"/>
                <a:cs typeface="Arial"/>
                <a:sym typeface="Arial"/>
              </a:rPr>
              <a:t>Consider follow-up appointments with a healthcare professional to assess healing progress and adjust treatment plan as needed.</a:t>
            </a:r>
            <a:endParaRPr b="0" sz="900">
              <a:solidFill>
                <a:srgbClr val="1F1F1F"/>
              </a:solidFill>
              <a:highlight>
                <a:srgbClr val="FFFFFF"/>
              </a:highlight>
              <a:latin typeface="Arial"/>
              <a:ea typeface="Arial"/>
              <a:cs typeface="Arial"/>
              <a:sym typeface="Arial"/>
            </a:endParaRPr>
          </a:p>
        </p:txBody>
      </p:sp>
      <p:sp>
        <p:nvSpPr>
          <p:cNvPr id="314" name="Google Shape;314;g3cd6a9c3abf_0_175"/>
          <p:cNvSpPr txBox="1"/>
          <p:nvPr>
            <p:ph type="title"/>
          </p:nvPr>
        </p:nvSpPr>
        <p:spPr>
          <a:xfrm>
            <a:off x="234300" y="3391175"/>
            <a:ext cx="8529000" cy="1276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Straight and better response formatted as a list.</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 It still lacks specifics and technical details, references to provide authenticity of the information.</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No 1-2 sentence summary, instructions are not fully followed.</a:t>
            </a:r>
            <a:endParaRPr b="0" sz="1100">
              <a:solidFill>
                <a:srgbClr val="A31515"/>
              </a:solidFill>
              <a:highlight>
                <a:schemeClr val="lt1"/>
              </a:highlight>
              <a:latin typeface="Nunito Light"/>
              <a:ea typeface="Nunito Light"/>
              <a:cs typeface="Nunito Light"/>
              <a:sym typeface="Nunito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cdbb33ee7c_0_13"/>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b="0" lang="en" sz="2400">
                <a:solidFill>
                  <a:schemeClr val="lt2"/>
                </a:solidFill>
                <a:latin typeface="Nunito Light"/>
                <a:ea typeface="Nunito Light"/>
                <a:cs typeface="Nunito Light"/>
                <a:sym typeface="Nunito Light"/>
              </a:rPr>
              <a:t>Summary of Baseline &amp; Prompt Engineering Solutions</a:t>
            </a:r>
            <a:endParaRPr b="0" sz="2400">
              <a:solidFill>
                <a:srgbClr val="0E39A9"/>
              </a:solidFill>
              <a:latin typeface="Nunito Light"/>
              <a:ea typeface="Nunito Light"/>
              <a:cs typeface="Nunito Light"/>
              <a:sym typeface="Nunito Light"/>
            </a:endParaRPr>
          </a:p>
        </p:txBody>
      </p:sp>
      <p:sp>
        <p:nvSpPr>
          <p:cNvPr id="320" name="Google Shape;320;g3cdbb33ee7c_0_13"/>
          <p:cNvSpPr txBox="1"/>
          <p:nvPr/>
        </p:nvSpPr>
        <p:spPr>
          <a:xfrm>
            <a:off x="374075" y="1009450"/>
            <a:ext cx="3891900" cy="338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300">
                <a:solidFill>
                  <a:srgbClr val="CC0000"/>
                </a:solidFill>
                <a:latin typeface="Nunito Light"/>
                <a:ea typeface="Nunito Light"/>
                <a:cs typeface="Nunito Light"/>
                <a:sym typeface="Nunito Light"/>
              </a:rPr>
              <a:t>The Baseline (Raw LLM)</a:t>
            </a:r>
            <a:endParaRPr sz="1300">
              <a:solidFill>
                <a:srgbClr val="CC0000"/>
              </a:solidFill>
              <a:latin typeface="Nunito Light"/>
              <a:ea typeface="Nunito Light"/>
              <a:cs typeface="Nunito Light"/>
              <a:sym typeface="Nunito Light"/>
            </a:endParaRPr>
          </a:p>
          <a:p>
            <a:pPr indent="-298450" lvl="0" marL="457200" rtl="0" algn="l">
              <a:lnSpc>
                <a:spcPct val="115000"/>
              </a:lnSpc>
              <a:spcBef>
                <a:spcPts val="1200"/>
              </a:spcBef>
              <a:spcAft>
                <a:spcPts val="0"/>
              </a:spcAft>
              <a:buSzPts val="1100"/>
              <a:buChar char="●"/>
            </a:pPr>
            <a:r>
              <a:rPr lang="en" sz="1100">
                <a:latin typeface="Nunito"/>
                <a:ea typeface="Nunito"/>
                <a:cs typeface="Nunito"/>
                <a:sym typeface="Nunito"/>
              </a:rPr>
              <a:t>Approach</a:t>
            </a:r>
            <a:r>
              <a:rPr b="1" lang="en" sz="1100">
                <a:latin typeface="Nunito"/>
                <a:ea typeface="Nunito"/>
                <a:cs typeface="Nunito"/>
                <a:sym typeface="Nunito"/>
              </a:rPr>
              <a:t>:</a:t>
            </a:r>
            <a:r>
              <a:rPr lang="en" sz="1100">
                <a:latin typeface="Nunito Light"/>
                <a:ea typeface="Nunito Light"/>
                <a:cs typeface="Nunito Light"/>
                <a:sym typeface="Nunito Light"/>
              </a:rPr>
              <a:t> Running a local Mistral-7B model with no specific instructions or external data.</a:t>
            </a:r>
            <a:endParaRPr sz="1100">
              <a:latin typeface="Nunito Light"/>
              <a:ea typeface="Nunito Light"/>
              <a:cs typeface="Nunito Light"/>
              <a:sym typeface="Nunito Light"/>
            </a:endParaRPr>
          </a:p>
          <a:p>
            <a:pPr indent="-298450" lvl="0" marL="457200" rtl="0" algn="l">
              <a:lnSpc>
                <a:spcPct val="115000"/>
              </a:lnSpc>
              <a:spcBef>
                <a:spcPts val="1000"/>
              </a:spcBef>
              <a:spcAft>
                <a:spcPts val="0"/>
              </a:spcAft>
              <a:buSzPts val="1100"/>
              <a:buChar char="●"/>
            </a:pPr>
            <a:r>
              <a:rPr lang="en" sz="1100">
                <a:latin typeface="Nunito"/>
                <a:ea typeface="Nunito"/>
                <a:cs typeface="Nunito"/>
                <a:sym typeface="Nunito"/>
              </a:rPr>
              <a:t>Observation</a:t>
            </a:r>
            <a:r>
              <a:rPr b="1" lang="en" sz="1100">
                <a:latin typeface="Nunito"/>
                <a:ea typeface="Nunito"/>
                <a:cs typeface="Nunito"/>
                <a:sym typeface="Nunito"/>
              </a:rPr>
              <a:t>:</a:t>
            </a:r>
            <a:r>
              <a:rPr lang="en" sz="1100">
                <a:latin typeface="Nunito Light"/>
                <a:ea typeface="Nunito Light"/>
                <a:cs typeface="Nunito Light"/>
                <a:sym typeface="Nunito Light"/>
              </a:rPr>
              <a:t> The model is "smart" but acts like a generalist.</a:t>
            </a:r>
            <a:endParaRPr sz="1100">
              <a:latin typeface="Nunito Light"/>
              <a:ea typeface="Nunito Light"/>
              <a:cs typeface="Nunito Light"/>
              <a:sym typeface="Nunito Light"/>
            </a:endParaRPr>
          </a:p>
          <a:p>
            <a:pPr indent="-298450" lvl="0" marL="457200" rtl="0" algn="l">
              <a:lnSpc>
                <a:spcPct val="115000"/>
              </a:lnSpc>
              <a:spcBef>
                <a:spcPts val="1000"/>
              </a:spcBef>
              <a:spcAft>
                <a:spcPts val="0"/>
              </a:spcAft>
              <a:buSzPts val="1100"/>
              <a:buFont typeface="Nunito"/>
              <a:buChar char="●"/>
            </a:pPr>
            <a:r>
              <a:rPr lang="en" sz="1100">
                <a:latin typeface="Nunito"/>
                <a:ea typeface="Nunito"/>
                <a:cs typeface="Nunito"/>
                <a:sym typeface="Nunito"/>
              </a:rPr>
              <a:t>Problem: </a:t>
            </a:r>
            <a:endParaRPr sz="1100">
              <a:latin typeface="Nunito"/>
              <a:ea typeface="Nunito"/>
              <a:cs typeface="Nunito"/>
              <a:sym typeface="Nunito"/>
            </a:endParaRPr>
          </a:p>
          <a:p>
            <a:pPr indent="-298450" lvl="1" marL="914400" rtl="0" algn="l">
              <a:lnSpc>
                <a:spcPct val="115000"/>
              </a:lnSpc>
              <a:spcBef>
                <a:spcPts val="0"/>
              </a:spcBef>
              <a:spcAft>
                <a:spcPts val="0"/>
              </a:spcAft>
              <a:buSzPts val="1100"/>
              <a:buChar char="○"/>
            </a:pPr>
            <a:r>
              <a:rPr lang="en" sz="1100">
                <a:latin typeface="Nunito Light"/>
                <a:ea typeface="Nunito Light"/>
                <a:cs typeface="Nunito Light"/>
                <a:sym typeface="Nunito Light"/>
              </a:rPr>
              <a:t>Responses were conversational and "fluffy" (e.g., "Hypertension is a common condition...").</a:t>
            </a:r>
            <a:endParaRPr sz="1100">
              <a:latin typeface="Nunito Light"/>
              <a:ea typeface="Nunito Light"/>
              <a:cs typeface="Nunito Light"/>
              <a:sym typeface="Nunito Light"/>
            </a:endParaRPr>
          </a:p>
          <a:p>
            <a:pPr indent="-298450" lvl="1" marL="914400" rtl="0" algn="l">
              <a:lnSpc>
                <a:spcPct val="115000"/>
              </a:lnSpc>
              <a:spcBef>
                <a:spcPts val="0"/>
              </a:spcBef>
              <a:spcAft>
                <a:spcPts val="0"/>
              </a:spcAft>
              <a:buSzPts val="1100"/>
              <a:buFont typeface="Nunito Light"/>
              <a:buChar char="○"/>
            </a:pPr>
            <a:r>
              <a:rPr lang="en" sz="1100">
                <a:latin typeface="Nunito Light"/>
                <a:ea typeface="Nunito Light"/>
                <a:cs typeface="Nunito Light"/>
                <a:sym typeface="Nunito Light"/>
              </a:rPr>
              <a:t>Answers were frequently truncated (cut off) because the model wasted its 512-token limit on introductory text.</a:t>
            </a:r>
            <a:endParaRPr sz="1100">
              <a:solidFill>
                <a:schemeClr val="dk2"/>
              </a:solidFill>
              <a:latin typeface="Nunito Light"/>
              <a:ea typeface="Nunito Light"/>
              <a:cs typeface="Nunito Light"/>
              <a:sym typeface="Nunito Light"/>
            </a:endParaRPr>
          </a:p>
          <a:p>
            <a:pPr indent="0" lvl="0" marL="914400" rtl="0" algn="l">
              <a:spcBef>
                <a:spcPts val="1200"/>
              </a:spcBef>
              <a:spcAft>
                <a:spcPts val="0"/>
              </a:spcAft>
              <a:buNone/>
            </a:pPr>
            <a:r>
              <a:t/>
            </a:r>
            <a:endParaRPr sz="1500">
              <a:solidFill>
                <a:schemeClr val="dk2"/>
              </a:solidFill>
              <a:latin typeface="Nunito"/>
              <a:ea typeface="Nunito"/>
              <a:cs typeface="Nunito"/>
              <a:sym typeface="Nunito"/>
            </a:endParaRPr>
          </a:p>
        </p:txBody>
      </p:sp>
      <p:sp>
        <p:nvSpPr>
          <p:cNvPr id="321" name="Google Shape;321;g3cdbb33ee7c_0_13"/>
          <p:cNvSpPr txBox="1"/>
          <p:nvPr/>
        </p:nvSpPr>
        <p:spPr>
          <a:xfrm>
            <a:off x="4572000" y="1005400"/>
            <a:ext cx="4151100" cy="3589500"/>
          </a:xfrm>
          <a:prstGeom prst="rect">
            <a:avLst/>
          </a:prstGeom>
          <a:noFill/>
          <a:ln>
            <a:noFill/>
          </a:ln>
        </p:spPr>
        <p:txBody>
          <a:bodyPr anchorCtr="0" anchor="t" bIns="91425" lIns="91425" spcFirstLastPara="1" rIns="91425" wrap="square" tIns="91425">
            <a:noAutofit/>
          </a:bodyPr>
          <a:lstStyle/>
          <a:p>
            <a:pPr indent="0" lvl="0" marL="76200" marR="76200" rtl="0" algn="l">
              <a:lnSpc>
                <a:spcPct val="150000"/>
              </a:lnSpc>
              <a:spcBef>
                <a:spcPts val="2100"/>
              </a:spcBef>
              <a:spcAft>
                <a:spcPts val="0"/>
              </a:spcAft>
              <a:buNone/>
            </a:pPr>
            <a:r>
              <a:rPr lang="en" sz="1300">
                <a:solidFill>
                  <a:srgbClr val="CC0000"/>
                </a:solidFill>
                <a:latin typeface="Nunito Light"/>
                <a:ea typeface="Nunito Light"/>
                <a:cs typeface="Nunito Light"/>
                <a:sym typeface="Nunito Light"/>
              </a:rPr>
              <a:t>Prompt Engineering</a:t>
            </a:r>
            <a:endParaRPr sz="1300">
              <a:solidFill>
                <a:srgbClr val="CC0000"/>
              </a:solidFill>
              <a:latin typeface="Nunito Light"/>
              <a:ea typeface="Nunito Light"/>
              <a:cs typeface="Nunito Light"/>
              <a:sym typeface="Nunito Light"/>
            </a:endParaRPr>
          </a:p>
          <a:p>
            <a:pPr indent="-298450" lvl="0" marL="457200" marR="76200" rtl="0" algn="l">
              <a:lnSpc>
                <a:spcPct val="115000"/>
              </a:lnSpc>
              <a:spcBef>
                <a:spcPts val="600"/>
              </a:spcBef>
              <a:spcAft>
                <a:spcPts val="0"/>
              </a:spcAft>
              <a:buClr>
                <a:srgbClr val="1F1F1F"/>
              </a:buClr>
              <a:buSzPts val="1100"/>
              <a:buFont typeface="Nunito Light"/>
              <a:buChar char="●"/>
            </a:pPr>
            <a:r>
              <a:rPr lang="en" sz="1100">
                <a:latin typeface="Nunito"/>
                <a:ea typeface="Nunito"/>
                <a:cs typeface="Nunito"/>
                <a:sym typeface="Nunito"/>
              </a:rPr>
              <a:t>Approach</a:t>
            </a:r>
            <a:r>
              <a:rPr lang="en" sz="1100">
                <a:latin typeface="Nunito Light"/>
                <a:ea typeface="Nunito Light"/>
                <a:cs typeface="Nunito Light"/>
                <a:sym typeface="Nunito Light"/>
              </a:rPr>
              <a:t>: Added a "System Prompt" to define a persona (Clinical Assistant) and set formatting rules (No fluff, use bullets).</a:t>
            </a:r>
            <a:endParaRPr sz="1100">
              <a:latin typeface="Nunito Light"/>
              <a:ea typeface="Nunito Light"/>
              <a:cs typeface="Nunito Light"/>
              <a:sym typeface="Nunito Light"/>
            </a:endParaRPr>
          </a:p>
          <a:p>
            <a:pPr indent="-285750" lvl="0" marL="533400" marR="76200" rtl="0" algn="l">
              <a:lnSpc>
                <a:spcPct val="115000"/>
              </a:lnSpc>
              <a:spcBef>
                <a:spcPts val="600"/>
              </a:spcBef>
              <a:spcAft>
                <a:spcPts val="0"/>
              </a:spcAft>
              <a:buClr>
                <a:srgbClr val="1F1F1F"/>
              </a:buClr>
              <a:buSzPts val="900"/>
              <a:buFont typeface="Helvetica Neue"/>
              <a:buChar char="●"/>
            </a:pPr>
            <a:r>
              <a:rPr lang="en" sz="1100">
                <a:latin typeface="Nunito"/>
                <a:ea typeface="Nunito"/>
                <a:cs typeface="Nunito"/>
                <a:sym typeface="Nunito"/>
              </a:rPr>
              <a:t>Observation</a:t>
            </a:r>
            <a:r>
              <a:rPr lang="en" sz="1100">
                <a:latin typeface="Nunito Light"/>
                <a:ea typeface="Nunito Light"/>
                <a:cs typeface="Nunito Light"/>
                <a:sym typeface="Nunito Light"/>
              </a:rPr>
              <a:t>: The tone became more professional, but the model struggled to generate summary.</a:t>
            </a:r>
            <a:endParaRPr sz="1100">
              <a:latin typeface="Nunito Light"/>
              <a:ea typeface="Nunito Light"/>
              <a:cs typeface="Nunito Light"/>
              <a:sym typeface="Nunito Light"/>
            </a:endParaRPr>
          </a:p>
          <a:p>
            <a:pPr indent="-285750" lvl="0" marL="533400" marR="76200" rtl="0" algn="l">
              <a:lnSpc>
                <a:spcPct val="115000"/>
              </a:lnSpc>
              <a:spcBef>
                <a:spcPts val="1000"/>
              </a:spcBef>
              <a:spcAft>
                <a:spcPts val="0"/>
              </a:spcAft>
              <a:buClr>
                <a:srgbClr val="1F1F1F"/>
              </a:buClr>
              <a:buSzPts val="900"/>
              <a:buFont typeface="Helvetica Neue"/>
              <a:buChar char="●"/>
            </a:pPr>
            <a:r>
              <a:rPr lang="en" sz="1100">
                <a:latin typeface="Nunito"/>
                <a:ea typeface="Nunito"/>
                <a:cs typeface="Nunito"/>
                <a:sym typeface="Nunito"/>
              </a:rPr>
              <a:t>Problem</a:t>
            </a:r>
            <a:r>
              <a:rPr lang="en" sz="1100">
                <a:latin typeface="Nunito Light"/>
                <a:ea typeface="Nunito Light"/>
                <a:cs typeface="Nunito Light"/>
                <a:sym typeface="Nunito Light"/>
              </a:rPr>
              <a:t>: Even with a better prompt, the model only knows what it was trained on. It lacks specific, authoritative clinical protocols.</a:t>
            </a:r>
            <a:endParaRPr sz="1100">
              <a:latin typeface="Nunito Light"/>
              <a:ea typeface="Nunito Light"/>
              <a:cs typeface="Nunito Light"/>
              <a:sym typeface="Nunito Light"/>
            </a:endParaRPr>
          </a:p>
          <a:p>
            <a:pPr indent="-285750" lvl="1" marL="990600" marR="76200" rtl="0" algn="l">
              <a:lnSpc>
                <a:spcPct val="115000"/>
              </a:lnSpc>
              <a:spcBef>
                <a:spcPts val="0"/>
              </a:spcBef>
              <a:spcAft>
                <a:spcPts val="0"/>
              </a:spcAft>
              <a:buClr>
                <a:srgbClr val="1F1F1F"/>
              </a:buClr>
              <a:buSzPts val="900"/>
              <a:buFont typeface="Helvetica Neue"/>
              <a:buChar char="●"/>
            </a:pPr>
            <a:r>
              <a:rPr lang="en" sz="1100">
                <a:latin typeface="Nunito Light"/>
                <a:ea typeface="Nunito Light"/>
                <a:cs typeface="Nunito Light"/>
                <a:sym typeface="Nunito Light"/>
              </a:rPr>
              <a:t>There are no citations or references. A doctor cannot verify where the information is coming from.</a:t>
            </a:r>
            <a:endParaRPr sz="1100">
              <a:latin typeface="Nunito Light"/>
              <a:ea typeface="Nunito Light"/>
              <a:cs typeface="Nunito Light"/>
              <a:sym typeface="Nunito Light"/>
            </a:endParaRPr>
          </a:p>
          <a:p>
            <a:pPr indent="-285750" lvl="1" marL="990600" marR="76200" rtl="0" algn="l">
              <a:lnSpc>
                <a:spcPct val="115000"/>
              </a:lnSpc>
              <a:spcBef>
                <a:spcPts val="0"/>
              </a:spcBef>
              <a:spcAft>
                <a:spcPts val="0"/>
              </a:spcAft>
              <a:buClr>
                <a:srgbClr val="1F1F1F"/>
              </a:buClr>
              <a:buSzPts val="900"/>
              <a:buFont typeface="Helvetica Neue"/>
              <a:buChar char="●"/>
            </a:pPr>
            <a:r>
              <a:rPr lang="en" sz="1100">
                <a:latin typeface="Nunito Light"/>
                <a:ea typeface="Nunito Light"/>
                <a:cs typeface="Nunito Light"/>
                <a:sym typeface="Nunito Light"/>
              </a:rPr>
              <a:t>For complex topics, the model still ignored specific formatting rules (like providing a 1-2 sentence summary).</a:t>
            </a:r>
            <a:endParaRPr sz="900">
              <a:latin typeface="Nunito Light"/>
              <a:ea typeface="Nunito Light"/>
              <a:cs typeface="Nunito Light"/>
              <a:sym typeface="Nunito Light"/>
            </a:endParaRPr>
          </a:p>
          <a:p>
            <a:pPr indent="0" lvl="0" marL="0" rtl="0" algn="l">
              <a:spcBef>
                <a:spcPts val="3000"/>
              </a:spcBef>
              <a:spcAft>
                <a:spcPts val="0"/>
              </a:spcAft>
              <a:buNone/>
            </a:pPr>
            <a:r>
              <a:t/>
            </a:r>
            <a:endParaRPr sz="1500">
              <a:solidFill>
                <a:schemeClr val="dk2"/>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cd6a9c3abf_0_185"/>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b="0" lang="en" sz="2400">
                <a:solidFill>
                  <a:schemeClr val="lt2"/>
                </a:solidFill>
                <a:latin typeface="Nunito Light"/>
                <a:ea typeface="Nunito Light"/>
                <a:cs typeface="Nunito Light"/>
                <a:sym typeface="Nunito Light"/>
              </a:rPr>
              <a:t>Data preparation for RAG</a:t>
            </a:r>
            <a:endParaRPr b="0" sz="2400">
              <a:solidFill>
                <a:srgbClr val="0E39A9"/>
              </a:solidFill>
              <a:latin typeface="Nunito Light"/>
              <a:ea typeface="Nunito Light"/>
              <a:cs typeface="Nunito Light"/>
              <a:sym typeface="Nunito Light"/>
            </a:endParaRPr>
          </a:p>
        </p:txBody>
      </p:sp>
      <p:sp>
        <p:nvSpPr>
          <p:cNvPr id="327" name="Google Shape;327;g3cd6a9c3abf_0_185"/>
          <p:cNvSpPr/>
          <p:nvPr/>
        </p:nvSpPr>
        <p:spPr>
          <a:xfrm>
            <a:off x="480552" y="1100550"/>
            <a:ext cx="13758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Nunito"/>
                <a:ea typeface="Nunito"/>
                <a:cs typeface="Nunito"/>
                <a:sym typeface="Nunito"/>
              </a:rPr>
              <a:t>Load Manual (pdf)</a:t>
            </a:r>
            <a:endParaRPr sz="1200">
              <a:solidFill>
                <a:schemeClr val="dk1"/>
              </a:solidFill>
              <a:latin typeface="Nunito"/>
              <a:ea typeface="Nunito"/>
              <a:cs typeface="Nunito"/>
              <a:sym typeface="Nunito"/>
            </a:endParaRPr>
          </a:p>
        </p:txBody>
      </p:sp>
      <p:sp>
        <p:nvSpPr>
          <p:cNvPr id="328" name="Google Shape;328;g3cd6a9c3abf_0_185"/>
          <p:cNvSpPr/>
          <p:nvPr/>
        </p:nvSpPr>
        <p:spPr>
          <a:xfrm>
            <a:off x="1970532" y="1226853"/>
            <a:ext cx="457200" cy="33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200">
              <a:solidFill>
                <a:schemeClr val="dk1"/>
              </a:solidFill>
              <a:latin typeface="Nunito"/>
              <a:ea typeface="Nunito"/>
              <a:cs typeface="Nunito"/>
              <a:sym typeface="Nunito"/>
            </a:endParaRPr>
          </a:p>
        </p:txBody>
      </p:sp>
      <p:sp>
        <p:nvSpPr>
          <p:cNvPr id="329" name="Google Shape;329;g3cd6a9c3abf_0_185"/>
          <p:cNvSpPr/>
          <p:nvPr/>
        </p:nvSpPr>
        <p:spPr>
          <a:xfrm>
            <a:off x="2549395" y="1119750"/>
            <a:ext cx="16341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Nunito"/>
                <a:ea typeface="Nunito"/>
                <a:cs typeface="Nunito"/>
                <a:sym typeface="Nunito"/>
              </a:rPr>
              <a:t>Data Chunking</a:t>
            </a:r>
            <a:endParaRPr sz="1200">
              <a:solidFill>
                <a:schemeClr val="dk1"/>
              </a:solidFill>
              <a:latin typeface="Nunito"/>
              <a:ea typeface="Nunito"/>
              <a:cs typeface="Nunito"/>
              <a:sym typeface="Nunito"/>
            </a:endParaRPr>
          </a:p>
        </p:txBody>
      </p:sp>
      <p:sp>
        <p:nvSpPr>
          <p:cNvPr id="330" name="Google Shape;330;g3cd6a9c3abf_0_185"/>
          <p:cNvSpPr/>
          <p:nvPr/>
        </p:nvSpPr>
        <p:spPr>
          <a:xfrm>
            <a:off x="4495808" y="1225296"/>
            <a:ext cx="457200" cy="33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200">
              <a:solidFill>
                <a:schemeClr val="dk1"/>
              </a:solidFill>
              <a:latin typeface="Nunito"/>
              <a:ea typeface="Nunito"/>
              <a:cs typeface="Nunito"/>
              <a:sym typeface="Nunito"/>
            </a:endParaRPr>
          </a:p>
        </p:txBody>
      </p:sp>
      <p:sp>
        <p:nvSpPr>
          <p:cNvPr id="331" name="Google Shape;331;g3cd6a9c3abf_0_185"/>
          <p:cNvSpPr/>
          <p:nvPr/>
        </p:nvSpPr>
        <p:spPr>
          <a:xfrm>
            <a:off x="667625" y="1883325"/>
            <a:ext cx="1188600" cy="3666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Merc Manuals (Medical)</a:t>
            </a:r>
            <a:endParaRPr b="1" sz="1000">
              <a:solidFill>
                <a:schemeClr val="dk1"/>
              </a:solidFill>
              <a:latin typeface="Nunito"/>
              <a:ea typeface="Nunito"/>
              <a:cs typeface="Nunito"/>
              <a:sym typeface="Nunito"/>
            </a:endParaRPr>
          </a:p>
        </p:txBody>
      </p:sp>
      <p:sp>
        <p:nvSpPr>
          <p:cNvPr id="332" name="Google Shape;332;g3cd6a9c3abf_0_185"/>
          <p:cNvSpPr txBox="1"/>
          <p:nvPr/>
        </p:nvSpPr>
        <p:spPr>
          <a:xfrm>
            <a:off x="78725" y="1883325"/>
            <a:ext cx="5577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Data Source</a:t>
            </a:r>
            <a:endParaRPr sz="900">
              <a:solidFill>
                <a:schemeClr val="dk2"/>
              </a:solidFill>
              <a:latin typeface="Nunito SemiBold"/>
              <a:ea typeface="Nunito SemiBold"/>
              <a:cs typeface="Nunito SemiBold"/>
              <a:sym typeface="Nunito SemiBold"/>
            </a:endParaRPr>
          </a:p>
        </p:txBody>
      </p:sp>
      <p:sp>
        <p:nvSpPr>
          <p:cNvPr id="333" name="Google Shape;333;g3cd6a9c3abf_0_185"/>
          <p:cNvSpPr/>
          <p:nvPr/>
        </p:nvSpPr>
        <p:spPr>
          <a:xfrm>
            <a:off x="7160133" y="1203405"/>
            <a:ext cx="457200" cy="330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200">
              <a:solidFill>
                <a:schemeClr val="dk1"/>
              </a:solidFill>
              <a:latin typeface="Nunito"/>
              <a:ea typeface="Nunito"/>
              <a:cs typeface="Nunito"/>
              <a:sym typeface="Nunito"/>
            </a:endParaRPr>
          </a:p>
        </p:txBody>
      </p:sp>
      <p:grpSp>
        <p:nvGrpSpPr>
          <p:cNvPr id="334" name="Google Shape;334;g3cd6a9c3abf_0_185"/>
          <p:cNvGrpSpPr/>
          <p:nvPr/>
        </p:nvGrpSpPr>
        <p:grpSpPr>
          <a:xfrm>
            <a:off x="7788600" y="1058525"/>
            <a:ext cx="771525" cy="628650"/>
            <a:chOff x="7788600" y="1058525"/>
            <a:chExt cx="771525" cy="628650"/>
          </a:xfrm>
        </p:grpSpPr>
        <p:sp>
          <p:nvSpPr>
            <p:cNvPr id="335" name="Google Shape;335;g3cd6a9c3abf_0_185"/>
            <p:cNvSpPr/>
            <p:nvPr/>
          </p:nvSpPr>
          <p:spPr>
            <a:xfrm>
              <a:off x="7788600" y="1058525"/>
              <a:ext cx="771525" cy="628650"/>
            </a:xfrm>
            <a:prstGeom prst="flowChartMagneticDisk">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
          <p:nvSpPr>
            <p:cNvPr id="336" name="Google Shape;336;g3cd6a9c3abf_0_185"/>
            <p:cNvSpPr txBox="1"/>
            <p:nvPr/>
          </p:nvSpPr>
          <p:spPr>
            <a:xfrm>
              <a:off x="7869563" y="1360350"/>
              <a:ext cx="609600" cy="284400"/>
            </a:xfrm>
            <a:prstGeom prst="rect">
              <a:avLst/>
            </a:prstGeom>
            <a:no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Light"/>
                  <a:ea typeface="Nunito Light"/>
                  <a:cs typeface="Nunito Light"/>
                  <a:sym typeface="Nunito Light"/>
                </a:rPr>
                <a:t>Vector DB</a:t>
              </a:r>
              <a:endParaRPr sz="1000">
                <a:solidFill>
                  <a:schemeClr val="dk2"/>
                </a:solidFill>
                <a:latin typeface="Nunito Light"/>
                <a:ea typeface="Nunito Light"/>
                <a:cs typeface="Nunito Light"/>
                <a:sym typeface="Nunito Light"/>
              </a:endParaRPr>
            </a:p>
          </p:txBody>
        </p:sp>
      </p:grpSp>
      <p:sp>
        <p:nvSpPr>
          <p:cNvPr id="337" name="Google Shape;337;g3cd6a9c3abf_0_185"/>
          <p:cNvSpPr/>
          <p:nvPr/>
        </p:nvSpPr>
        <p:spPr>
          <a:xfrm>
            <a:off x="667625" y="2324073"/>
            <a:ext cx="1188600" cy="274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4114</a:t>
            </a:r>
            <a:endParaRPr b="1" sz="1000">
              <a:solidFill>
                <a:schemeClr val="dk1"/>
              </a:solidFill>
              <a:latin typeface="Nunito"/>
              <a:ea typeface="Nunito"/>
              <a:cs typeface="Nunito"/>
              <a:sym typeface="Nunito"/>
            </a:endParaRPr>
          </a:p>
        </p:txBody>
      </p:sp>
      <p:sp>
        <p:nvSpPr>
          <p:cNvPr id="338" name="Google Shape;338;g3cd6a9c3abf_0_185"/>
          <p:cNvSpPr txBox="1"/>
          <p:nvPr/>
        </p:nvSpPr>
        <p:spPr>
          <a:xfrm>
            <a:off x="78725" y="2257425"/>
            <a:ext cx="5577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No. of pages</a:t>
            </a:r>
            <a:endParaRPr sz="900">
              <a:solidFill>
                <a:schemeClr val="dk2"/>
              </a:solidFill>
              <a:latin typeface="Nunito SemiBold"/>
              <a:ea typeface="Nunito SemiBold"/>
              <a:cs typeface="Nunito SemiBold"/>
              <a:sym typeface="Nunito SemiBold"/>
            </a:endParaRPr>
          </a:p>
        </p:txBody>
      </p:sp>
      <p:sp>
        <p:nvSpPr>
          <p:cNvPr id="339" name="Google Shape;339;g3cd6a9c3abf_0_185"/>
          <p:cNvSpPr txBox="1"/>
          <p:nvPr/>
        </p:nvSpPr>
        <p:spPr>
          <a:xfrm>
            <a:off x="2313425" y="1883325"/>
            <a:ext cx="721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Encoding</a:t>
            </a:r>
            <a:endParaRPr sz="900">
              <a:solidFill>
                <a:schemeClr val="dk2"/>
              </a:solidFill>
              <a:latin typeface="Nunito SemiBold"/>
              <a:ea typeface="Nunito SemiBold"/>
              <a:cs typeface="Nunito SemiBold"/>
              <a:sym typeface="Nunito SemiBold"/>
            </a:endParaRPr>
          </a:p>
        </p:txBody>
      </p:sp>
      <p:sp>
        <p:nvSpPr>
          <p:cNvPr id="340" name="Google Shape;340;g3cd6a9c3abf_0_185"/>
          <p:cNvSpPr/>
          <p:nvPr/>
        </p:nvSpPr>
        <p:spPr>
          <a:xfrm>
            <a:off x="3066600" y="2231270"/>
            <a:ext cx="1188600" cy="2910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512</a:t>
            </a:r>
            <a:endParaRPr b="1" sz="1000">
              <a:solidFill>
                <a:schemeClr val="dk1"/>
              </a:solidFill>
              <a:latin typeface="Nunito"/>
              <a:ea typeface="Nunito"/>
              <a:cs typeface="Nunito"/>
              <a:sym typeface="Nunito"/>
            </a:endParaRPr>
          </a:p>
        </p:txBody>
      </p:sp>
      <p:sp>
        <p:nvSpPr>
          <p:cNvPr id="341" name="Google Shape;341;g3cd6a9c3abf_0_185"/>
          <p:cNvSpPr txBox="1"/>
          <p:nvPr/>
        </p:nvSpPr>
        <p:spPr>
          <a:xfrm>
            <a:off x="2313625" y="2143125"/>
            <a:ext cx="721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Chunk size</a:t>
            </a:r>
            <a:endParaRPr sz="900">
              <a:solidFill>
                <a:schemeClr val="dk2"/>
              </a:solidFill>
              <a:latin typeface="Nunito SemiBold"/>
              <a:ea typeface="Nunito SemiBold"/>
              <a:cs typeface="Nunito SemiBold"/>
              <a:sym typeface="Nunito SemiBold"/>
            </a:endParaRPr>
          </a:p>
        </p:txBody>
      </p:sp>
      <p:sp>
        <p:nvSpPr>
          <p:cNvPr id="342" name="Google Shape;342;g3cd6a9c3abf_0_185"/>
          <p:cNvSpPr/>
          <p:nvPr/>
        </p:nvSpPr>
        <p:spPr>
          <a:xfrm>
            <a:off x="3066600" y="2588717"/>
            <a:ext cx="1188600" cy="2910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20</a:t>
            </a:r>
            <a:endParaRPr b="1" sz="1000">
              <a:solidFill>
                <a:schemeClr val="dk1"/>
              </a:solidFill>
              <a:latin typeface="Nunito"/>
              <a:ea typeface="Nunito"/>
              <a:cs typeface="Nunito"/>
              <a:sym typeface="Nunito"/>
            </a:endParaRPr>
          </a:p>
        </p:txBody>
      </p:sp>
      <p:sp>
        <p:nvSpPr>
          <p:cNvPr id="343" name="Google Shape;343;g3cd6a9c3abf_0_185"/>
          <p:cNvSpPr txBox="1"/>
          <p:nvPr/>
        </p:nvSpPr>
        <p:spPr>
          <a:xfrm>
            <a:off x="2313625" y="2545750"/>
            <a:ext cx="721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Chunk Overlap</a:t>
            </a:r>
            <a:endParaRPr sz="900">
              <a:solidFill>
                <a:schemeClr val="dk2"/>
              </a:solidFill>
              <a:latin typeface="Nunito SemiBold"/>
              <a:ea typeface="Nunito SemiBold"/>
              <a:cs typeface="Nunito SemiBold"/>
              <a:sym typeface="Nunito SemiBold"/>
            </a:endParaRPr>
          </a:p>
        </p:txBody>
      </p:sp>
      <p:sp>
        <p:nvSpPr>
          <p:cNvPr id="344" name="Google Shape;344;g3cd6a9c3abf_0_185"/>
          <p:cNvSpPr/>
          <p:nvPr/>
        </p:nvSpPr>
        <p:spPr>
          <a:xfrm>
            <a:off x="3066600" y="1873823"/>
            <a:ext cx="1188600" cy="2910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cl100k_base</a:t>
            </a:r>
            <a:endParaRPr b="1" sz="1000">
              <a:solidFill>
                <a:schemeClr val="dk1"/>
              </a:solidFill>
              <a:latin typeface="Nunito"/>
              <a:ea typeface="Nunito"/>
              <a:cs typeface="Nunito"/>
              <a:sym typeface="Nunito"/>
            </a:endParaRPr>
          </a:p>
        </p:txBody>
      </p:sp>
      <p:sp>
        <p:nvSpPr>
          <p:cNvPr id="345" name="Google Shape;345;g3cd6a9c3abf_0_185"/>
          <p:cNvSpPr txBox="1"/>
          <p:nvPr/>
        </p:nvSpPr>
        <p:spPr>
          <a:xfrm>
            <a:off x="4875650" y="1845225"/>
            <a:ext cx="777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Embedding Model</a:t>
            </a:r>
            <a:endParaRPr sz="900">
              <a:solidFill>
                <a:schemeClr val="dk2"/>
              </a:solidFill>
              <a:latin typeface="Nunito SemiBold"/>
              <a:ea typeface="Nunito SemiBold"/>
              <a:cs typeface="Nunito SemiBold"/>
              <a:sym typeface="Nunito SemiBold"/>
            </a:endParaRPr>
          </a:p>
        </p:txBody>
      </p:sp>
      <p:sp>
        <p:nvSpPr>
          <p:cNvPr id="346" name="Google Shape;346;g3cd6a9c3abf_0_185"/>
          <p:cNvSpPr/>
          <p:nvPr/>
        </p:nvSpPr>
        <p:spPr>
          <a:xfrm>
            <a:off x="5121370" y="1100550"/>
            <a:ext cx="1634100" cy="544200"/>
          </a:xfrm>
          <a:prstGeom prst="rect">
            <a:avLst/>
          </a:prstGeom>
          <a:noFill/>
          <a:ln cap="flat" cmpd="sng" w="9525">
            <a:solidFill>
              <a:schemeClr val="dk2"/>
            </a:solidFill>
            <a:prstDash val="solid"/>
            <a:round/>
            <a:headEnd len="sm" w="sm" type="none"/>
            <a:tailEnd len="sm" w="sm" type="none"/>
          </a:ln>
          <a:effectLst>
            <a:outerShdw blurRad="57150" rotWithShape="0" algn="bl" dir="5400000" dist="19050">
              <a:srgbClr val="000000">
                <a:alpha val="20000"/>
              </a:srgbClr>
            </a:outerShdw>
            <a:reflection blurRad="0" dir="5400000" dist="9525" endA="0" endPos="15000" fadeDir="5400012" kx="0" rotWithShape="0" algn="bl" stA="20000" stPos="0" sy="-10000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Nunito"/>
                <a:ea typeface="Nunito"/>
                <a:cs typeface="Nunito"/>
                <a:sym typeface="Nunito"/>
              </a:rPr>
              <a:t>Embedding</a:t>
            </a:r>
            <a:endParaRPr sz="1200">
              <a:solidFill>
                <a:schemeClr val="dk1"/>
              </a:solidFill>
              <a:latin typeface="Nunito"/>
              <a:ea typeface="Nunito"/>
              <a:cs typeface="Nunito"/>
              <a:sym typeface="Nunito"/>
            </a:endParaRPr>
          </a:p>
        </p:txBody>
      </p:sp>
      <p:sp>
        <p:nvSpPr>
          <p:cNvPr id="347" name="Google Shape;347;g3cd6a9c3abf_0_185"/>
          <p:cNvSpPr/>
          <p:nvPr/>
        </p:nvSpPr>
        <p:spPr>
          <a:xfrm>
            <a:off x="5652950" y="1928625"/>
            <a:ext cx="1264200" cy="274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thenlper/gte-large</a:t>
            </a:r>
            <a:endParaRPr b="1" sz="1000">
              <a:solidFill>
                <a:schemeClr val="dk1"/>
              </a:solidFill>
              <a:latin typeface="Nunito"/>
              <a:ea typeface="Nunito"/>
              <a:cs typeface="Nunito"/>
              <a:sym typeface="Nunito"/>
            </a:endParaRPr>
          </a:p>
        </p:txBody>
      </p:sp>
      <p:sp>
        <p:nvSpPr>
          <p:cNvPr id="348" name="Google Shape;348;g3cd6a9c3abf_0_185"/>
          <p:cNvSpPr txBox="1"/>
          <p:nvPr/>
        </p:nvSpPr>
        <p:spPr>
          <a:xfrm>
            <a:off x="7037825" y="1883725"/>
            <a:ext cx="777300" cy="3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Database</a:t>
            </a:r>
            <a:endParaRPr sz="900">
              <a:solidFill>
                <a:schemeClr val="dk2"/>
              </a:solidFill>
              <a:latin typeface="Nunito SemiBold"/>
              <a:ea typeface="Nunito SemiBold"/>
              <a:cs typeface="Nunito SemiBold"/>
              <a:sym typeface="Nunito SemiBold"/>
            </a:endParaRPr>
          </a:p>
        </p:txBody>
      </p:sp>
      <p:sp>
        <p:nvSpPr>
          <p:cNvPr id="349" name="Google Shape;349;g3cd6a9c3abf_0_185"/>
          <p:cNvSpPr/>
          <p:nvPr/>
        </p:nvSpPr>
        <p:spPr>
          <a:xfrm>
            <a:off x="7815125" y="1920525"/>
            <a:ext cx="908100" cy="274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Chroma</a:t>
            </a:r>
            <a:endParaRPr b="1" sz="1000">
              <a:solidFill>
                <a:schemeClr val="dk1"/>
              </a:solidFill>
              <a:latin typeface="Nunito"/>
              <a:ea typeface="Nunito"/>
              <a:cs typeface="Nunito"/>
              <a:sym typeface="Nunito"/>
            </a:endParaRPr>
          </a:p>
        </p:txBody>
      </p:sp>
      <p:sp>
        <p:nvSpPr>
          <p:cNvPr id="350" name="Google Shape;350;g3cd6a9c3abf_0_185"/>
          <p:cNvSpPr txBox="1"/>
          <p:nvPr/>
        </p:nvSpPr>
        <p:spPr>
          <a:xfrm>
            <a:off x="373375" y="3232775"/>
            <a:ext cx="8349900" cy="16872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000"/>
              </a:spcBef>
              <a:spcAft>
                <a:spcPts val="0"/>
              </a:spcAft>
              <a:buClr>
                <a:schemeClr val="dk2"/>
              </a:buClr>
              <a:buSzPts val="1200"/>
              <a:buFont typeface="Nunito"/>
              <a:buChar char="●"/>
            </a:pPr>
            <a:r>
              <a:rPr b="1" lang="en" sz="1200">
                <a:solidFill>
                  <a:schemeClr val="dk2"/>
                </a:solidFill>
                <a:latin typeface="Nunito"/>
                <a:ea typeface="Nunito"/>
                <a:cs typeface="Nunito"/>
                <a:sym typeface="Nunito"/>
              </a:rPr>
              <a:t>Chunk Size- </a:t>
            </a:r>
            <a:r>
              <a:rPr lang="en" sz="1200">
                <a:solidFill>
                  <a:schemeClr val="dk2"/>
                </a:solidFill>
                <a:latin typeface="Nunito"/>
                <a:ea typeface="Nunito"/>
                <a:cs typeface="Nunito"/>
                <a:sym typeface="Nunito"/>
              </a:rPr>
              <a:t>We split the 4,000-page manual into chunks of 512 tokens. This ensures the assistant can find specific answers quickly without getting overwhelmed by too much text at once.</a:t>
            </a:r>
            <a:endParaRPr b="1" sz="1200">
              <a:solidFill>
                <a:schemeClr val="dk2"/>
              </a:solidFill>
              <a:latin typeface="Nunito"/>
              <a:ea typeface="Nunito"/>
              <a:cs typeface="Nunito"/>
              <a:sym typeface="Nunito"/>
            </a:endParaRPr>
          </a:p>
          <a:p>
            <a:pPr indent="-304800" lvl="0" marL="457200" rtl="0" algn="l">
              <a:spcBef>
                <a:spcPts val="1000"/>
              </a:spcBef>
              <a:spcAft>
                <a:spcPts val="0"/>
              </a:spcAft>
              <a:buClr>
                <a:schemeClr val="dk1"/>
              </a:buClr>
              <a:buSzPts val="1200"/>
              <a:buFont typeface="Nunito"/>
              <a:buChar char="●"/>
            </a:pPr>
            <a:r>
              <a:rPr b="1" lang="en" sz="1200">
                <a:solidFill>
                  <a:schemeClr val="dk1"/>
                </a:solidFill>
                <a:latin typeface="Nunito"/>
                <a:ea typeface="Nunito"/>
                <a:cs typeface="Nunito"/>
                <a:sym typeface="Nunito"/>
              </a:rPr>
              <a:t>Chunk Overlap-  </a:t>
            </a:r>
            <a:r>
              <a:rPr lang="en" sz="1200">
                <a:solidFill>
                  <a:schemeClr val="dk1"/>
                </a:solidFill>
                <a:latin typeface="Nunito"/>
                <a:ea typeface="Nunito"/>
                <a:cs typeface="Nunito"/>
                <a:sym typeface="Nunito"/>
              </a:rPr>
              <a:t>Sliding window between chunks, to help  preserve semantic context, loss of information at boundaries, and improves retrieval accuracy.</a:t>
            </a:r>
            <a:endParaRPr b="1" sz="1200">
              <a:solidFill>
                <a:schemeClr val="dk1"/>
              </a:solidFill>
              <a:latin typeface="Nunito"/>
              <a:ea typeface="Nunito"/>
              <a:cs typeface="Nunito"/>
              <a:sym typeface="Nunito"/>
            </a:endParaRPr>
          </a:p>
          <a:p>
            <a:pPr indent="-304800" lvl="0" marL="457200" rtl="0" algn="l">
              <a:spcBef>
                <a:spcPts val="1000"/>
              </a:spcBef>
              <a:spcAft>
                <a:spcPts val="0"/>
              </a:spcAft>
              <a:buClr>
                <a:schemeClr val="dk1"/>
              </a:buClr>
              <a:buSzPts val="1200"/>
              <a:buFont typeface="Nunito"/>
              <a:buChar char="●"/>
            </a:pPr>
            <a:r>
              <a:rPr b="1" lang="en" sz="1200">
                <a:solidFill>
                  <a:schemeClr val="dk1"/>
                </a:solidFill>
                <a:latin typeface="Nunito"/>
                <a:ea typeface="Nunito"/>
                <a:cs typeface="Nunito"/>
                <a:sym typeface="Nunito"/>
              </a:rPr>
              <a:t>Embedding model - </a:t>
            </a:r>
            <a:r>
              <a:rPr lang="en" sz="1200">
                <a:solidFill>
                  <a:schemeClr val="dk1"/>
                </a:solidFill>
                <a:latin typeface="Nunito"/>
                <a:ea typeface="Nunito"/>
                <a:cs typeface="Nunito"/>
                <a:sym typeface="Nunito"/>
              </a:rPr>
              <a:t>Model that transforms the text into vectors.</a:t>
            </a:r>
            <a:endParaRPr sz="1200">
              <a:solidFill>
                <a:schemeClr val="dk1"/>
              </a:solidFill>
              <a:latin typeface="Nunito"/>
              <a:ea typeface="Nunito"/>
              <a:cs typeface="Nunito"/>
              <a:sym typeface="Nunito"/>
            </a:endParaRPr>
          </a:p>
          <a:p>
            <a:pPr indent="-304800" lvl="0" marL="457200" rtl="0" algn="l">
              <a:spcBef>
                <a:spcPts val="1000"/>
              </a:spcBef>
              <a:spcAft>
                <a:spcPts val="0"/>
              </a:spcAft>
              <a:buClr>
                <a:schemeClr val="dk2"/>
              </a:buClr>
              <a:buSzPts val="1200"/>
              <a:buFont typeface="Nunito"/>
              <a:buChar char="●"/>
            </a:pPr>
            <a:r>
              <a:rPr b="1" lang="en" sz="1200">
                <a:solidFill>
                  <a:schemeClr val="dk2"/>
                </a:solidFill>
                <a:latin typeface="Nunito"/>
                <a:ea typeface="Nunito"/>
                <a:cs typeface="Nunito"/>
                <a:sym typeface="Nunito"/>
              </a:rPr>
              <a:t>Chroma- </a:t>
            </a:r>
            <a:r>
              <a:rPr lang="en" sz="1200">
                <a:solidFill>
                  <a:schemeClr val="dk2"/>
                </a:solidFill>
                <a:latin typeface="Nunito"/>
                <a:ea typeface="Nunito"/>
                <a:cs typeface="Nunito"/>
                <a:sym typeface="Nunito"/>
              </a:rPr>
              <a:t>An open source storage solution, that allows to store the vectors and perform semantic search.</a:t>
            </a:r>
            <a:endParaRPr sz="1200">
              <a:solidFill>
                <a:schemeClr val="dk2"/>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cdbb33ee7c_0_120"/>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b="0" lang="en" sz="2400">
                <a:solidFill>
                  <a:schemeClr val="lt2"/>
                </a:solidFill>
                <a:latin typeface="Nunito Light"/>
                <a:ea typeface="Nunito Light"/>
                <a:cs typeface="Nunito Light"/>
                <a:sym typeface="Nunito Light"/>
              </a:rPr>
              <a:t> RAG: Context Retrieval &amp; Prompt Augmentation</a:t>
            </a:r>
            <a:endParaRPr b="0" sz="2400">
              <a:solidFill>
                <a:srgbClr val="0E39A9"/>
              </a:solidFill>
              <a:latin typeface="Nunito Light"/>
              <a:ea typeface="Nunito Light"/>
              <a:cs typeface="Nunito Light"/>
              <a:sym typeface="Nunito Light"/>
            </a:endParaRPr>
          </a:p>
        </p:txBody>
      </p:sp>
      <p:sp>
        <p:nvSpPr>
          <p:cNvPr id="356" name="Google Shape;356;g3cdbb33ee7c_0_120"/>
          <p:cNvSpPr txBox="1"/>
          <p:nvPr/>
        </p:nvSpPr>
        <p:spPr>
          <a:xfrm>
            <a:off x="459350" y="919475"/>
            <a:ext cx="8276100" cy="116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500">
              <a:solidFill>
                <a:schemeClr val="dk2"/>
              </a:solidFill>
              <a:latin typeface="Nunito"/>
              <a:ea typeface="Nunito"/>
              <a:cs typeface="Nunito"/>
              <a:sym typeface="Nunito"/>
            </a:endParaRPr>
          </a:p>
        </p:txBody>
      </p:sp>
      <p:sp>
        <p:nvSpPr>
          <p:cNvPr id="357" name="Google Shape;357;g3cdbb33ee7c_0_120"/>
          <p:cNvSpPr/>
          <p:nvPr/>
        </p:nvSpPr>
        <p:spPr>
          <a:xfrm>
            <a:off x="186125" y="1125950"/>
            <a:ext cx="3918600" cy="441600"/>
          </a:xfrm>
          <a:prstGeom prst="rect">
            <a:avLst/>
          </a:prstGeom>
          <a:solidFill>
            <a:srgbClr val="FFE599"/>
          </a:solidFill>
          <a:ln>
            <a:noFill/>
          </a:ln>
          <a:effectLst>
            <a:outerShdw rotWithShape="0" algn="bl">
              <a:srgbClr val="000000"/>
            </a:outerShdw>
            <a:reflection blurRad="0" dir="0" dist="0" endA="0" fadeDir="0" kx="0" rotWithShape="0" algn="bl" stPos="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2"/>
                </a:solidFill>
                <a:latin typeface="Nunito Light"/>
                <a:ea typeface="Nunito Light"/>
                <a:cs typeface="Nunito Light"/>
                <a:sym typeface="Nunito Light"/>
              </a:rPr>
              <a:t>Retriever</a:t>
            </a:r>
            <a:endParaRPr sz="1200">
              <a:solidFill>
                <a:schemeClr val="dk2"/>
              </a:solidFill>
              <a:latin typeface="Nunito Light"/>
              <a:ea typeface="Nunito Light"/>
              <a:cs typeface="Nunito Light"/>
              <a:sym typeface="Nunito Light"/>
            </a:endParaRPr>
          </a:p>
        </p:txBody>
      </p:sp>
      <p:sp>
        <p:nvSpPr>
          <p:cNvPr id="358" name="Google Shape;358;g3cdbb33ee7c_0_120"/>
          <p:cNvSpPr/>
          <p:nvPr/>
        </p:nvSpPr>
        <p:spPr>
          <a:xfrm>
            <a:off x="4572000" y="1141535"/>
            <a:ext cx="4163400" cy="441600"/>
          </a:xfrm>
          <a:prstGeom prst="rect">
            <a:avLst/>
          </a:prstGeom>
          <a:solidFill>
            <a:srgbClr val="F9CB9C"/>
          </a:solidFill>
          <a:ln>
            <a:noFill/>
          </a:ln>
          <a:effectLst>
            <a:outerShdw rotWithShape="0" algn="bl">
              <a:srgbClr val="000000"/>
            </a:outerShdw>
            <a:reflection blurRad="0" dir="0" dist="0" endA="0" fadeDir="0" kx="0" rotWithShape="0" algn="bl" stPos="0" ky="0"/>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200">
                <a:solidFill>
                  <a:schemeClr val="dk1"/>
                </a:solidFill>
                <a:latin typeface="Nunito Light"/>
                <a:ea typeface="Nunito Light"/>
                <a:cs typeface="Nunito Light"/>
                <a:sym typeface="Nunito Light"/>
              </a:rPr>
              <a:t>Prompt Augmentation</a:t>
            </a:r>
            <a:endParaRPr sz="1200">
              <a:solidFill>
                <a:schemeClr val="dk1"/>
              </a:solidFill>
              <a:latin typeface="Nunito Light"/>
              <a:ea typeface="Nunito Light"/>
              <a:cs typeface="Nunito Light"/>
              <a:sym typeface="Nunito Light"/>
            </a:endParaRPr>
          </a:p>
        </p:txBody>
      </p:sp>
      <p:sp>
        <p:nvSpPr>
          <p:cNvPr id="359" name="Google Shape;359;g3cdbb33ee7c_0_120"/>
          <p:cNvSpPr/>
          <p:nvPr/>
        </p:nvSpPr>
        <p:spPr>
          <a:xfrm>
            <a:off x="1217450" y="2482500"/>
            <a:ext cx="1188600" cy="3666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similarity</a:t>
            </a:r>
            <a:endParaRPr b="1" sz="1000">
              <a:solidFill>
                <a:schemeClr val="dk1"/>
              </a:solidFill>
              <a:latin typeface="Nunito"/>
              <a:ea typeface="Nunito"/>
              <a:cs typeface="Nunito"/>
              <a:sym typeface="Nunito"/>
            </a:endParaRPr>
          </a:p>
        </p:txBody>
      </p:sp>
      <p:sp>
        <p:nvSpPr>
          <p:cNvPr id="360" name="Google Shape;360;g3cdbb33ee7c_0_120"/>
          <p:cNvSpPr txBox="1"/>
          <p:nvPr/>
        </p:nvSpPr>
        <p:spPr>
          <a:xfrm>
            <a:off x="234875" y="2482500"/>
            <a:ext cx="9513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Search Type</a:t>
            </a:r>
            <a:endParaRPr sz="900">
              <a:solidFill>
                <a:schemeClr val="dk2"/>
              </a:solidFill>
              <a:latin typeface="Nunito SemiBold"/>
              <a:ea typeface="Nunito SemiBold"/>
              <a:cs typeface="Nunito SemiBold"/>
              <a:sym typeface="Nunito SemiBold"/>
            </a:endParaRPr>
          </a:p>
        </p:txBody>
      </p:sp>
      <p:sp>
        <p:nvSpPr>
          <p:cNvPr id="361" name="Google Shape;361;g3cdbb33ee7c_0_120"/>
          <p:cNvSpPr/>
          <p:nvPr/>
        </p:nvSpPr>
        <p:spPr>
          <a:xfrm>
            <a:off x="1217450" y="2923248"/>
            <a:ext cx="1188600" cy="274200"/>
          </a:xfrm>
          <a:prstGeom prst="roundRect">
            <a:avLst>
              <a:gd fmla="val 16667" name="adj"/>
            </a:avLst>
          </a:prstGeom>
          <a:noFill/>
          <a:ln cap="flat" cmpd="sng" w="9525">
            <a:solidFill>
              <a:srgbClr val="B7B7B7"/>
            </a:solidFill>
            <a:prstDash val="solid"/>
            <a:round/>
            <a:headEnd len="sm" w="sm" type="none"/>
            <a:tailEnd len="sm" w="sm" type="none"/>
          </a:ln>
          <a:effectLst>
            <a:outerShdw blurRad="57150" rotWithShape="0" algn="bl">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Light"/>
                <a:ea typeface="Nunito Light"/>
                <a:cs typeface="Nunito Light"/>
                <a:sym typeface="Nunito Light"/>
              </a:rPr>
              <a:t>3</a:t>
            </a:r>
            <a:endParaRPr b="1" sz="1000">
              <a:solidFill>
                <a:schemeClr val="dk1"/>
              </a:solidFill>
              <a:latin typeface="Nunito"/>
              <a:ea typeface="Nunito"/>
              <a:cs typeface="Nunito"/>
              <a:sym typeface="Nunito"/>
            </a:endParaRPr>
          </a:p>
        </p:txBody>
      </p:sp>
      <p:sp>
        <p:nvSpPr>
          <p:cNvPr id="362" name="Google Shape;362;g3cdbb33ee7c_0_120"/>
          <p:cNvSpPr txBox="1"/>
          <p:nvPr/>
        </p:nvSpPr>
        <p:spPr>
          <a:xfrm>
            <a:off x="234950" y="2856600"/>
            <a:ext cx="951300" cy="69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1F1F1F"/>
                </a:solidFill>
                <a:highlight>
                  <a:srgbClr val="FFFFFF"/>
                </a:highlight>
                <a:latin typeface="Nunito SemiBold"/>
                <a:ea typeface="Nunito SemiBold"/>
                <a:cs typeface="Nunito SemiBold"/>
                <a:sym typeface="Nunito SemiBold"/>
              </a:rPr>
              <a:t>K (no. of top relevant document chunks)</a:t>
            </a:r>
            <a:endParaRPr sz="900">
              <a:solidFill>
                <a:srgbClr val="1F1F1F"/>
              </a:solidFill>
              <a:highlight>
                <a:srgbClr val="FFFFFF"/>
              </a:highlight>
              <a:latin typeface="Nunito SemiBold"/>
              <a:ea typeface="Nunito SemiBold"/>
              <a:cs typeface="Nunito SemiBold"/>
              <a:sym typeface="Nunito SemiBold"/>
            </a:endParaRPr>
          </a:p>
        </p:txBody>
      </p:sp>
      <p:sp>
        <p:nvSpPr>
          <p:cNvPr id="363" name="Google Shape;363;g3cdbb33ee7c_0_120"/>
          <p:cNvSpPr txBox="1"/>
          <p:nvPr/>
        </p:nvSpPr>
        <p:spPr>
          <a:xfrm>
            <a:off x="186125" y="1843600"/>
            <a:ext cx="822900" cy="457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a:ea typeface="Nunito"/>
                <a:cs typeface="Nunito"/>
                <a:sym typeface="Nunito"/>
              </a:rPr>
              <a:t>User Input</a:t>
            </a:r>
            <a:endParaRPr sz="1000">
              <a:solidFill>
                <a:schemeClr val="dk2"/>
              </a:solidFill>
              <a:latin typeface="Nunito"/>
              <a:ea typeface="Nunito"/>
              <a:cs typeface="Nunito"/>
              <a:sym typeface="Nunito"/>
            </a:endParaRPr>
          </a:p>
        </p:txBody>
      </p:sp>
      <p:sp>
        <p:nvSpPr>
          <p:cNvPr id="364" name="Google Shape;364;g3cdbb33ee7c_0_120"/>
          <p:cNvSpPr txBox="1"/>
          <p:nvPr/>
        </p:nvSpPr>
        <p:spPr>
          <a:xfrm>
            <a:off x="1323425" y="1847500"/>
            <a:ext cx="1280100" cy="457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a:ea typeface="Nunito"/>
                <a:cs typeface="Nunito"/>
                <a:sym typeface="Nunito"/>
              </a:rPr>
              <a:t>Relevant top k=3</a:t>
            </a:r>
            <a:endParaRPr sz="1000">
              <a:solidFill>
                <a:schemeClr val="dk2"/>
              </a:solidFill>
              <a:latin typeface="Nunito"/>
              <a:ea typeface="Nunito"/>
              <a:cs typeface="Nunito"/>
              <a:sym typeface="Nunito"/>
            </a:endParaRPr>
          </a:p>
          <a:p>
            <a:pPr indent="0" lvl="0" marL="0" rtl="0" algn="ctr">
              <a:spcBef>
                <a:spcPts val="0"/>
              </a:spcBef>
              <a:spcAft>
                <a:spcPts val="0"/>
              </a:spcAft>
              <a:buNone/>
            </a:pPr>
            <a:r>
              <a:rPr lang="en" sz="1000">
                <a:solidFill>
                  <a:schemeClr val="dk2"/>
                </a:solidFill>
                <a:latin typeface="Nunito"/>
                <a:ea typeface="Nunito"/>
                <a:cs typeface="Nunito"/>
                <a:sym typeface="Nunito"/>
              </a:rPr>
              <a:t>document chunks</a:t>
            </a:r>
            <a:endParaRPr sz="1000">
              <a:solidFill>
                <a:schemeClr val="dk2"/>
              </a:solidFill>
              <a:latin typeface="Nunito"/>
              <a:ea typeface="Nunito"/>
              <a:cs typeface="Nunito"/>
              <a:sym typeface="Nunito"/>
            </a:endParaRPr>
          </a:p>
        </p:txBody>
      </p:sp>
      <p:cxnSp>
        <p:nvCxnSpPr>
          <p:cNvPr id="365" name="Google Shape;365;g3cdbb33ee7c_0_120"/>
          <p:cNvCxnSpPr>
            <a:stCxn id="363" idx="3"/>
            <a:endCxn id="364" idx="1"/>
          </p:cNvCxnSpPr>
          <p:nvPr/>
        </p:nvCxnSpPr>
        <p:spPr>
          <a:xfrm>
            <a:off x="1009025" y="2072200"/>
            <a:ext cx="314400" cy="3900"/>
          </a:xfrm>
          <a:prstGeom prst="straightConnector1">
            <a:avLst/>
          </a:prstGeom>
          <a:noFill/>
          <a:ln cap="flat" cmpd="sng" w="9525">
            <a:solidFill>
              <a:schemeClr val="dk2"/>
            </a:solidFill>
            <a:prstDash val="solid"/>
            <a:round/>
            <a:headEnd len="med" w="med" type="none"/>
            <a:tailEnd len="med" w="med" type="triangle"/>
          </a:ln>
        </p:spPr>
      </p:cxnSp>
      <p:sp>
        <p:nvSpPr>
          <p:cNvPr id="366" name="Google Shape;366;g3cdbb33ee7c_0_120"/>
          <p:cNvSpPr txBox="1"/>
          <p:nvPr/>
        </p:nvSpPr>
        <p:spPr>
          <a:xfrm>
            <a:off x="3154572" y="1847500"/>
            <a:ext cx="951300" cy="457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a:ea typeface="Nunito"/>
                <a:cs typeface="Nunito"/>
                <a:sym typeface="Nunito"/>
              </a:rPr>
              <a:t>Context</a:t>
            </a:r>
            <a:endParaRPr b="1" sz="1000">
              <a:solidFill>
                <a:schemeClr val="dk2"/>
              </a:solidFill>
              <a:latin typeface="Nunito"/>
              <a:ea typeface="Nunito"/>
              <a:cs typeface="Nunito"/>
              <a:sym typeface="Nunito"/>
            </a:endParaRPr>
          </a:p>
        </p:txBody>
      </p:sp>
      <p:sp>
        <p:nvSpPr>
          <p:cNvPr id="367" name="Google Shape;367;g3cdbb33ee7c_0_120"/>
          <p:cNvSpPr/>
          <p:nvPr/>
        </p:nvSpPr>
        <p:spPr>
          <a:xfrm>
            <a:off x="2682250" y="1954975"/>
            <a:ext cx="393600" cy="274200"/>
          </a:xfrm>
          <a:prstGeom prst="mathEqual">
            <a:avLst>
              <a:gd fmla="val 23520" name="adj1"/>
              <a:gd fmla="val 1176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
        <p:nvSpPr>
          <p:cNvPr id="368" name="Google Shape;368;g3cdbb33ee7c_0_120"/>
          <p:cNvSpPr txBox="1"/>
          <p:nvPr/>
        </p:nvSpPr>
        <p:spPr>
          <a:xfrm>
            <a:off x="4571997" y="1853375"/>
            <a:ext cx="951300" cy="457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2"/>
                </a:solidFill>
                <a:latin typeface="Nunito"/>
                <a:ea typeface="Nunito"/>
                <a:cs typeface="Nunito"/>
                <a:sym typeface="Nunito"/>
              </a:rPr>
              <a:t>Context</a:t>
            </a:r>
            <a:endParaRPr b="1" sz="1000">
              <a:solidFill>
                <a:schemeClr val="dk2"/>
              </a:solidFill>
              <a:latin typeface="Nunito"/>
              <a:ea typeface="Nunito"/>
              <a:cs typeface="Nunito"/>
              <a:sym typeface="Nunito"/>
            </a:endParaRPr>
          </a:p>
        </p:txBody>
      </p:sp>
      <p:sp>
        <p:nvSpPr>
          <p:cNvPr id="369" name="Google Shape;369;g3cdbb33ee7c_0_120"/>
          <p:cNvSpPr txBox="1"/>
          <p:nvPr/>
        </p:nvSpPr>
        <p:spPr>
          <a:xfrm>
            <a:off x="6065625" y="1853375"/>
            <a:ext cx="822900" cy="457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a:ea typeface="Nunito"/>
                <a:cs typeface="Nunito"/>
                <a:sym typeface="Nunito"/>
              </a:rPr>
              <a:t>User Input</a:t>
            </a:r>
            <a:endParaRPr sz="1000">
              <a:solidFill>
                <a:schemeClr val="dk2"/>
              </a:solidFill>
              <a:latin typeface="Nunito"/>
              <a:ea typeface="Nunito"/>
              <a:cs typeface="Nunito"/>
              <a:sym typeface="Nunito"/>
            </a:endParaRPr>
          </a:p>
        </p:txBody>
      </p:sp>
      <p:sp>
        <p:nvSpPr>
          <p:cNvPr id="370" name="Google Shape;370;g3cdbb33ee7c_0_120"/>
          <p:cNvSpPr/>
          <p:nvPr/>
        </p:nvSpPr>
        <p:spPr>
          <a:xfrm>
            <a:off x="5611620" y="1950278"/>
            <a:ext cx="365700" cy="263400"/>
          </a:xfrm>
          <a:prstGeom prst="mathPlus">
            <a:avLst>
              <a:gd fmla="val 23520" name="adj1"/>
            </a:avLst>
          </a:prstGeom>
          <a:no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000">
              <a:solidFill>
                <a:schemeClr val="dk1"/>
              </a:solidFill>
              <a:latin typeface="Nunito"/>
              <a:ea typeface="Nunito"/>
              <a:cs typeface="Nunito"/>
              <a:sym typeface="Nunito"/>
            </a:endParaRPr>
          </a:p>
        </p:txBody>
      </p:sp>
      <p:sp>
        <p:nvSpPr>
          <p:cNvPr id="371" name="Google Shape;371;g3cdbb33ee7c_0_120"/>
          <p:cNvSpPr txBox="1"/>
          <p:nvPr/>
        </p:nvSpPr>
        <p:spPr>
          <a:xfrm>
            <a:off x="7503350" y="1853375"/>
            <a:ext cx="1188600" cy="457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Nunito"/>
                <a:ea typeface="Nunito"/>
                <a:cs typeface="Nunito"/>
                <a:sym typeface="Nunito"/>
              </a:rPr>
              <a:t>System message template</a:t>
            </a:r>
            <a:endParaRPr sz="1000">
              <a:solidFill>
                <a:schemeClr val="dk2"/>
              </a:solidFill>
              <a:latin typeface="Nunito"/>
              <a:ea typeface="Nunito"/>
              <a:cs typeface="Nunito"/>
              <a:sym typeface="Nunito"/>
            </a:endParaRPr>
          </a:p>
        </p:txBody>
      </p:sp>
      <p:sp>
        <p:nvSpPr>
          <p:cNvPr id="372" name="Google Shape;372;g3cdbb33ee7c_0_120"/>
          <p:cNvSpPr/>
          <p:nvPr/>
        </p:nvSpPr>
        <p:spPr>
          <a:xfrm>
            <a:off x="7059420" y="1950278"/>
            <a:ext cx="365700" cy="263400"/>
          </a:xfrm>
          <a:prstGeom prst="mathPlus">
            <a:avLst>
              <a:gd fmla="val 23520" name="adj1"/>
            </a:avLst>
          </a:prstGeom>
          <a:noFill/>
          <a:ln cap="flat" cmpd="sng" w="9525">
            <a:solidFill>
              <a:schemeClr val="dk2"/>
            </a:solidFill>
            <a:prstDash val="solid"/>
            <a:round/>
            <a:headEnd len="sm" w="sm" type="none"/>
            <a:tailEnd len="sm" w="sm" type="none"/>
          </a:ln>
          <a:effectLst>
            <a:outerShdw blurRad="57150" rotWithShape="0" algn="bl" dir="5400000" dist="38100">
              <a:schemeClr val="lt2">
                <a:alpha val="3000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sz="1000">
              <a:solidFill>
                <a:schemeClr val="dk1"/>
              </a:solidFill>
              <a:latin typeface="Nunito"/>
              <a:ea typeface="Nunito"/>
              <a:cs typeface="Nunito"/>
              <a:sym typeface="Nunito"/>
            </a:endParaRPr>
          </a:p>
        </p:txBody>
      </p:sp>
      <p:sp>
        <p:nvSpPr>
          <p:cNvPr id="373" name="Google Shape;373;g3cdbb33ee7c_0_120"/>
          <p:cNvSpPr/>
          <p:nvPr/>
        </p:nvSpPr>
        <p:spPr>
          <a:xfrm rot="5400000">
            <a:off x="6547450" y="822250"/>
            <a:ext cx="365700" cy="3943500"/>
          </a:xfrm>
          <a:prstGeom prst="rightBrace">
            <a:avLst>
              <a:gd fmla="val 50000" name="adj1"/>
              <a:gd fmla="val 5007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Nunito"/>
              <a:ea typeface="Nunito"/>
              <a:cs typeface="Nunito"/>
              <a:sym typeface="Nunito"/>
            </a:endParaRPr>
          </a:p>
        </p:txBody>
      </p:sp>
      <p:sp>
        <p:nvSpPr>
          <p:cNvPr id="374" name="Google Shape;374;g3cdbb33ee7c_0_120"/>
          <p:cNvSpPr txBox="1"/>
          <p:nvPr/>
        </p:nvSpPr>
        <p:spPr>
          <a:xfrm>
            <a:off x="5611625" y="3205475"/>
            <a:ext cx="2527200" cy="457200"/>
          </a:xfrm>
          <a:prstGeom prst="rect">
            <a:avLst/>
          </a:prstGeom>
          <a:solidFill>
            <a:srgbClr val="5B9BD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solidFill>
                  <a:srgbClr val="FFFFFF"/>
                </a:solidFill>
                <a:latin typeface="Nunito"/>
                <a:ea typeface="Nunito"/>
                <a:cs typeface="Nunito"/>
                <a:sym typeface="Nunito"/>
              </a:rPr>
              <a:t> </a:t>
            </a:r>
            <a:r>
              <a:rPr lang="en" sz="1500">
                <a:solidFill>
                  <a:srgbClr val="FFFFFF"/>
                </a:solidFill>
                <a:latin typeface="Nunito Light"/>
                <a:ea typeface="Nunito Light"/>
                <a:cs typeface="Nunito Light"/>
                <a:sym typeface="Nunito Light"/>
              </a:rPr>
              <a:t>Prompt</a:t>
            </a:r>
            <a:endParaRPr sz="1500">
              <a:solidFill>
                <a:srgbClr val="FFFFFF"/>
              </a:solidFill>
              <a:latin typeface="Nunito Light"/>
              <a:ea typeface="Nunito Light"/>
              <a:cs typeface="Nunito Light"/>
              <a:sym typeface="Nunito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g3cdbb33ee7c_0_152"/>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b="0" lang="en" sz="2400">
                <a:solidFill>
                  <a:schemeClr val="lt2"/>
                </a:solidFill>
                <a:latin typeface="Nunito Light"/>
                <a:ea typeface="Nunito Light"/>
                <a:cs typeface="Nunito Light"/>
                <a:sym typeface="Nunito Light"/>
              </a:rPr>
              <a:t> </a:t>
            </a:r>
            <a:r>
              <a:rPr b="0" lang="en" sz="2400">
                <a:solidFill>
                  <a:schemeClr val="lt2"/>
                </a:solidFill>
                <a:latin typeface="Nunito Light"/>
                <a:ea typeface="Nunito Light"/>
                <a:cs typeface="Nunito Light"/>
                <a:sym typeface="Nunito Light"/>
              </a:rPr>
              <a:t>RAG: </a:t>
            </a:r>
            <a:r>
              <a:rPr b="0" lang="en" sz="2400">
                <a:solidFill>
                  <a:schemeClr val="lt2"/>
                </a:solidFill>
                <a:latin typeface="Nunito Light"/>
                <a:ea typeface="Nunito Light"/>
                <a:cs typeface="Nunito Light"/>
                <a:sym typeface="Nunito Light"/>
              </a:rPr>
              <a:t>Prompt Augmentation - System message</a:t>
            </a:r>
            <a:endParaRPr b="0" sz="2400">
              <a:solidFill>
                <a:srgbClr val="0E39A9"/>
              </a:solidFill>
              <a:latin typeface="Nunito Light"/>
              <a:ea typeface="Nunito Light"/>
              <a:cs typeface="Nunito Light"/>
              <a:sym typeface="Nunito Light"/>
            </a:endParaRPr>
          </a:p>
        </p:txBody>
      </p:sp>
      <p:sp>
        <p:nvSpPr>
          <p:cNvPr id="380" name="Google Shape;380;g3cdbb33ee7c_0_152"/>
          <p:cNvSpPr txBox="1"/>
          <p:nvPr/>
        </p:nvSpPr>
        <p:spPr>
          <a:xfrm>
            <a:off x="202450" y="861975"/>
            <a:ext cx="5200200" cy="4124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800">
                <a:highlight>
                  <a:srgbClr val="FFFFFF"/>
                </a:highlight>
                <a:latin typeface="Courier New"/>
                <a:ea typeface="Courier New"/>
                <a:cs typeface="Courier New"/>
                <a:sym typeface="Courier New"/>
              </a:rPr>
              <a:t>qna_system_message = </a:t>
            </a:r>
            <a:r>
              <a:rPr lang="en" sz="800">
                <a:solidFill>
                  <a:srgbClr val="A31515"/>
                </a:solidFill>
                <a:highlight>
                  <a:srgbClr val="FFFFFF"/>
                </a:highlight>
                <a:latin typeface="Courier New"/>
                <a:ea typeface="Courier New"/>
                <a:cs typeface="Courier New"/>
                <a:sym typeface="Courier New"/>
              </a:rPr>
              <a:t>"""</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You are an AI assistant whose work is to review the report and</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provide relevant answers to the user question from the context.</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User input will have the context required by you to answer user questions.</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This context will begin with the token: ###Context.</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The context contains references to specific portions</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of a document relevant to the user query.</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User questions will begin with the token: ###Question.</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Please answer only using the context provided in the input.</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Do not mention anything about the context in your final answer.</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If the answer is not found in the context, respond "I don't know".</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Format the output with a concise summary but don't include "summary" title,</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followed by list of items as shown in the following example.</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Do not include summary title.</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8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"This is a sample summary for the user query"</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1. List item 1</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2. List item 2</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a:t>
            </a:r>
            <a:r>
              <a:rPr lang="en" sz="800">
                <a:highlight>
                  <a:srgbClr val="FFFFFF"/>
                </a:highlight>
                <a:latin typeface="Courier New"/>
                <a:ea typeface="Courier New"/>
                <a:cs typeface="Courier New"/>
                <a:sym typeface="Courier New"/>
              </a:rPr>
              <a:t> </a:t>
            </a:r>
            <a:r>
              <a:rPr lang="en" sz="800">
                <a:solidFill>
                  <a:srgbClr val="A31515"/>
                </a:solidFill>
                <a:highlight>
                  <a:srgbClr val="FFFFFF"/>
                </a:highlight>
                <a:latin typeface="Courier New"/>
                <a:ea typeface="Courier New"/>
                <a:cs typeface="Courier New"/>
                <a:sym typeface="Courier New"/>
              </a:rPr>
              <a:t>"""</a:t>
            </a:r>
            <a:endParaRPr sz="8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800">
              <a:solidFill>
                <a:schemeClr val="dk2"/>
              </a:solidFill>
              <a:latin typeface="Nunito"/>
              <a:ea typeface="Nunito"/>
              <a:cs typeface="Nunito"/>
              <a:sym typeface="Nunito"/>
            </a:endParaRPr>
          </a:p>
        </p:txBody>
      </p:sp>
      <p:sp>
        <p:nvSpPr>
          <p:cNvPr id="381" name="Google Shape;381;g3cdbb33ee7c_0_152"/>
          <p:cNvSpPr txBox="1"/>
          <p:nvPr/>
        </p:nvSpPr>
        <p:spPr>
          <a:xfrm>
            <a:off x="5103650" y="861975"/>
            <a:ext cx="3827100" cy="3994500"/>
          </a:xfrm>
          <a:prstGeom prst="rect">
            <a:avLst/>
          </a:prstGeom>
          <a:solidFill>
            <a:srgbClr val="FFE599"/>
          </a:solidFill>
          <a:ln>
            <a:noFill/>
          </a:ln>
          <a:effectLst>
            <a:outerShdw rotWithShape="0" algn="bl">
              <a:srgbClr val="000000"/>
            </a:outerShdw>
            <a:reflection blurRad="0" dir="0" dist="0" endA="0" fadeDir="0" kx="0" rotWithShape="0" algn="bl" stPos="0" ky="0"/>
          </a:effectLst>
        </p:spPr>
        <p:txBody>
          <a:bodyPr anchorCtr="0" anchor="t" bIns="274300" lIns="182875" spcFirstLastPara="1" rIns="182875" wrap="square" tIns="274300">
            <a:noAutofit/>
          </a:bodyPr>
          <a:lstStyle/>
          <a:p>
            <a:pPr indent="-304800" lvl="0" marL="457200" marR="0" rtl="0" algn="l">
              <a:lnSpc>
                <a:spcPct val="100000"/>
              </a:lnSpc>
              <a:spcBef>
                <a:spcPts val="0"/>
              </a:spcBef>
              <a:spcAft>
                <a:spcPts val="0"/>
              </a:spcAft>
              <a:buClr>
                <a:schemeClr val="dk2"/>
              </a:buClr>
              <a:buSzPts val="1200"/>
              <a:buFont typeface="Nunito Light"/>
              <a:buChar char="●"/>
            </a:pPr>
            <a:r>
              <a:rPr lang="en" sz="1200">
                <a:solidFill>
                  <a:schemeClr val="dk2"/>
                </a:solidFill>
                <a:latin typeface="Nunito Light"/>
                <a:ea typeface="Nunito Light"/>
                <a:cs typeface="Nunito Light"/>
                <a:sym typeface="Nunito Light"/>
              </a:rPr>
              <a:t>System message helps to define the </a:t>
            </a:r>
            <a:r>
              <a:rPr lang="en" sz="1200">
                <a:solidFill>
                  <a:schemeClr val="dk2"/>
                </a:solidFill>
                <a:latin typeface="Nunito Medium"/>
                <a:ea typeface="Nunito Medium"/>
                <a:cs typeface="Nunito Medium"/>
                <a:sym typeface="Nunito Medium"/>
              </a:rPr>
              <a:t>“Rules of Engagement” and Guardrails.</a:t>
            </a:r>
            <a:endParaRPr sz="1200">
              <a:solidFill>
                <a:schemeClr val="dk2"/>
              </a:solidFill>
              <a:latin typeface="Nunito Medium"/>
              <a:ea typeface="Nunito Medium"/>
              <a:cs typeface="Nunito Medium"/>
              <a:sym typeface="Nunito Medium"/>
            </a:endParaRPr>
          </a:p>
          <a:p>
            <a:pPr indent="-304800" lvl="0" marL="457200" marR="0" rtl="0" algn="l">
              <a:lnSpc>
                <a:spcPct val="100000"/>
              </a:lnSpc>
              <a:spcBef>
                <a:spcPts val="1000"/>
              </a:spcBef>
              <a:spcAft>
                <a:spcPts val="0"/>
              </a:spcAft>
              <a:buClr>
                <a:schemeClr val="dk2"/>
              </a:buClr>
              <a:buSzPts val="1200"/>
              <a:buFont typeface="Nunito Light"/>
              <a:buChar char="●"/>
            </a:pPr>
            <a:r>
              <a:rPr lang="en" sz="1200">
                <a:solidFill>
                  <a:schemeClr val="dk2"/>
                </a:solidFill>
                <a:latin typeface="Nunito Medium"/>
                <a:ea typeface="Nunito Medium"/>
                <a:cs typeface="Nunito Medium"/>
                <a:sym typeface="Nunito Medium"/>
              </a:rPr>
              <a:t>Persona</a:t>
            </a:r>
            <a:r>
              <a:rPr lang="en" sz="1200">
                <a:solidFill>
                  <a:schemeClr val="dk2"/>
                </a:solidFill>
                <a:latin typeface="Nunito Light"/>
                <a:ea typeface="Nunito Light"/>
                <a:cs typeface="Nunito Light"/>
                <a:sym typeface="Nunito Light"/>
              </a:rPr>
              <a:t> is set to “AI Assistant”</a:t>
            </a:r>
            <a:endParaRPr sz="1200">
              <a:solidFill>
                <a:schemeClr val="dk2"/>
              </a:solidFill>
              <a:latin typeface="Nunito Light"/>
              <a:ea typeface="Nunito Light"/>
              <a:cs typeface="Nunito Light"/>
              <a:sym typeface="Nunito Light"/>
            </a:endParaRPr>
          </a:p>
          <a:p>
            <a:pPr indent="-304800" lvl="0" marL="457200" marR="0" rtl="0" algn="l">
              <a:lnSpc>
                <a:spcPct val="100000"/>
              </a:lnSpc>
              <a:spcBef>
                <a:spcPts val="1000"/>
              </a:spcBef>
              <a:spcAft>
                <a:spcPts val="0"/>
              </a:spcAft>
              <a:buClr>
                <a:schemeClr val="dk2"/>
              </a:buClr>
              <a:buSzPts val="1200"/>
              <a:buFont typeface="Nunito Light"/>
              <a:buChar char="●"/>
            </a:pPr>
            <a:r>
              <a:rPr lang="en" sz="1200">
                <a:solidFill>
                  <a:schemeClr val="dk2"/>
                </a:solidFill>
                <a:latin typeface="Nunito Light"/>
                <a:ea typeface="Nunito Light"/>
                <a:cs typeface="Nunito Light"/>
                <a:sym typeface="Nunito Light"/>
              </a:rPr>
              <a:t>Input </a:t>
            </a:r>
            <a:r>
              <a:rPr lang="en" sz="1200">
                <a:solidFill>
                  <a:schemeClr val="dk2"/>
                </a:solidFill>
                <a:latin typeface="Nunito Medium"/>
                <a:ea typeface="Nunito Medium"/>
                <a:cs typeface="Nunito Medium"/>
                <a:sym typeface="Nunito Medium"/>
              </a:rPr>
              <a:t>Structure</a:t>
            </a:r>
            <a:r>
              <a:rPr lang="en" sz="1200">
                <a:solidFill>
                  <a:schemeClr val="dk2"/>
                </a:solidFill>
                <a:latin typeface="Nunito Light"/>
                <a:ea typeface="Nunito Light"/>
                <a:cs typeface="Nunito Light"/>
                <a:sym typeface="Nunito Light"/>
              </a:rPr>
              <a:t> by defining the labels</a:t>
            </a:r>
            <a:endParaRPr sz="1200">
              <a:solidFill>
                <a:schemeClr val="dk2"/>
              </a:solidFill>
              <a:latin typeface="Nunito Light"/>
              <a:ea typeface="Nunito Light"/>
              <a:cs typeface="Nunito Light"/>
              <a:sym typeface="Nunito Light"/>
            </a:endParaRPr>
          </a:p>
          <a:p>
            <a:pPr indent="-304800" lvl="1" marL="914400" marR="0" rtl="0" algn="l">
              <a:lnSpc>
                <a:spcPct val="100000"/>
              </a:lnSpc>
              <a:spcBef>
                <a:spcPts val="1000"/>
              </a:spcBef>
              <a:spcAft>
                <a:spcPts val="0"/>
              </a:spcAft>
              <a:buClr>
                <a:schemeClr val="dk2"/>
              </a:buClr>
              <a:buSzPts val="1200"/>
              <a:buFont typeface="Nunito Light"/>
              <a:buChar char="○"/>
            </a:pPr>
            <a:r>
              <a:rPr lang="en" sz="1200">
                <a:solidFill>
                  <a:schemeClr val="dk2"/>
                </a:solidFill>
                <a:latin typeface="Nunito Light"/>
                <a:ea typeface="Nunito Light"/>
                <a:cs typeface="Nunito Light"/>
                <a:sym typeface="Nunito Light"/>
              </a:rPr>
              <a:t> ### Context</a:t>
            </a:r>
            <a:endParaRPr sz="1200">
              <a:solidFill>
                <a:schemeClr val="dk2"/>
              </a:solidFill>
              <a:latin typeface="Nunito Light"/>
              <a:ea typeface="Nunito Light"/>
              <a:cs typeface="Nunito Light"/>
              <a:sym typeface="Nunito Light"/>
            </a:endParaRPr>
          </a:p>
          <a:p>
            <a:pPr indent="-304800" lvl="1" marL="914400" marR="0" rtl="0" algn="l">
              <a:lnSpc>
                <a:spcPct val="100000"/>
              </a:lnSpc>
              <a:spcBef>
                <a:spcPts val="0"/>
              </a:spcBef>
              <a:spcAft>
                <a:spcPts val="0"/>
              </a:spcAft>
              <a:buClr>
                <a:schemeClr val="dk2"/>
              </a:buClr>
              <a:buSzPts val="1200"/>
              <a:buFont typeface="Nunito Light"/>
              <a:buChar char="○"/>
            </a:pPr>
            <a:r>
              <a:rPr lang="en" sz="1200">
                <a:solidFill>
                  <a:schemeClr val="dk2"/>
                </a:solidFill>
                <a:latin typeface="Nunito Light"/>
                <a:ea typeface="Nunito Light"/>
                <a:cs typeface="Nunito Light"/>
                <a:sym typeface="Nunito Light"/>
              </a:rPr>
              <a:t>### Question</a:t>
            </a:r>
            <a:endParaRPr sz="1200">
              <a:solidFill>
                <a:schemeClr val="dk2"/>
              </a:solidFill>
              <a:latin typeface="Nunito Light"/>
              <a:ea typeface="Nunito Light"/>
              <a:cs typeface="Nunito Light"/>
              <a:sym typeface="Nunito Light"/>
            </a:endParaRPr>
          </a:p>
          <a:p>
            <a:pPr indent="-304800" lvl="0" marL="457200" marR="0" rtl="0" algn="l">
              <a:lnSpc>
                <a:spcPct val="100000"/>
              </a:lnSpc>
              <a:spcBef>
                <a:spcPts val="1000"/>
              </a:spcBef>
              <a:spcAft>
                <a:spcPts val="0"/>
              </a:spcAft>
              <a:buClr>
                <a:schemeClr val="dk2"/>
              </a:buClr>
              <a:buSzPts val="1200"/>
              <a:buFont typeface="Nunito"/>
              <a:buChar char="●"/>
            </a:pPr>
            <a:r>
              <a:rPr lang="en" sz="1200">
                <a:solidFill>
                  <a:schemeClr val="dk2"/>
                </a:solidFill>
                <a:latin typeface="Nunito Medium"/>
                <a:ea typeface="Nunito Medium"/>
                <a:cs typeface="Nunito Medium"/>
                <a:sym typeface="Nunito Medium"/>
              </a:rPr>
              <a:t>Grounding </a:t>
            </a:r>
            <a:r>
              <a:rPr lang="en" sz="1200">
                <a:solidFill>
                  <a:schemeClr val="dk2"/>
                </a:solidFill>
                <a:latin typeface="Nunito Light"/>
                <a:ea typeface="Nunito Light"/>
                <a:cs typeface="Nunito Light"/>
                <a:sym typeface="Nunito Light"/>
              </a:rPr>
              <a:t>- Answer only using the context. If the answer is not present in the context, respond “I dont know”.</a:t>
            </a:r>
            <a:endParaRPr sz="1200">
              <a:solidFill>
                <a:schemeClr val="dk2"/>
              </a:solidFill>
              <a:latin typeface="Nunito Light"/>
              <a:ea typeface="Nunito Light"/>
              <a:cs typeface="Nunito Light"/>
              <a:sym typeface="Nunito Light"/>
            </a:endParaRPr>
          </a:p>
          <a:p>
            <a:pPr indent="-304800" lvl="0" marL="457200" marR="0" rtl="0" algn="l">
              <a:lnSpc>
                <a:spcPct val="100000"/>
              </a:lnSpc>
              <a:spcBef>
                <a:spcPts val="1000"/>
              </a:spcBef>
              <a:spcAft>
                <a:spcPts val="1000"/>
              </a:spcAft>
              <a:buClr>
                <a:schemeClr val="dk2"/>
              </a:buClr>
              <a:buSzPts val="1200"/>
              <a:buFont typeface="Nunito Light"/>
              <a:buChar char="●"/>
            </a:pPr>
            <a:r>
              <a:rPr lang="en" sz="1200">
                <a:solidFill>
                  <a:schemeClr val="dk2"/>
                </a:solidFill>
                <a:latin typeface="Nunito Medium"/>
                <a:ea typeface="Nunito Medium"/>
                <a:cs typeface="Nunito Medium"/>
                <a:sym typeface="Nunito Medium"/>
              </a:rPr>
              <a:t>Formatting </a:t>
            </a:r>
            <a:r>
              <a:rPr lang="en" sz="1200">
                <a:solidFill>
                  <a:schemeClr val="dk2"/>
                </a:solidFill>
                <a:latin typeface="Nunito Light"/>
                <a:ea typeface="Nunito Light"/>
                <a:cs typeface="Nunito Light"/>
                <a:sym typeface="Nunito Light"/>
              </a:rPr>
              <a:t>- Output with a concise summary, followed by a list of items.</a:t>
            </a:r>
            <a:endParaRPr sz="1200">
              <a:solidFill>
                <a:schemeClr val="dk2"/>
              </a:solidFill>
              <a:latin typeface="Nunito Light"/>
              <a:ea typeface="Nunito Light"/>
              <a:cs typeface="Nunito Light"/>
              <a:sym typeface="Nuni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cdbb33ee7c_0_178"/>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200"/>
              <a:buNone/>
            </a:pPr>
            <a:r>
              <a:rPr b="0" lang="en" sz="2400">
                <a:solidFill>
                  <a:schemeClr val="lt2"/>
                </a:solidFill>
                <a:latin typeface="Nunito Light"/>
                <a:ea typeface="Nunito Light"/>
                <a:cs typeface="Nunito Light"/>
                <a:sym typeface="Nunito Light"/>
              </a:rPr>
              <a:t>RAG: </a:t>
            </a:r>
            <a:r>
              <a:rPr b="0" lang="en" sz="2400">
                <a:solidFill>
                  <a:schemeClr val="lt2"/>
                </a:solidFill>
                <a:latin typeface="Nunito Light"/>
                <a:ea typeface="Nunito Light"/>
                <a:cs typeface="Nunito Light"/>
                <a:sym typeface="Nunito Light"/>
              </a:rPr>
              <a:t>Response Generation</a:t>
            </a:r>
            <a:endParaRPr b="0" sz="2400">
              <a:solidFill>
                <a:srgbClr val="0E39A9"/>
              </a:solidFill>
              <a:latin typeface="Nunito Light"/>
              <a:ea typeface="Nunito Light"/>
              <a:cs typeface="Nunito Light"/>
              <a:sym typeface="Nunito Light"/>
            </a:endParaRPr>
          </a:p>
        </p:txBody>
      </p:sp>
      <p:sp>
        <p:nvSpPr>
          <p:cNvPr id="387" name="Google Shape;387;g3cdbb33ee7c_0_178"/>
          <p:cNvSpPr txBox="1"/>
          <p:nvPr/>
        </p:nvSpPr>
        <p:spPr>
          <a:xfrm>
            <a:off x="202450" y="861975"/>
            <a:ext cx="5200200" cy="4124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600">
                <a:solidFill>
                  <a:srgbClr val="0000FF"/>
                </a:solidFill>
                <a:highlight>
                  <a:srgbClr val="FFFFFF"/>
                </a:highlight>
                <a:latin typeface="Courier New"/>
                <a:ea typeface="Courier New"/>
                <a:cs typeface="Courier New"/>
                <a:sym typeface="Courier New"/>
              </a:rPr>
              <a:t>def</a:t>
            </a:r>
            <a:r>
              <a:rPr lang="en" sz="600">
                <a:highlight>
                  <a:srgbClr val="FFFFFF"/>
                </a:highlight>
                <a:latin typeface="Courier New"/>
                <a:ea typeface="Courier New"/>
                <a:cs typeface="Courier New"/>
                <a:sym typeface="Courier New"/>
              </a:rPr>
              <a:t> </a:t>
            </a:r>
            <a:r>
              <a:rPr lang="en" sz="600">
                <a:solidFill>
                  <a:srgbClr val="6A5221"/>
                </a:solidFill>
                <a:highlight>
                  <a:srgbClr val="FFFFFF"/>
                </a:highlight>
                <a:latin typeface="Courier New"/>
                <a:ea typeface="Courier New"/>
                <a:cs typeface="Courier New"/>
                <a:sym typeface="Courier New"/>
              </a:rPr>
              <a:t>generate_rag_response</a:t>
            </a:r>
            <a:r>
              <a:rPr lang="en" sz="600">
                <a:highlight>
                  <a:srgbClr val="FFFFFF"/>
                </a:highlight>
                <a:latin typeface="Courier New"/>
                <a:ea typeface="Courier New"/>
                <a:cs typeface="Courier New"/>
                <a:sym typeface="Courier New"/>
              </a:rPr>
              <a:t>(</a:t>
            </a:r>
            <a:r>
              <a:rPr lang="en" sz="600">
                <a:solidFill>
                  <a:srgbClr val="001080"/>
                </a:solidFill>
                <a:highlight>
                  <a:srgbClr val="FFFFFF"/>
                </a:highlight>
                <a:latin typeface="Courier New"/>
                <a:ea typeface="Courier New"/>
                <a:cs typeface="Courier New"/>
                <a:sym typeface="Courier New"/>
              </a:rPr>
              <a:t>user_input</a:t>
            </a:r>
            <a:r>
              <a:rPr lang="en" sz="600">
                <a:highlight>
                  <a:srgbClr val="FFFFFF"/>
                </a:highlight>
                <a:latin typeface="Courier New"/>
                <a:ea typeface="Courier New"/>
                <a:cs typeface="Courier New"/>
                <a:sym typeface="Courier New"/>
              </a:rPr>
              <a:t>,</a:t>
            </a:r>
            <a:r>
              <a:rPr lang="en" sz="600">
                <a:solidFill>
                  <a:srgbClr val="001080"/>
                </a:solidFill>
                <a:highlight>
                  <a:srgbClr val="FFFFFF"/>
                </a:highlight>
                <a:latin typeface="Courier New"/>
                <a:ea typeface="Courier New"/>
                <a:cs typeface="Courier New"/>
                <a:sym typeface="Courier New"/>
              </a:rPr>
              <a:t>k</a:t>
            </a:r>
            <a:r>
              <a:rPr lang="en" sz="600">
                <a:highlight>
                  <a:srgbClr val="FFFFFF"/>
                </a:highlight>
                <a:latin typeface="Courier New"/>
                <a:ea typeface="Courier New"/>
                <a:cs typeface="Courier New"/>
                <a:sym typeface="Courier New"/>
              </a:rPr>
              <a:t>=</a:t>
            </a:r>
            <a:r>
              <a:rPr lang="en" sz="600">
                <a:solidFill>
                  <a:srgbClr val="116644"/>
                </a:solidFill>
                <a:highlight>
                  <a:srgbClr val="FFFFFF"/>
                </a:highlight>
                <a:latin typeface="Courier New"/>
                <a:ea typeface="Courier New"/>
                <a:cs typeface="Courier New"/>
                <a:sym typeface="Courier New"/>
              </a:rPr>
              <a:t>3</a:t>
            </a:r>
            <a:r>
              <a:rPr lang="en" sz="600">
                <a:highlight>
                  <a:srgbClr val="FFFFFF"/>
                </a:highlight>
                <a:latin typeface="Courier New"/>
                <a:ea typeface="Courier New"/>
                <a:cs typeface="Courier New"/>
                <a:sym typeface="Courier New"/>
              </a:rPr>
              <a:t>,</a:t>
            </a:r>
            <a:r>
              <a:rPr lang="en" sz="600">
                <a:solidFill>
                  <a:srgbClr val="001080"/>
                </a:solidFill>
                <a:highlight>
                  <a:srgbClr val="FFFFFF"/>
                </a:highlight>
                <a:latin typeface="Courier New"/>
                <a:ea typeface="Courier New"/>
                <a:cs typeface="Courier New"/>
                <a:sym typeface="Courier New"/>
              </a:rPr>
              <a:t>max_tokens</a:t>
            </a:r>
            <a:r>
              <a:rPr lang="en" sz="600">
                <a:highlight>
                  <a:srgbClr val="FFFFFF"/>
                </a:highlight>
                <a:latin typeface="Courier New"/>
                <a:ea typeface="Courier New"/>
                <a:cs typeface="Courier New"/>
                <a:sym typeface="Courier New"/>
              </a:rPr>
              <a:t>=</a:t>
            </a:r>
            <a:r>
              <a:rPr lang="en" sz="600">
                <a:solidFill>
                  <a:srgbClr val="116644"/>
                </a:solidFill>
                <a:highlight>
                  <a:srgbClr val="FFFFFF"/>
                </a:highlight>
                <a:latin typeface="Courier New"/>
                <a:ea typeface="Courier New"/>
                <a:cs typeface="Courier New"/>
                <a:sym typeface="Courier New"/>
              </a:rPr>
              <a:t>128</a:t>
            </a:r>
            <a:r>
              <a:rPr lang="en" sz="600">
                <a:highlight>
                  <a:srgbClr val="FFFFFF"/>
                </a:highlight>
                <a:latin typeface="Courier New"/>
                <a:ea typeface="Courier New"/>
                <a:cs typeface="Courier New"/>
                <a:sym typeface="Courier New"/>
              </a:rPr>
              <a:t>,</a:t>
            </a:r>
            <a:r>
              <a:rPr lang="en" sz="600">
                <a:solidFill>
                  <a:srgbClr val="001080"/>
                </a:solidFill>
                <a:highlight>
                  <a:srgbClr val="FFFFFF"/>
                </a:highlight>
                <a:latin typeface="Courier New"/>
                <a:ea typeface="Courier New"/>
                <a:cs typeface="Courier New"/>
                <a:sym typeface="Courier New"/>
              </a:rPr>
              <a:t>temperature</a:t>
            </a:r>
            <a:r>
              <a:rPr lang="en" sz="600">
                <a:highlight>
                  <a:srgbClr val="FFFFFF"/>
                </a:highlight>
                <a:latin typeface="Courier New"/>
                <a:ea typeface="Courier New"/>
                <a:cs typeface="Courier New"/>
                <a:sym typeface="Courier New"/>
              </a:rPr>
              <a:t>=</a:t>
            </a:r>
            <a:r>
              <a:rPr lang="en" sz="600">
                <a:solidFill>
                  <a:srgbClr val="116644"/>
                </a:solidFill>
                <a:highlight>
                  <a:srgbClr val="FFFFFF"/>
                </a:highlight>
                <a:latin typeface="Courier New"/>
                <a:ea typeface="Courier New"/>
                <a:cs typeface="Courier New"/>
                <a:sym typeface="Courier New"/>
              </a:rPr>
              <a:t>0</a:t>
            </a:r>
            <a:r>
              <a:rPr lang="en" sz="600">
                <a:highlight>
                  <a:srgbClr val="FFFFFF"/>
                </a:highlight>
                <a:latin typeface="Courier New"/>
                <a:ea typeface="Courier New"/>
                <a:cs typeface="Courier New"/>
                <a:sym typeface="Courier New"/>
              </a:rPr>
              <a:t>,</a:t>
            </a:r>
            <a:r>
              <a:rPr lang="en" sz="600">
                <a:solidFill>
                  <a:srgbClr val="001080"/>
                </a:solidFill>
                <a:highlight>
                  <a:srgbClr val="FFFFFF"/>
                </a:highlight>
                <a:latin typeface="Courier New"/>
                <a:ea typeface="Courier New"/>
                <a:cs typeface="Courier New"/>
                <a:sym typeface="Courier New"/>
              </a:rPr>
              <a:t>top_p</a:t>
            </a:r>
            <a:r>
              <a:rPr lang="en" sz="600">
                <a:highlight>
                  <a:srgbClr val="FFFFFF"/>
                </a:highlight>
                <a:latin typeface="Courier New"/>
                <a:ea typeface="Courier New"/>
                <a:cs typeface="Courier New"/>
                <a:sym typeface="Courier New"/>
              </a:rPr>
              <a:t>=</a:t>
            </a:r>
            <a:r>
              <a:rPr lang="en" sz="600">
                <a:solidFill>
                  <a:srgbClr val="116644"/>
                </a:solidFill>
                <a:highlight>
                  <a:srgbClr val="FFFFFF"/>
                </a:highlight>
                <a:latin typeface="Courier New"/>
                <a:ea typeface="Courier New"/>
                <a:cs typeface="Courier New"/>
                <a:sym typeface="Courier New"/>
              </a:rPr>
              <a:t>0.95</a:t>
            </a:r>
            <a:r>
              <a:rPr lang="en" sz="600">
                <a:highlight>
                  <a:srgbClr val="FFFFFF"/>
                </a:highlight>
                <a:latin typeface="Courier New"/>
                <a:ea typeface="Courier New"/>
                <a:cs typeface="Courier New"/>
                <a:sym typeface="Courier New"/>
              </a:rPr>
              <a:t>,</a:t>
            </a:r>
            <a:r>
              <a:rPr lang="en" sz="600">
                <a:solidFill>
                  <a:srgbClr val="001080"/>
                </a:solidFill>
                <a:highlight>
                  <a:srgbClr val="FFFFFF"/>
                </a:highlight>
                <a:latin typeface="Courier New"/>
                <a:ea typeface="Courier New"/>
                <a:cs typeface="Courier New"/>
                <a:sym typeface="Courier New"/>
              </a:rPr>
              <a:t>top_k</a:t>
            </a:r>
            <a:r>
              <a:rPr lang="en" sz="600">
                <a:highlight>
                  <a:srgbClr val="FFFFFF"/>
                </a:highlight>
                <a:latin typeface="Courier New"/>
                <a:ea typeface="Courier New"/>
                <a:cs typeface="Courier New"/>
                <a:sym typeface="Courier New"/>
              </a:rPr>
              <a:t>=</a:t>
            </a:r>
            <a:r>
              <a:rPr lang="en" sz="600">
                <a:solidFill>
                  <a:srgbClr val="116644"/>
                </a:solidFill>
                <a:highlight>
                  <a:srgbClr val="FFFFFF"/>
                </a:highlight>
                <a:latin typeface="Courier New"/>
                <a:ea typeface="Courier New"/>
                <a:cs typeface="Courier New"/>
                <a:sym typeface="Courier New"/>
              </a:rPr>
              <a:t>50</a:t>
            </a:r>
            <a:r>
              <a:rPr lang="en" sz="600">
                <a:highlight>
                  <a:srgbClr val="FFFFFF"/>
                </a:highlight>
                <a:latin typeface="Courier New"/>
                <a:ea typeface="Courier New"/>
                <a:cs typeface="Courier New"/>
                <a:sym typeface="Courier New"/>
              </a:rPr>
              <a:t>):</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0000FF"/>
                </a:solidFill>
                <a:highlight>
                  <a:srgbClr val="FFFFFF"/>
                </a:highlight>
                <a:latin typeface="Courier New"/>
                <a:ea typeface="Courier New"/>
                <a:cs typeface="Courier New"/>
                <a:sym typeface="Courier New"/>
              </a:rPr>
              <a:t>global</a:t>
            </a:r>
            <a:r>
              <a:rPr lang="en" sz="600">
                <a:highlight>
                  <a:srgbClr val="FFFFFF"/>
                </a:highlight>
                <a:latin typeface="Courier New"/>
                <a:ea typeface="Courier New"/>
                <a:cs typeface="Courier New"/>
                <a:sym typeface="Courier New"/>
              </a:rPr>
              <a:t> qna_system_message,qna_user_message_template</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008000"/>
                </a:solidFill>
                <a:highlight>
                  <a:srgbClr val="FFFFFF"/>
                </a:highlight>
                <a:latin typeface="Courier New"/>
                <a:ea typeface="Courier New"/>
                <a:cs typeface="Courier New"/>
                <a:sym typeface="Courier New"/>
              </a:rPr>
              <a:t># Retrieve relevant document chunks</a:t>
            </a:r>
            <a:endParaRPr sz="60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relevant_document_chunks = retriever.get_relevant_documents(query=user_input,k=k)</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context_list = [d.page_content </a:t>
            </a:r>
            <a:r>
              <a:rPr lang="en" sz="600">
                <a:solidFill>
                  <a:srgbClr val="9723B4"/>
                </a:solidFill>
                <a:highlight>
                  <a:srgbClr val="FFFFFF"/>
                </a:highlight>
                <a:latin typeface="Courier New"/>
                <a:ea typeface="Courier New"/>
                <a:cs typeface="Courier New"/>
                <a:sym typeface="Courier New"/>
              </a:rPr>
              <a:t>for</a:t>
            </a:r>
            <a:r>
              <a:rPr lang="en" sz="600">
                <a:highlight>
                  <a:srgbClr val="FFFFFF"/>
                </a:highlight>
                <a:latin typeface="Courier New"/>
                <a:ea typeface="Courier New"/>
                <a:cs typeface="Courier New"/>
                <a:sym typeface="Courier New"/>
              </a:rPr>
              <a:t> d </a:t>
            </a:r>
            <a:r>
              <a:rPr lang="en" sz="600">
                <a:solidFill>
                  <a:srgbClr val="0000FF"/>
                </a:solidFill>
                <a:highlight>
                  <a:srgbClr val="FFFFFF"/>
                </a:highlight>
                <a:latin typeface="Courier New"/>
                <a:ea typeface="Courier New"/>
                <a:cs typeface="Courier New"/>
                <a:sym typeface="Courier New"/>
              </a:rPr>
              <a:t>in</a:t>
            </a:r>
            <a:r>
              <a:rPr lang="en" sz="600">
                <a:highlight>
                  <a:srgbClr val="FFFFFF"/>
                </a:highlight>
                <a:latin typeface="Courier New"/>
                <a:ea typeface="Courier New"/>
                <a:cs typeface="Courier New"/>
                <a:sym typeface="Courier New"/>
              </a:rPr>
              <a:t> relevant_document_chunks]</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008000"/>
                </a:solidFill>
                <a:highlight>
                  <a:srgbClr val="FFFFFF"/>
                </a:highlight>
                <a:latin typeface="Courier New"/>
                <a:ea typeface="Courier New"/>
                <a:cs typeface="Courier New"/>
                <a:sym typeface="Courier New"/>
              </a:rPr>
              <a:t># Combine document chunks into a single context</a:t>
            </a:r>
            <a:endParaRPr sz="60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context_for_query = </a:t>
            </a:r>
            <a:r>
              <a:rPr lang="en" sz="600">
                <a:solidFill>
                  <a:srgbClr val="A31515"/>
                </a:solidFill>
                <a:highlight>
                  <a:srgbClr val="FFFFFF"/>
                </a:highlight>
                <a:latin typeface="Courier New"/>
                <a:ea typeface="Courier New"/>
                <a:cs typeface="Courier New"/>
                <a:sym typeface="Courier New"/>
              </a:rPr>
              <a:t>". "</a:t>
            </a:r>
            <a:r>
              <a:rPr lang="en" sz="600">
                <a:highlight>
                  <a:srgbClr val="FFFFFF"/>
                </a:highlight>
                <a:latin typeface="Courier New"/>
                <a:ea typeface="Courier New"/>
                <a:cs typeface="Courier New"/>
                <a:sym typeface="Courier New"/>
              </a:rPr>
              <a:t>.join(context_list)</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user_message = qna_user_message_template.replace(</a:t>
            </a:r>
            <a:r>
              <a:rPr lang="en" sz="600">
                <a:solidFill>
                  <a:srgbClr val="A31515"/>
                </a:solidFill>
                <a:highlight>
                  <a:srgbClr val="FFFFFF"/>
                </a:highlight>
                <a:latin typeface="Courier New"/>
                <a:ea typeface="Courier New"/>
                <a:cs typeface="Courier New"/>
                <a:sym typeface="Courier New"/>
              </a:rPr>
              <a:t>'{context}'</a:t>
            </a:r>
            <a:r>
              <a:rPr lang="en" sz="600">
                <a:highlight>
                  <a:srgbClr val="FFFFFF"/>
                </a:highlight>
                <a:latin typeface="Courier New"/>
                <a:ea typeface="Courier New"/>
                <a:cs typeface="Courier New"/>
                <a:sym typeface="Courier New"/>
              </a:rPr>
              <a:t>, context_for_query)</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user_message = user_message.replace(</a:t>
            </a:r>
            <a:r>
              <a:rPr lang="en" sz="600">
                <a:solidFill>
                  <a:srgbClr val="A31515"/>
                </a:solidFill>
                <a:highlight>
                  <a:srgbClr val="FFFFFF"/>
                </a:highlight>
                <a:latin typeface="Courier New"/>
                <a:ea typeface="Courier New"/>
                <a:cs typeface="Courier New"/>
                <a:sym typeface="Courier New"/>
              </a:rPr>
              <a:t>'{question}'</a:t>
            </a:r>
            <a:r>
              <a:rPr lang="en" sz="600">
                <a:highlight>
                  <a:srgbClr val="FFFFFF"/>
                </a:highlight>
                <a:latin typeface="Courier New"/>
                <a:ea typeface="Courier New"/>
                <a:cs typeface="Courier New"/>
                <a:sym typeface="Courier New"/>
              </a:rPr>
              <a:t>, user_input)</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prompt = qna_system_message + </a:t>
            </a:r>
            <a:r>
              <a:rPr lang="en" sz="600">
                <a:solidFill>
                  <a:srgbClr val="A31515"/>
                </a:solidFill>
                <a:highlight>
                  <a:srgbClr val="FFFFFF"/>
                </a:highlight>
                <a:latin typeface="Courier New"/>
                <a:ea typeface="Courier New"/>
                <a:cs typeface="Courier New"/>
                <a:sym typeface="Courier New"/>
              </a:rPr>
              <a:t>'\n'</a:t>
            </a:r>
            <a:r>
              <a:rPr lang="en" sz="600">
                <a:highlight>
                  <a:srgbClr val="FFFFFF"/>
                </a:highlight>
                <a:latin typeface="Courier New"/>
                <a:ea typeface="Courier New"/>
                <a:cs typeface="Courier New"/>
                <a:sym typeface="Courier New"/>
              </a:rPr>
              <a:t> + user_message</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008000"/>
                </a:solidFill>
                <a:highlight>
                  <a:srgbClr val="FFFFFF"/>
                </a:highlight>
                <a:latin typeface="Courier New"/>
                <a:ea typeface="Courier New"/>
                <a:cs typeface="Courier New"/>
                <a:sym typeface="Courier New"/>
              </a:rPr>
              <a:t># Generate the response</a:t>
            </a:r>
            <a:endParaRPr sz="60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9723B4"/>
                </a:solidFill>
                <a:highlight>
                  <a:srgbClr val="FFFFFF"/>
                </a:highlight>
                <a:latin typeface="Courier New"/>
                <a:ea typeface="Courier New"/>
                <a:cs typeface="Courier New"/>
                <a:sym typeface="Courier New"/>
              </a:rPr>
              <a:t>try</a:t>
            </a:r>
            <a:r>
              <a:rPr lang="en" sz="600">
                <a:highlight>
                  <a:srgbClr val="FFFFFF"/>
                </a:highlight>
                <a:latin typeface="Courier New"/>
                <a:ea typeface="Courier New"/>
                <a:cs typeface="Courier New"/>
                <a:sym typeface="Courier New"/>
              </a:rPr>
              <a:t>:</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response = llm(</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prompt=prompt,</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max_tokens=max_tokens,</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temperature=temperature,</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top_p=top_p,</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top_k=top_k</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008000"/>
                </a:solidFill>
                <a:highlight>
                  <a:srgbClr val="FFFFFF"/>
                </a:highlight>
                <a:latin typeface="Courier New"/>
                <a:ea typeface="Courier New"/>
                <a:cs typeface="Courier New"/>
                <a:sym typeface="Courier New"/>
              </a:rPr>
              <a:t># Extract and print the model's response</a:t>
            </a:r>
            <a:endParaRPr sz="600">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response = response[</a:t>
            </a:r>
            <a:r>
              <a:rPr lang="en" sz="600">
                <a:solidFill>
                  <a:srgbClr val="A31515"/>
                </a:solidFill>
                <a:highlight>
                  <a:srgbClr val="FFFFFF"/>
                </a:highlight>
                <a:latin typeface="Courier New"/>
                <a:ea typeface="Courier New"/>
                <a:cs typeface="Courier New"/>
                <a:sym typeface="Courier New"/>
              </a:rPr>
              <a:t>'choices'</a:t>
            </a:r>
            <a:r>
              <a:rPr lang="en" sz="600">
                <a:highlight>
                  <a:srgbClr val="FFFFFF"/>
                </a:highlight>
                <a:latin typeface="Courier New"/>
                <a:ea typeface="Courier New"/>
                <a:cs typeface="Courier New"/>
                <a:sym typeface="Courier New"/>
              </a:rPr>
              <a:t>][</a:t>
            </a:r>
            <a:r>
              <a:rPr lang="en" sz="600">
                <a:solidFill>
                  <a:srgbClr val="116644"/>
                </a:solidFill>
                <a:highlight>
                  <a:srgbClr val="FFFFFF"/>
                </a:highlight>
                <a:latin typeface="Courier New"/>
                <a:ea typeface="Courier New"/>
                <a:cs typeface="Courier New"/>
                <a:sym typeface="Courier New"/>
              </a:rPr>
              <a:t>0</a:t>
            </a:r>
            <a:r>
              <a:rPr lang="en" sz="600">
                <a:highlight>
                  <a:srgbClr val="FFFFFF"/>
                </a:highlight>
                <a:latin typeface="Courier New"/>
                <a:ea typeface="Courier New"/>
                <a:cs typeface="Courier New"/>
                <a:sym typeface="Courier New"/>
              </a:rPr>
              <a:t>][</a:t>
            </a:r>
            <a:r>
              <a:rPr lang="en" sz="600">
                <a:solidFill>
                  <a:srgbClr val="A31515"/>
                </a:solidFill>
                <a:highlight>
                  <a:srgbClr val="FFFFFF"/>
                </a:highlight>
                <a:latin typeface="Courier New"/>
                <a:ea typeface="Courier New"/>
                <a:cs typeface="Courier New"/>
                <a:sym typeface="Courier New"/>
              </a:rPr>
              <a:t>'text'</a:t>
            </a:r>
            <a:r>
              <a:rPr lang="en" sz="600">
                <a:highlight>
                  <a:srgbClr val="FFFFFF"/>
                </a:highlight>
                <a:latin typeface="Courier New"/>
                <a:ea typeface="Courier New"/>
                <a:cs typeface="Courier New"/>
                <a:sym typeface="Courier New"/>
              </a:rPr>
              <a:t>].strip()</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9723B4"/>
                </a:solidFill>
                <a:highlight>
                  <a:srgbClr val="FFFFFF"/>
                </a:highlight>
                <a:latin typeface="Courier New"/>
                <a:ea typeface="Courier New"/>
                <a:cs typeface="Courier New"/>
                <a:sym typeface="Courier New"/>
              </a:rPr>
              <a:t>except</a:t>
            </a:r>
            <a:r>
              <a:rPr lang="en" sz="600">
                <a:highlight>
                  <a:srgbClr val="FFFFFF"/>
                </a:highlight>
                <a:latin typeface="Courier New"/>
                <a:ea typeface="Courier New"/>
                <a:cs typeface="Courier New"/>
                <a:sym typeface="Courier New"/>
              </a:rPr>
              <a:t> Exception </a:t>
            </a:r>
            <a:r>
              <a:rPr lang="en" sz="600">
                <a:solidFill>
                  <a:srgbClr val="9723B4"/>
                </a:solidFill>
                <a:highlight>
                  <a:srgbClr val="FFFFFF"/>
                </a:highlight>
                <a:latin typeface="Courier New"/>
                <a:ea typeface="Courier New"/>
                <a:cs typeface="Courier New"/>
                <a:sym typeface="Courier New"/>
              </a:rPr>
              <a:t>as</a:t>
            </a:r>
            <a:r>
              <a:rPr lang="en" sz="600">
                <a:highlight>
                  <a:srgbClr val="FFFFFF"/>
                </a:highlight>
                <a:latin typeface="Courier New"/>
                <a:ea typeface="Courier New"/>
                <a:cs typeface="Courier New"/>
                <a:sym typeface="Courier New"/>
              </a:rPr>
              <a:t> e:</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response = </a:t>
            </a:r>
            <a:r>
              <a:rPr lang="en" sz="600">
                <a:solidFill>
                  <a:srgbClr val="0000FF"/>
                </a:solidFill>
                <a:highlight>
                  <a:srgbClr val="FFFFFF"/>
                </a:highlight>
                <a:latin typeface="Courier New"/>
                <a:ea typeface="Courier New"/>
                <a:cs typeface="Courier New"/>
                <a:sym typeface="Courier New"/>
              </a:rPr>
              <a:t>f</a:t>
            </a:r>
            <a:r>
              <a:rPr lang="en" sz="600">
                <a:solidFill>
                  <a:srgbClr val="A31515"/>
                </a:solidFill>
                <a:highlight>
                  <a:srgbClr val="FFFFFF"/>
                </a:highlight>
                <a:latin typeface="Courier New"/>
                <a:ea typeface="Courier New"/>
                <a:cs typeface="Courier New"/>
                <a:sym typeface="Courier New"/>
              </a:rPr>
              <a:t>'Sorry, I encountered the following error: \n </a:t>
            </a:r>
            <a:r>
              <a:rPr lang="en" sz="600">
                <a:highlight>
                  <a:srgbClr val="FFFFFF"/>
                </a:highlight>
                <a:latin typeface="Courier New"/>
                <a:ea typeface="Courier New"/>
                <a:cs typeface="Courier New"/>
                <a:sym typeface="Courier New"/>
              </a:rPr>
              <a:t>{e}</a:t>
            </a:r>
            <a:r>
              <a:rPr lang="en" sz="600">
                <a:solidFill>
                  <a:srgbClr val="A31515"/>
                </a:solidFill>
                <a:highlight>
                  <a:srgbClr val="FFFFFF"/>
                </a:highlight>
                <a:latin typeface="Courier New"/>
                <a:ea typeface="Courier New"/>
                <a:cs typeface="Courier New"/>
                <a:sym typeface="Courier New"/>
              </a:rPr>
              <a:t>'</a:t>
            </a:r>
            <a:endParaRPr sz="6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600">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600">
                <a:highlight>
                  <a:srgbClr val="FFFFFF"/>
                </a:highlight>
                <a:latin typeface="Courier New"/>
                <a:ea typeface="Courier New"/>
                <a:cs typeface="Courier New"/>
                <a:sym typeface="Courier New"/>
              </a:rPr>
              <a:t>    </a:t>
            </a:r>
            <a:r>
              <a:rPr lang="en" sz="600">
                <a:solidFill>
                  <a:srgbClr val="9723B4"/>
                </a:solidFill>
                <a:highlight>
                  <a:srgbClr val="FFFFFF"/>
                </a:highlight>
                <a:latin typeface="Courier New"/>
                <a:ea typeface="Courier New"/>
                <a:cs typeface="Courier New"/>
                <a:sym typeface="Courier New"/>
              </a:rPr>
              <a:t>return</a:t>
            </a:r>
            <a:r>
              <a:rPr lang="en" sz="600">
                <a:highlight>
                  <a:srgbClr val="FFFFFF"/>
                </a:highlight>
                <a:latin typeface="Courier New"/>
                <a:ea typeface="Courier New"/>
                <a:cs typeface="Courier New"/>
                <a:sym typeface="Courier New"/>
              </a:rPr>
              <a:t> response</a:t>
            </a:r>
            <a:endParaRPr sz="600">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600">
              <a:highlight>
                <a:srgbClr val="FFFFFF"/>
              </a:highlight>
              <a:latin typeface="Courier New"/>
              <a:ea typeface="Courier New"/>
              <a:cs typeface="Courier New"/>
              <a:sym typeface="Courier New"/>
            </a:endParaRPr>
          </a:p>
        </p:txBody>
      </p:sp>
      <p:sp>
        <p:nvSpPr>
          <p:cNvPr id="388" name="Google Shape;388;g3cdbb33ee7c_0_178"/>
          <p:cNvSpPr txBox="1"/>
          <p:nvPr/>
        </p:nvSpPr>
        <p:spPr>
          <a:xfrm>
            <a:off x="5103650" y="861975"/>
            <a:ext cx="3827100" cy="3994500"/>
          </a:xfrm>
          <a:prstGeom prst="rect">
            <a:avLst/>
          </a:prstGeom>
          <a:solidFill>
            <a:srgbClr val="F9CB9C"/>
          </a:solidFill>
          <a:ln>
            <a:noFill/>
          </a:ln>
          <a:effectLst>
            <a:outerShdw rotWithShape="0" algn="bl">
              <a:srgbClr val="000000"/>
            </a:outerShdw>
            <a:reflection blurRad="0" dir="0" dist="0" endA="0" fadeDir="0" kx="0" rotWithShape="0" algn="bl" stPos="0" ky="0"/>
          </a:effectLst>
        </p:spPr>
        <p:txBody>
          <a:bodyPr anchorCtr="0" anchor="t" bIns="274300" lIns="182875" spcFirstLastPara="1" rIns="182875" wrap="square" tIns="274300">
            <a:noAutofit/>
          </a:bodyPr>
          <a:lstStyle/>
          <a:p>
            <a:pPr indent="-304800" lvl="0" marL="457200" marR="0" rtl="0" algn="l">
              <a:lnSpc>
                <a:spcPct val="100000"/>
              </a:lnSpc>
              <a:spcBef>
                <a:spcPts val="1000"/>
              </a:spcBef>
              <a:spcAft>
                <a:spcPts val="0"/>
              </a:spcAft>
              <a:buClr>
                <a:schemeClr val="dk2"/>
              </a:buClr>
              <a:buSzPts val="1200"/>
              <a:buFont typeface="Nunito Light"/>
              <a:buChar char="●"/>
            </a:pPr>
            <a:r>
              <a:rPr lang="en" sz="1200">
                <a:solidFill>
                  <a:schemeClr val="dk2"/>
                </a:solidFill>
                <a:latin typeface="Nunito Medium"/>
                <a:ea typeface="Nunito Medium"/>
                <a:cs typeface="Nunito Medium"/>
                <a:sym typeface="Nunito Medium"/>
              </a:rPr>
              <a:t>Max tokens = 128</a:t>
            </a:r>
            <a:r>
              <a:rPr lang="en" sz="1200">
                <a:solidFill>
                  <a:schemeClr val="dk2"/>
                </a:solidFill>
                <a:latin typeface="Nunito Light"/>
                <a:ea typeface="Nunito Light"/>
                <a:cs typeface="Nunito Light"/>
                <a:sym typeface="Nunito Light"/>
              </a:rPr>
              <a:t>. It sets the limit on answer length. </a:t>
            </a:r>
            <a:r>
              <a:rPr lang="en" sz="1200">
                <a:solidFill>
                  <a:schemeClr val="dk2"/>
                </a:solidFill>
                <a:latin typeface="Nunito Light"/>
                <a:ea typeface="Nunito Light"/>
                <a:cs typeface="Nunito Light"/>
                <a:sym typeface="Nunito Light"/>
              </a:rPr>
              <a:t>While it enforces the model to be concise, there is a risk of information loss.</a:t>
            </a:r>
            <a:endParaRPr sz="1200">
              <a:solidFill>
                <a:schemeClr val="dk2"/>
              </a:solidFill>
              <a:latin typeface="Nunito Light"/>
              <a:ea typeface="Nunito Light"/>
              <a:cs typeface="Nunito Light"/>
              <a:sym typeface="Nunito Light"/>
            </a:endParaRPr>
          </a:p>
          <a:p>
            <a:pPr indent="-304800" lvl="0" marL="457200" marR="0" rtl="0" algn="l">
              <a:lnSpc>
                <a:spcPct val="100000"/>
              </a:lnSpc>
              <a:spcBef>
                <a:spcPts val="1000"/>
              </a:spcBef>
              <a:spcAft>
                <a:spcPts val="0"/>
              </a:spcAft>
              <a:buClr>
                <a:schemeClr val="dk2"/>
              </a:buClr>
              <a:buSzPts val="1200"/>
              <a:buFont typeface="Nunito Light"/>
              <a:buChar char="●"/>
            </a:pPr>
            <a:r>
              <a:rPr lang="en" sz="1200">
                <a:solidFill>
                  <a:schemeClr val="dk2"/>
                </a:solidFill>
                <a:latin typeface="Nunito Medium"/>
                <a:ea typeface="Nunito Medium"/>
                <a:cs typeface="Nunito Medium"/>
                <a:sym typeface="Nunito Medium"/>
              </a:rPr>
              <a:t>Temperature=0</a:t>
            </a:r>
            <a:r>
              <a:rPr lang="en" sz="1200">
                <a:solidFill>
                  <a:schemeClr val="dk2"/>
                </a:solidFill>
                <a:latin typeface="Nunito Light"/>
                <a:ea typeface="Nunito Light"/>
                <a:cs typeface="Nunito Light"/>
                <a:sym typeface="Nunito Light"/>
              </a:rPr>
              <a:t>. It defines the randomness of the output. We set it to zero for model to be deterministic, not to experiment / creative.</a:t>
            </a:r>
            <a:endParaRPr sz="1200">
              <a:solidFill>
                <a:schemeClr val="dk2"/>
              </a:solidFill>
              <a:latin typeface="Nunito Light"/>
              <a:ea typeface="Nunito Light"/>
              <a:cs typeface="Nunito Light"/>
              <a:sym typeface="Nunito Light"/>
            </a:endParaRPr>
          </a:p>
          <a:p>
            <a:pPr indent="-304800" lvl="0" marL="457200" marR="0" rtl="0" algn="l">
              <a:lnSpc>
                <a:spcPct val="100000"/>
              </a:lnSpc>
              <a:spcBef>
                <a:spcPts val="1000"/>
              </a:spcBef>
              <a:spcAft>
                <a:spcPts val="0"/>
              </a:spcAft>
              <a:buClr>
                <a:schemeClr val="dk2"/>
              </a:buClr>
              <a:buSzPts val="1200"/>
              <a:buFont typeface="Nunito Light"/>
              <a:buChar char="●"/>
            </a:pPr>
            <a:r>
              <a:rPr lang="en" sz="1200">
                <a:solidFill>
                  <a:schemeClr val="dk2"/>
                </a:solidFill>
                <a:latin typeface="Nunito Medium"/>
                <a:ea typeface="Nunito Medium"/>
                <a:cs typeface="Nunito Medium"/>
                <a:sym typeface="Nunito Medium"/>
              </a:rPr>
              <a:t>top_k=50</a:t>
            </a:r>
            <a:r>
              <a:rPr lang="en" sz="1200">
                <a:solidFill>
                  <a:schemeClr val="dk2"/>
                </a:solidFill>
                <a:latin typeface="Nunito Light"/>
                <a:ea typeface="Nunito Light"/>
                <a:cs typeface="Nunito Light"/>
                <a:sym typeface="Nunito Light"/>
              </a:rPr>
              <a:t>.  Sets the maximum no. of most likely next tokens to consider.</a:t>
            </a:r>
            <a:endParaRPr sz="1200">
              <a:solidFill>
                <a:schemeClr val="dk2"/>
              </a:solidFill>
              <a:latin typeface="Nunito Light"/>
              <a:ea typeface="Nunito Light"/>
              <a:cs typeface="Nunito Light"/>
              <a:sym typeface="Nunito Light"/>
            </a:endParaRPr>
          </a:p>
          <a:p>
            <a:pPr indent="-304800" lvl="0" marL="457200" marR="0" rtl="0" algn="l">
              <a:lnSpc>
                <a:spcPct val="100000"/>
              </a:lnSpc>
              <a:spcBef>
                <a:spcPts val="1000"/>
              </a:spcBef>
              <a:spcAft>
                <a:spcPts val="1000"/>
              </a:spcAft>
              <a:buClr>
                <a:schemeClr val="dk2"/>
              </a:buClr>
              <a:buSzPts val="1200"/>
              <a:buFont typeface="Nunito Light"/>
              <a:buChar char="●"/>
            </a:pPr>
            <a:r>
              <a:rPr lang="en" sz="1200">
                <a:solidFill>
                  <a:schemeClr val="dk2"/>
                </a:solidFill>
                <a:latin typeface="Nunito Medium"/>
                <a:ea typeface="Nunito Medium"/>
                <a:cs typeface="Nunito Medium"/>
                <a:sym typeface="Nunito Medium"/>
              </a:rPr>
              <a:t>top_p=0.95</a:t>
            </a:r>
            <a:r>
              <a:rPr lang="en" sz="1200">
                <a:solidFill>
                  <a:schemeClr val="dk2"/>
                </a:solidFill>
                <a:latin typeface="Nunito Light"/>
                <a:ea typeface="Nunito Light"/>
                <a:cs typeface="Nunito Light"/>
                <a:sym typeface="Nunito Light"/>
              </a:rPr>
              <a:t>. Sets the diversity of generated response by establishing a cumulative probability cutoff for token selection.</a:t>
            </a:r>
            <a:endParaRPr sz="1200">
              <a:solidFill>
                <a:schemeClr val="dk2"/>
              </a:solidFill>
              <a:latin typeface="Nunito Light"/>
              <a:ea typeface="Nunito Light"/>
              <a:cs typeface="Nunito Light"/>
              <a:sym typeface="Nunito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g3cdbb33ee7c_0_185"/>
          <p:cNvSpPr txBox="1"/>
          <p:nvPr>
            <p:ph type="title"/>
          </p:nvPr>
        </p:nvSpPr>
        <p:spPr>
          <a:xfrm>
            <a:off x="234300" y="90350"/>
            <a:ext cx="55848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chemeClr val="lt2"/>
                </a:solidFill>
                <a:latin typeface="Nunito Light"/>
                <a:ea typeface="Nunito Light"/>
                <a:cs typeface="Nunito Light"/>
                <a:sym typeface="Nunito Light"/>
              </a:rPr>
              <a:t>RAG:</a:t>
            </a:r>
            <a:r>
              <a:rPr b="0" lang="en" sz="2400">
                <a:solidFill>
                  <a:schemeClr val="lt2"/>
                </a:solidFill>
                <a:latin typeface="Nunito Light"/>
                <a:ea typeface="Nunito Light"/>
                <a:cs typeface="Nunito Light"/>
                <a:sym typeface="Nunito Light"/>
              </a:rPr>
              <a:t> </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Question Answering using LLM</a:t>
            </a:r>
            <a:endParaRPr b="0" sz="2300">
              <a:solidFill>
                <a:srgbClr val="0E39A9"/>
              </a:solidFill>
              <a:latin typeface="Nunito Light"/>
              <a:ea typeface="Nunito Light"/>
              <a:cs typeface="Nunito Light"/>
              <a:sym typeface="Nunito Light"/>
            </a:endParaRPr>
          </a:p>
        </p:txBody>
      </p:sp>
      <p:sp>
        <p:nvSpPr>
          <p:cNvPr id="394" name="Google Shape;394;g3cdbb33ee7c_0_185"/>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Q1)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is the protocol for managing sepsis in a critical care unit?</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System message - refer to prev. Slide </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500"/>
              </a:spcBef>
              <a:spcAft>
                <a:spcPts val="500"/>
              </a:spcAft>
              <a:buNone/>
            </a:pPr>
            <a:r>
              <a:rPr b="0" lang="en" sz="900">
                <a:solidFill>
                  <a:srgbClr val="1F1F1F"/>
                </a:solidFill>
                <a:highlight>
                  <a:srgbClr val="FFFFFF"/>
                </a:highlight>
                <a:latin typeface="Arial"/>
                <a:ea typeface="Arial"/>
                <a:cs typeface="Arial"/>
                <a:sym typeface="Arial"/>
              </a:rPr>
              <a:t>"The protocol for managing sepsis in a critical care unit includes administering antibiotics as soon as possible, draining abscesses and excising necrotic tissues, normalizing blood glucose levels, and considering corticosteroid therapy. The specific antibiotic regimen depends on the suspected source and causative organisms. Gentamicin or tobramycin in combination with a 3rd-generation cephalosporin is one recommended option for septic shock of unknown cause. Vancomycin should be added if resistant staphylococci or</a:t>
            </a:r>
            <a:endParaRPr b="0" sz="900">
              <a:solidFill>
                <a:srgbClr val="1F1F1F"/>
              </a:solidFill>
              <a:highlight>
                <a:srgbClr val="FFFFFF"/>
              </a:highlight>
              <a:latin typeface="Arial"/>
              <a:ea typeface="Arial"/>
              <a:cs typeface="Arial"/>
              <a:sym typeface="Arial"/>
            </a:endParaRPr>
          </a:p>
        </p:txBody>
      </p:sp>
      <p:sp>
        <p:nvSpPr>
          <p:cNvPr id="395" name="Google Shape;395;g3cdbb33ee7c_0_185"/>
          <p:cNvSpPr txBox="1"/>
          <p:nvPr>
            <p:ph type="title"/>
          </p:nvPr>
        </p:nvSpPr>
        <p:spPr>
          <a:xfrm>
            <a:off x="549300" y="3383125"/>
            <a:ext cx="8214000" cy="1490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Unlike the base model which provided generic answers, the system now provides the fact based answers from the manual.</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Response is </a:t>
            </a:r>
            <a:r>
              <a:rPr b="0" lang="en" sz="1100">
                <a:solidFill>
                  <a:srgbClr val="A31515"/>
                </a:solidFill>
                <a:highlight>
                  <a:schemeClr val="lt1"/>
                </a:highlight>
                <a:latin typeface="Nunito Light"/>
                <a:ea typeface="Nunito Light"/>
                <a:cs typeface="Nunito Light"/>
                <a:sym typeface="Nunito Light"/>
              </a:rPr>
              <a:t>formatted</a:t>
            </a:r>
            <a:r>
              <a:rPr b="0" lang="en" sz="1100">
                <a:solidFill>
                  <a:srgbClr val="A31515"/>
                </a:solidFill>
                <a:highlight>
                  <a:schemeClr val="lt1"/>
                </a:highlight>
                <a:latin typeface="Nunito Light"/>
                <a:ea typeface="Nunito Light"/>
                <a:cs typeface="Nunito Light"/>
                <a:sym typeface="Nunito Light"/>
              </a:rPr>
              <a:t> as set in the system prompt in Q2 answer, but not for Q1</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system provides specifics such as 50% mortality without surgery, which will be very helpful to doctor in patient diagnosis.</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response is cut-off due to 128 tokens limitation setup, which requires fine tuning of the solution.</a:t>
            </a:r>
            <a:endParaRPr b="0" sz="1100">
              <a:solidFill>
                <a:srgbClr val="A31515"/>
              </a:solidFill>
              <a:highlight>
                <a:schemeClr val="lt1"/>
              </a:highlight>
              <a:latin typeface="Nunito Light"/>
              <a:ea typeface="Nunito Light"/>
              <a:cs typeface="Nunito Light"/>
              <a:sym typeface="Nunito Light"/>
            </a:endParaRPr>
          </a:p>
        </p:txBody>
      </p:sp>
      <p:sp>
        <p:nvSpPr>
          <p:cNvPr id="396" name="Google Shape;396;g3cdbb33ee7c_0_185"/>
          <p:cNvSpPr txBox="1"/>
          <p:nvPr>
            <p:ph type="title"/>
          </p:nvPr>
        </p:nvSpPr>
        <p:spPr>
          <a:xfrm>
            <a:off x="4572000" y="701350"/>
            <a:ext cx="4287600" cy="292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Q2)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are the common symptoms for appendicitis, and can it be cured via medicine? If not, what surgical procedure should be followed to treat it?"</a:t>
            </a:r>
            <a:endParaRPr b="0"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This is a sample summary for the user query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Appendicitis is characterized by abdominal pain, anorexia, and abdominal tenderness.</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Diagnosis of appendicitis is clinical but can be supplemented by CT or ultrasound.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Without surgery or antibiotics, mortality from appendicitis is over 50%.</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Early surgical intervention (appendectomy) results in a low mortality rate and rapid recovery.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If the appendix ruptures or an abscess or peritonitis forms, the</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SzPts val="2200"/>
              <a:buNone/>
            </a:pPr>
            <a:r>
              <a:t/>
            </a:r>
            <a:endParaRPr b="0" sz="1300">
              <a:solidFill>
                <a:srgbClr val="CC0000"/>
              </a:solidFill>
              <a:latin typeface="Nunito Light"/>
              <a:ea typeface="Nunito Light"/>
              <a:cs typeface="Nunito Light"/>
              <a:sym typeface="Nuni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cdbb33ee7c_0_196"/>
          <p:cNvSpPr txBox="1"/>
          <p:nvPr>
            <p:ph type="title"/>
          </p:nvPr>
        </p:nvSpPr>
        <p:spPr>
          <a:xfrm>
            <a:off x="234300" y="90350"/>
            <a:ext cx="55848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Question Answering using LLM</a:t>
            </a:r>
            <a:endParaRPr b="0" sz="2300">
              <a:solidFill>
                <a:srgbClr val="0E39A9"/>
              </a:solidFill>
              <a:latin typeface="Nunito Light"/>
              <a:ea typeface="Nunito Light"/>
              <a:cs typeface="Nunito Light"/>
              <a:sym typeface="Nunito Light"/>
            </a:endParaRPr>
          </a:p>
        </p:txBody>
      </p:sp>
      <p:sp>
        <p:nvSpPr>
          <p:cNvPr id="402" name="Google Shape;402;g3cdbb33ee7c_0_196"/>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Q3)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are the effective treatments or solutions for addressing sudden patchy hair loss, commonly seen as localized bald spots on the scalp, and what could be the possible causes behind it?"</a:t>
            </a:r>
            <a:endParaRPr b="0" sz="90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0"/>
              </a:spcAft>
              <a:buNone/>
            </a:pPr>
            <a:r>
              <a:rPr b="0" lang="en" sz="900">
                <a:solidFill>
                  <a:srgbClr val="1F1F1F"/>
                </a:solidFill>
                <a:highlight>
                  <a:srgbClr val="FFFFFF"/>
                </a:highlight>
                <a:latin typeface="Arial"/>
                <a:ea typeface="Arial"/>
                <a:cs typeface="Arial"/>
                <a:sym typeface="Arial"/>
              </a:rPr>
              <a:t>Alopecia areata: This is a common autoimmune disorder that affects genetically susceptible individuals exposed to unclear environmental triggers. The most frequent treatments for alopecia areata include topical, intralesional, or systemic corticosteroids, topical minoxidil, topical anthralin, topical immunotherapy (diphencyprone or squaric acid dibutylester), or psoralen plus ultraviolet A (PUVA). The efficacy of these treatments varies and may take several months to show results.</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500"/>
              </a:spcAft>
              <a:buNone/>
            </a:pPr>
            <a:r>
              <a:t/>
            </a:r>
            <a:endParaRPr b="0" sz="900">
              <a:solidFill>
                <a:srgbClr val="1F1F1F"/>
              </a:solidFill>
              <a:highlight>
                <a:srgbClr val="FFFFFF"/>
              </a:highlight>
              <a:latin typeface="Arial"/>
              <a:ea typeface="Arial"/>
              <a:cs typeface="Arial"/>
              <a:sym typeface="Arial"/>
            </a:endParaRPr>
          </a:p>
        </p:txBody>
      </p:sp>
      <p:sp>
        <p:nvSpPr>
          <p:cNvPr id="403" name="Google Shape;403;g3cdbb33ee7c_0_196"/>
          <p:cNvSpPr txBox="1"/>
          <p:nvPr>
            <p:ph type="title"/>
          </p:nvPr>
        </p:nvSpPr>
        <p:spPr>
          <a:xfrm>
            <a:off x="549300" y="3383125"/>
            <a:ext cx="8214000" cy="1490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system is retrieving the relevant information from the manual.</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Failed to generate summary for Question 3.</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response is cut-off due to 128 tokens limitation setup, which requires fine tuning of the solution.</a:t>
            </a:r>
            <a:endParaRPr b="0" sz="1100">
              <a:solidFill>
                <a:srgbClr val="A31515"/>
              </a:solidFill>
              <a:highlight>
                <a:schemeClr val="lt1"/>
              </a:highlight>
              <a:latin typeface="Nunito Light"/>
              <a:ea typeface="Nunito Light"/>
              <a:cs typeface="Nunito Light"/>
              <a:sym typeface="Nunito Light"/>
            </a:endParaRPr>
          </a:p>
          <a:p>
            <a:pPr indent="0" lvl="0" marL="457200" rtl="0" algn="l">
              <a:lnSpc>
                <a:spcPct val="115000"/>
              </a:lnSpc>
              <a:spcBef>
                <a:spcPts val="0"/>
              </a:spcBef>
              <a:spcAft>
                <a:spcPts val="0"/>
              </a:spcAft>
              <a:buNone/>
            </a:pPr>
            <a:r>
              <a:t/>
            </a:r>
            <a:endParaRPr b="0" sz="1100">
              <a:solidFill>
                <a:srgbClr val="A31515"/>
              </a:solidFill>
              <a:highlight>
                <a:schemeClr val="lt1"/>
              </a:highlight>
              <a:latin typeface="Nunito Light"/>
              <a:ea typeface="Nunito Light"/>
              <a:cs typeface="Nunito Light"/>
              <a:sym typeface="Nunito Light"/>
            </a:endParaRPr>
          </a:p>
        </p:txBody>
      </p:sp>
      <p:sp>
        <p:nvSpPr>
          <p:cNvPr id="404" name="Google Shape;404;g3cdbb33ee7c_0_196"/>
          <p:cNvSpPr txBox="1"/>
          <p:nvPr>
            <p:ph type="title"/>
          </p:nvPr>
        </p:nvSpPr>
        <p:spPr>
          <a:xfrm>
            <a:off x="4572000" y="701350"/>
            <a:ext cx="4287600" cy="3063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Q4)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treatments are recommended for a person who has sustained a physical injury to brain tissue, resulting in temporary or permanent impairment of brain function?"</a:t>
            </a:r>
            <a:endParaRPr b="0" sz="9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This is a sample summary for the user query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Supportive care: Preventing systemic complications due to immobilization, providing good nutrition, and preventing pressure ulcers.</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Treatment for seizures: If the person has significant structural injury (large contusions or hematomas, brain laceration, depressed skull fracture) or a Glasgow Coma Scale score of &lt; 10, drugs are given to prevent seizures during the first week after injury. These drugs reduce the risk of seizures but do not prevent permanent posttraumatic epilepsy months or years later. They should be stopped after one week unless seizures</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SzPts val="2200"/>
              <a:buNone/>
            </a:pPr>
            <a:r>
              <a:t/>
            </a:r>
            <a:endParaRPr b="0" sz="1300">
              <a:solidFill>
                <a:srgbClr val="CC0000"/>
              </a:solidFill>
              <a:latin typeface="Nunito Light"/>
              <a:ea typeface="Nunito Light"/>
              <a:cs typeface="Nunito Light"/>
              <a:sym typeface="Nunito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cdbb33ee7c_0_203"/>
          <p:cNvSpPr txBox="1"/>
          <p:nvPr>
            <p:ph type="title"/>
          </p:nvPr>
        </p:nvSpPr>
        <p:spPr>
          <a:xfrm>
            <a:off x="234300" y="90350"/>
            <a:ext cx="55848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Question Answering using LLM</a:t>
            </a:r>
            <a:endParaRPr b="0" sz="2300">
              <a:solidFill>
                <a:srgbClr val="0E39A9"/>
              </a:solidFill>
              <a:latin typeface="Nunito Light"/>
              <a:ea typeface="Nunito Light"/>
              <a:cs typeface="Nunito Light"/>
              <a:sym typeface="Nunito Light"/>
            </a:endParaRPr>
          </a:p>
        </p:txBody>
      </p:sp>
      <p:sp>
        <p:nvSpPr>
          <p:cNvPr id="410" name="Google Shape;410;g3cdbb33ee7c_0_203"/>
          <p:cNvSpPr txBox="1"/>
          <p:nvPr>
            <p:ph type="title"/>
          </p:nvPr>
        </p:nvSpPr>
        <p:spPr>
          <a:xfrm>
            <a:off x="234300" y="525650"/>
            <a:ext cx="7032600" cy="2789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Q5)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are the necessary precautions and treatment steps for a person who has fractured their leg during a hiking trip, and what should be considered for their care and recovery?"</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The injured limb should be elevated above heart level for first 2 days to minimize swelling and allow gravity to help drain edema fluid.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After 48 hours, periodic application of warmth (heating pad) for 15 to 20 minutes may relieve pain and speed healing.</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Immobilization is necessary to prevent further injury and facilitate healing. Joints proximal and distal to the injury should be immobilized.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 cast or splint can be used for immobilization, depending on the severity of the injury and the</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500"/>
              </a:spcAft>
              <a:buNone/>
            </a:pPr>
            <a:r>
              <a:t/>
            </a:r>
            <a:endParaRPr b="0" sz="900">
              <a:solidFill>
                <a:srgbClr val="1F1F1F"/>
              </a:solidFill>
              <a:highlight>
                <a:srgbClr val="FFFFFF"/>
              </a:highlight>
              <a:latin typeface="Arial"/>
              <a:ea typeface="Arial"/>
              <a:cs typeface="Arial"/>
              <a:sym typeface="Arial"/>
            </a:endParaRPr>
          </a:p>
        </p:txBody>
      </p:sp>
      <p:sp>
        <p:nvSpPr>
          <p:cNvPr id="411" name="Google Shape;411;g3cdbb33ee7c_0_203"/>
          <p:cNvSpPr txBox="1"/>
          <p:nvPr>
            <p:ph type="title"/>
          </p:nvPr>
        </p:nvSpPr>
        <p:spPr>
          <a:xfrm>
            <a:off x="234300" y="2938625"/>
            <a:ext cx="8214000" cy="1490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System is able to identify the relevant information from manual and provide technical details.</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Formatting issues continue, system failed to include the summary as specified in the system message template.</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response is cut-off due to 128 tokens limitation setup, which requires fine tuning of the solution.</a:t>
            </a:r>
            <a:endParaRPr b="0" sz="1100">
              <a:solidFill>
                <a:srgbClr val="A31515"/>
              </a:solidFill>
              <a:highlight>
                <a:schemeClr val="lt1"/>
              </a:highlight>
              <a:latin typeface="Nunito Light"/>
              <a:ea typeface="Nunito Light"/>
              <a:cs typeface="Nunito Light"/>
              <a:sym typeface="Nunito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cdbb33ee7c_0_222"/>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Fine tuning</a:t>
            </a:r>
            <a:r>
              <a:rPr b="0" lang="en" sz="2300">
                <a:solidFill>
                  <a:srgbClr val="0E39A9"/>
                </a:solidFill>
                <a:latin typeface="Nunito Light"/>
                <a:ea typeface="Nunito Light"/>
                <a:cs typeface="Nunito Light"/>
                <a:sym typeface="Nunito Light"/>
              </a:rPr>
              <a:t> + </a:t>
            </a:r>
            <a:r>
              <a:rPr b="0" lang="en" sz="1700">
                <a:solidFill>
                  <a:schemeClr val="lt2"/>
                </a:solidFill>
                <a:latin typeface="Nunito Light"/>
                <a:ea typeface="Nunito Light"/>
                <a:cs typeface="Nunito Light"/>
                <a:sym typeface="Nunito Light"/>
              </a:rPr>
              <a:t>Question Answering using LLM </a:t>
            </a:r>
            <a:endParaRPr b="0" sz="2300">
              <a:solidFill>
                <a:srgbClr val="0E39A9"/>
              </a:solidFill>
              <a:latin typeface="Nunito Light"/>
              <a:ea typeface="Nunito Light"/>
              <a:cs typeface="Nunito Light"/>
              <a:sym typeface="Nunito Light"/>
            </a:endParaRPr>
          </a:p>
        </p:txBody>
      </p:sp>
      <p:sp>
        <p:nvSpPr>
          <p:cNvPr id="417" name="Google Shape;417;g3cdbb33ee7c_0_222"/>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Q1)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is the protocol for managing sepsis in a critical care unit?</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System message - refer to prev. Slide </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a:t>
            </a:r>
            <a:endParaRPr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500"/>
              </a:spcBef>
              <a:spcAft>
                <a:spcPts val="500"/>
              </a:spcAft>
              <a:buNone/>
            </a:pPr>
            <a:r>
              <a:rPr b="0" lang="en" sz="900">
                <a:solidFill>
                  <a:srgbClr val="1F1F1F"/>
                </a:solidFill>
                <a:highlight>
                  <a:srgbClr val="FFFFFF"/>
                </a:highlight>
                <a:latin typeface="Arial"/>
                <a:ea typeface="Arial"/>
                <a:cs typeface="Arial"/>
                <a:sym typeface="Arial"/>
              </a:rPr>
              <a:t>"The protocol for managing sepsis in a critical care unit includes administering antibiotics as soon as possible, draining abscesses and excising necrotic tissues, normalizing blood glucose levels, and considering corticosteroid therapy. The specific antibiotic regimen depends on the suspected source and causative organisms. Gentamicin or tobramycin in combination with a 3rd-generation cephalosporin is one recommended option for septic shock of unknown cause. Vancomycin should be added if resistant staphylococci or</a:t>
            </a:r>
            <a:endParaRPr b="0" sz="900">
              <a:solidFill>
                <a:srgbClr val="1F1F1F"/>
              </a:solidFill>
              <a:highlight>
                <a:srgbClr val="FFFFFF"/>
              </a:highlight>
              <a:latin typeface="Arial"/>
              <a:ea typeface="Arial"/>
              <a:cs typeface="Arial"/>
              <a:sym typeface="Arial"/>
            </a:endParaRPr>
          </a:p>
        </p:txBody>
      </p:sp>
      <p:sp>
        <p:nvSpPr>
          <p:cNvPr id="418" name="Google Shape;418;g3cdbb33ee7c_0_222"/>
          <p:cNvSpPr txBox="1"/>
          <p:nvPr>
            <p:ph type="title"/>
          </p:nvPr>
        </p:nvSpPr>
        <p:spPr>
          <a:xfrm>
            <a:off x="549300" y="3383125"/>
            <a:ext cx="8214000" cy="1490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With temperature=0, model is limited to mimic the textbook phrase, but with temperature value of 0.5, model is bit creative and provided technical details such as how much gentamicin or tobramycin  to administer.</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response is formatted as a list, which is much cleaner. However the summary is still missing.</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response truncated, as the model unable to fit the response in 128 tokens. The persistent truncation indicates a need to fine tune the max_tokens.</a:t>
            </a:r>
            <a:endParaRPr b="0" sz="1100">
              <a:solidFill>
                <a:srgbClr val="A31515"/>
              </a:solidFill>
              <a:highlight>
                <a:schemeClr val="lt1"/>
              </a:highlight>
              <a:latin typeface="Nunito Light"/>
              <a:ea typeface="Nunito Light"/>
              <a:cs typeface="Nunito Light"/>
              <a:sym typeface="Nunito Light"/>
            </a:endParaRPr>
          </a:p>
        </p:txBody>
      </p:sp>
      <p:sp>
        <p:nvSpPr>
          <p:cNvPr id="419" name="Google Shape;419;g3cdbb33ee7c_0_222"/>
          <p:cNvSpPr txBox="1"/>
          <p:nvPr>
            <p:ph type="title"/>
          </p:nvPr>
        </p:nvSpPr>
        <p:spPr>
          <a:xfrm>
            <a:off x="4615800" y="594025"/>
            <a:ext cx="4287600" cy="27207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Q1)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is the protocol for managing sepsis in a critical care unit?</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System message - refer to prev. Slide </a:t>
            </a:r>
            <a:endParaRPr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0.5</a:t>
            </a:r>
            <a:endParaRPr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110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Start empiric antibiotic therapy immediately after suspecting sepsis.</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Administer gentamicin or tobramycin 5.1 mg/kg IV once/day plus a 3rd-generation cephalosporin (cefotaxime 2 g q 6 to 8 h or ceftriaxone 2 g once/day) for septic shock of unknown cause.</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Consider adding vancomycin if resistant staphylococci or enterococci are suspected.</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Drain abscess</a:t>
            </a:r>
            <a:endParaRPr b="0" sz="105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500"/>
              </a:spcAft>
              <a:buNone/>
            </a:pPr>
            <a:r>
              <a:t/>
            </a:r>
            <a:endParaRPr b="0" sz="900">
              <a:solidFill>
                <a:srgbClr val="1F1F1F"/>
              </a:solidFill>
              <a:highlight>
                <a:srgbClr val="FFFFFF"/>
              </a:highlight>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cdbb33ee7c_0_231"/>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Fine tuning</a:t>
            </a:r>
            <a:r>
              <a:rPr b="0" lang="en" sz="2300">
                <a:solidFill>
                  <a:srgbClr val="0E39A9"/>
                </a:solidFill>
                <a:latin typeface="Nunito Light"/>
                <a:ea typeface="Nunito Light"/>
                <a:cs typeface="Nunito Light"/>
                <a:sym typeface="Nunito Light"/>
              </a:rPr>
              <a:t> + </a:t>
            </a:r>
            <a:r>
              <a:rPr b="0" lang="en" sz="1700">
                <a:solidFill>
                  <a:schemeClr val="lt2"/>
                </a:solidFill>
                <a:latin typeface="Nunito Light"/>
                <a:ea typeface="Nunito Light"/>
                <a:cs typeface="Nunito Light"/>
                <a:sym typeface="Nunito Light"/>
              </a:rPr>
              <a:t>Question Answering using LLM </a:t>
            </a:r>
            <a:endParaRPr b="0" sz="2300">
              <a:solidFill>
                <a:srgbClr val="0E39A9"/>
              </a:solidFill>
              <a:latin typeface="Nunito Light"/>
              <a:ea typeface="Nunito Light"/>
              <a:cs typeface="Nunito Light"/>
              <a:sym typeface="Nunito Light"/>
            </a:endParaRPr>
          </a:p>
        </p:txBody>
      </p:sp>
      <p:sp>
        <p:nvSpPr>
          <p:cNvPr id="425" name="Google Shape;425;g3cdbb33ee7c_0_231"/>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Q2)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are the common symptoms for appendicitis, and can it be cured via medicine? If not, what surgical procedure should be followed to treat it?"</a:t>
            </a:r>
            <a:endParaRPr b="0"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a:t>
            </a:r>
            <a:endParaRPr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This is a sample summary for the user query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Appendicitis is characterized by abdominal pain, anorexia, and abdominal tenderness.</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Diagnosis of appendicitis is clinical but can be supplemented by CT or ultrasound.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Without surgery or antibiotics, mortality from appendicitis is over 50%.</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Early surgical intervention (appendectomy) results in a low mortality rate and rapid recovery.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If the appendix ruptures or an abscess or peritonitis forms, the</a:t>
            </a:r>
            <a:endParaRPr b="0" sz="1050">
              <a:solidFill>
                <a:srgbClr val="A31515"/>
              </a:solidFill>
              <a:highlight>
                <a:srgbClr val="FFFFFF"/>
              </a:highlight>
              <a:latin typeface="Courier New"/>
              <a:ea typeface="Courier New"/>
              <a:cs typeface="Courier New"/>
              <a:sym typeface="Courier New"/>
            </a:endParaRPr>
          </a:p>
        </p:txBody>
      </p:sp>
      <p:sp>
        <p:nvSpPr>
          <p:cNvPr id="426" name="Google Shape;426;g3cdbb33ee7c_0_231"/>
          <p:cNvSpPr txBox="1"/>
          <p:nvPr>
            <p:ph type="title"/>
          </p:nvPr>
        </p:nvSpPr>
        <p:spPr>
          <a:xfrm>
            <a:off x="549300" y="3383125"/>
            <a:ext cx="8214000" cy="149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At temperature=0.5, model is creative and including specific details in the output </a:t>
            </a:r>
            <a:r>
              <a:rPr b="0" lang="en" sz="1100">
                <a:solidFill>
                  <a:srgbClr val="A31515"/>
                </a:solidFill>
                <a:highlight>
                  <a:schemeClr val="lt1"/>
                </a:highlight>
                <a:latin typeface="Nunito Light"/>
                <a:ea typeface="Nunito Light"/>
                <a:cs typeface="Nunito Light"/>
                <a:sym typeface="Nunito Light"/>
              </a:rPr>
              <a:t>which</a:t>
            </a:r>
            <a:r>
              <a:rPr b="0" lang="en" sz="1100">
                <a:solidFill>
                  <a:srgbClr val="A31515"/>
                </a:solidFill>
                <a:highlight>
                  <a:schemeClr val="lt1"/>
                </a:highlight>
                <a:latin typeface="Nunito Light"/>
                <a:ea typeface="Nunito Light"/>
                <a:cs typeface="Nunito Light"/>
                <a:sym typeface="Nunito Light"/>
              </a:rPr>
              <a:t> is a win.</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Due to max_tokens limit that we set, the output is incomplete and truncated.</a:t>
            </a:r>
            <a:endParaRPr b="0" sz="1100">
              <a:solidFill>
                <a:srgbClr val="A31515"/>
              </a:solidFill>
              <a:highlight>
                <a:schemeClr val="lt1"/>
              </a:highlight>
              <a:latin typeface="Nunito Light"/>
              <a:ea typeface="Nunito Light"/>
              <a:cs typeface="Nunito Light"/>
              <a:sym typeface="Nunito Light"/>
            </a:endParaRPr>
          </a:p>
        </p:txBody>
      </p:sp>
      <p:sp>
        <p:nvSpPr>
          <p:cNvPr id="427" name="Google Shape;427;g3cdbb33ee7c_0_231"/>
          <p:cNvSpPr txBox="1"/>
          <p:nvPr>
            <p:ph type="title"/>
          </p:nvPr>
        </p:nvSpPr>
        <p:spPr>
          <a:xfrm>
            <a:off x="4384050" y="594025"/>
            <a:ext cx="4519200" cy="27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Q2)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are the common symptoms for appendicitis, and can it be cured via medicine? If not, what surgical procedure should be followed to treat it?"</a:t>
            </a:r>
            <a:endParaRPr b="0"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0.5</a:t>
            </a:r>
            <a:endParaRPr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This is a sample summary for the user query</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110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Appendicitis is a condition characterized by inflammation of the vermiform appendix. Common symptoms include abdominal pain, anorexia (loss of appetite), and abdominal tenderness.</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No, appendicitis cannot be cured via medicine alone as it requires surgical removal to prevent complications such as perforation or rupture. The common surgical procedure for treating appendicitis is an open or laparoscopic appendectomy. This involves removing the appendix to prevent further spread of infection and promote healing. In some cases, IV fluids and</a:t>
            </a:r>
            <a:endParaRPr b="0"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1100"/>
              </a:spcBef>
              <a:spcAft>
                <a:spcPts val="500"/>
              </a:spcAft>
              <a:buNone/>
            </a:pPr>
            <a:r>
              <a:t/>
            </a:r>
            <a:endParaRPr b="0" sz="105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cdbb33ee7c_0_239"/>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Fine tuning</a:t>
            </a:r>
            <a:r>
              <a:rPr b="0" lang="en" sz="2300">
                <a:solidFill>
                  <a:srgbClr val="0E39A9"/>
                </a:solidFill>
                <a:latin typeface="Nunito Light"/>
                <a:ea typeface="Nunito Light"/>
                <a:cs typeface="Nunito Light"/>
                <a:sym typeface="Nunito Light"/>
              </a:rPr>
              <a:t> + </a:t>
            </a:r>
            <a:r>
              <a:rPr b="0" lang="en" sz="1700">
                <a:solidFill>
                  <a:schemeClr val="lt2"/>
                </a:solidFill>
                <a:latin typeface="Nunito Light"/>
                <a:ea typeface="Nunito Light"/>
                <a:cs typeface="Nunito Light"/>
                <a:sym typeface="Nunito Light"/>
              </a:rPr>
              <a:t>Question Answering using LLM </a:t>
            </a:r>
            <a:endParaRPr b="0" sz="2300">
              <a:solidFill>
                <a:srgbClr val="0E39A9"/>
              </a:solidFill>
              <a:latin typeface="Nunito Light"/>
              <a:ea typeface="Nunito Light"/>
              <a:cs typeface="Nunito Light"/>
              <a:sym typeface="Nunito Light"/>
            </a:endParaRPr>
          </a:p>
        </p:txBody>
      </p:sp>
      <p:sp>
        <p:nvSpPr>
          <p:cNvPr id="433" name="Google Shape;433;g3cdbb33ee7c_0_239"/>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Q3)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are the effective treatments or solutions for addressing sudden patchy hair loss, commonly seen as localized bald spots on the scalp, and what could be the possible causes behind it?"</a:t>
            </a:r>
            <a:endParaRPr b="0" sz="9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a:t>
            </a:r>
            <a:endParaRPr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0" lvl="0" marL="0" rtl="0" algn="l">
              <a:lnSpc>
                <a:spcPct val="115000"/>
              </a:lnSpc>
              <a:spcBef>
                <a:spcPts val="1100"/>
              </a:spcBef>
              <a:spcAft>
                <a:spcPts val="1100"/>
              </a:spcAft>
              <a:buNone/>
            </a:pPr>
            <a:r>
              <a:rPr b="0" lang="en" sz="900">
                <a:solidFill>
                  <a:srgbClr val="1F1F1F"/>
                </a:solidFill>
                <a:highlight>
                  <a:srgbClr val="FFFFFF"/>
                </a:highlight>
                <a:latin typeface="Arial"/>
                <a:ea typeface="Arial"/>
                <a:cs typeface="Arial"/>
                <a:sym typeface="Arial"/>
              </a:rPr>
              <a:t>Alopecia areata: This is a common autoimmune disorder that affects genetically susceptible individuals exposed to unclear environmental triggers. The most frequent treatments for alopecia areata include topical, intralesional, or systemic corticosteroids, topical minoxidil, topical anthralin, topical immunotherapy (diphencyprone or squaric acid dibutylester), or psoralen plus ultraviolet A (PUVA). The efficacy of these treatments varies and may take several months to show results.</a:t>
            </a:r>
            <a:endParaRPr b="0" sz="1050">
              <a:solidFill>
                <a:srgbClr val="A31515"/>
              </a:solidFill>
              <a:highlight>
                <a:srgbClr val="FFFFFF"/>
              </a:highlight>
              <a:latin typeface="Courier New"/>
              <a:ea typeface="Courier New"/>
              <a:cs typeface="Courier New"/>
              <a:sym typeface="Courier New"/>
            </a:endParaRPr>
          </a:p>
        </p:txBody>
      </p:sp>
      <p:sp>
        <p:nvSpPr>
          <p:cNvPr id="434" name="Google Shape;434;g3cdbb33ee7c_0_239"/>
          <p:cNvSpPr txBox="1"/>
          <p:nvPr>
            <p:ph type="title"/>
          </p:nvPr>
        </p:nvSpPr>
        <p:spPr>
          <a:xfrm>
            <a:off x="549300" y="3383125"/>
            <a:ext cx="8214000" cy="149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System is continuing to include specific details and formatting as list.</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Missing summary and output truncation issues are persistent.</a:t>
            </a:r>
            <a:endParaRPr b="0" sz="1100">
              <a:solidFill>
                <a:srgbClr val="A31515"/>
              </a:solidFill>
              <a:highlight>
                <a:schemeClr val="lt1"/>
              </a:highlight>
              <a:latin typeface="Nunito Light"/>
              <a:ea typeface="Nunito Light"/>
              <a:cs typeface="Nunito Light"/>
              <a:sym typeface="Nunito Light"/>
            </a:endParaRPr>
          </a:p>
        </p:txBody>
      </p:sp>
      <p:sp>
        <p:nvSpPr>
          <p:cNvPr id="435" name="Google Shape;435;g3cdbb33ee7c_0_239"/>
          <p:cNvSpPr txBox="1"/>
          <p:nvPr>
            <p:ph type="title"/>
          </p:nvPr>
        </p:nvSpPr>
        <p:spPr>
          <a:xfrm>
            <a:off x="4409450" y="594025"/>
            <a:ext cx="4494000" cy="27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Q3)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are the effective treatments or solutions for addressing sudden patchy hair loss, commonly seen as localized bald spots on the scalp, and what could be the possible causes behind it?"</a:t>
            </a:r>
            <a:endParaRPr b="0" sz="9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0.5</a:t>
            </a:r>
            <a:endParaRPr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295275" lvl="0" marL="457200" rtl="0" algn="l">
              <a:lnSpc>
                <a:spcPct val="115000"/>
              </a:lnSpc>
              <a:spcBef>
                <a:spcPts val="110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For sudden patchy hair loss, also known as alopecia areata, there are multiple treatment options available. These include topical corticosteroids, intralesional corticosteroids, systemic corticosteroids, topical minoxidil, topical anthralin, topical immunotherapy (diphencyprone or squaric acid dibutylester), or psoralen plus ultraviolet A (PUVA).</a:t>
            </a:r>
            <a:endParaRPr b="0" sz="900">
              <a:solidFill>
                <a:srgbClr val="1F1F1F"/>
              </a:solidFill>
              <a:highlight>
                <a:srgbClr val="FFFFFF"/>
              </a:highlight>
              <a:latin typeface="Arial"/>
              <a:ea typeface="Arial"/>
              <a:cs typeface="Arial"/>
              <a:sym typeface="Arial"/>
            </a:endParaRPr>
          </a:p>
          <a:p>
            <a:pPr indent="-295275" lvl="0" marL="457200" rtl="0" algn="l">
              <a:lnSpc>
                <a:spcPct val="115000"/>
              </a:lnSpc>
              <a:spcBef>
                <a:spcPts val="0"/>
              </a:spcBef>
              <a:spcAft>
                <a:spcPts val="0"/>
              </a:spcAft>
              <a:buClr>
                <a:srgbClr val="1F1F1F"/>
              </a:buClr>
              <a:buSzPts val="1050"/>
              <a:buFont typeface="Arial"/>
              <a:buAutoNum type="arabicPeriod"/>
            </a:pPr>
            <a:r>
              <a:rPr b="0" lang="en" sz="900">
                <a:solidFill>
                  <a:srgbClr val="1F1F1F"/>
                </a:solidFill>
                <a:highlight>
                  <a:srgbClr val="FFFFFF"/>
                </a:highlight>
                <a:latin typeface="Arial"/>
                <a:ea typeface="Arial"/>
                <a:cs typeface="Arial"/>
                <a:sym typeface="Arial"/>
              </a:rPr>
              <a:t>The possible causes of sudden patchy hair loss could be an autoimmune disorder affecting genetically susceptible people exposed</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500"/>
              </a:spcAft>
              <a:buNone/>
            </a:pPr>
            <a:r>
              <a:t/>
            </a:r>
            <a:endParaRPr b="0" sz="105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cdbb33ee7c_0_247"/>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Fine tuning</a:t>
            </a:r>
            <a:r>
              <a:rPr b="0" lang="en" sz="2300">
                <a:solidFill>
                  <a:srgbClr val="0E39A9"/>
                </a:solidFill>
                <a:latin typeface="Nunito Light"/>
                <a:ea typeface="Nunito Light"/>
                <a:cs typeface="Nunito Light"/>
                <a:sym typeface="Nunito Light"/>
              </a:rPr>
              <a:t> + </a:t>
            </a:r>
            <a:r>
              <a:rPr b="0" lang="en" sz="1700">
                <a:solidFill>
                  <a:schemeClr val="lt2"/>
                </a:solidFill>
                <a:latin typeface="Nunito Light"/>
                <a:ea typeface="Nunito Light"/>
                <a:cs typeface="Nunito Light"/>
                <a:sym typeface="Nunito Light"/>
              </a:rPr>
              <a:t>Question Answering using LLM </a:t>
            </a:r>
            <a:endParaRPr b="0" sz="2300">
              <a:solidFill>
                <a:srgbClr val="0E39A9"/>
              </a:solidFill>
              <a:latin typeface="Nunito Light"/>
              <a:ea typeface="Nunito Light"/>
              <a:cs typeface="Nunito Light"/>
              <a:sym typeface="Nunito Light"/>
            </a:endParaRPr>
          </a:p>
        </p:txBody>
      </p:sp>
      <p:sp>
        <p:nvSpPr>
          <p:cNvPr id="441" name="Google Shape;441;g3cdbb33ee7c_0_247"/>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Q4)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treatments are recommended for a person who has sustained a physical injury to brain tissue, resulting in temporary or permanent impairment of brain function?"</a:t>
            </a:r>
            <a:endParaRPr b="0" sz="9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a:t>
            </a:r>
            <a:r>
              <a:rPr b="0" lang="en" sz="900">
                <a:solidFill>
                  <a:srgbClr val="A31515"/>
                </a:solidFill>
                <a:highlight>
                  <a:srgbClr val="FFFFFF"/>
                </a:highlight>
                <a:latin typeface="Courier New"/>
                <a:ea typeface="Courier New"/>
                <a:cs typeface="Courier New"/>
                <a:sym typeface="Courier New"/>
              </a:rPr>
              <a:t>   </a:t>
            </a: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This is a sample summary for the user query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Supportive care: Preventing systemic complications due to immobilization, providing good nutrition, and preventing pressure ulcers.</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Treatment for seizures: If the person has significant structural injury (large contusions or hematomas, brain laceration, depressed skull fracture) or a Glasgow Coma Scale score of &lt; 10, drugs are given to prevent seizures during the first week after injury. These drugs reduce the risk of seizures but do not prevent permanent posttraumatic epilepsy months or years later. They should be stopped after one week unless seizures</a:t>
            </a:r>
            <a:endParaRPr b="0" sz="900">
              <a:solidFill>
                <a:srgbClr val="A31515"/>
              </a:solidFill>
              <a:highlight>
                <a:srgbClr val="FFFFFF"/>
              </a:highlight>
              <a:latin typeface="Courier New"/>
              <a:ea typeface="Courier New"/>
              <a:cs typeface="Courier New"/>
              <a:sym typeface="Courier New"/>
            </a:endParaRPr>
          </a:p>
        </p:txBody>
      </p:sp>
      <p:sp>
        <p:nvSpPr>
          <p:cNvPr id="442" name="Google Shape;442;g3cdbb33ee7c_0_247"/>
          <p:cNvSpPr txBox="1"/>
          <p:nvPr>
            <p:ph type="title"/>
          </p:nvPr>
        </p:nvSpPr>
        <p:spPr>
          <a:xfrm>
            <a:off x="549300" y="3383125"/>
            <a:ext cx="8214000" cy="149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System</a:t>
            </a:r>
            <a:r>
              <a:rPr b="0" lang="en" sz="1100">
                <a:solidFill>
                  <a:srgbClr val="A31515"/>
                </a:solidFill>
                <a:highlight>
                  <a:schemeClr val="lt1"/>
                </a:highlight>
                <a:latin typeface="Nunito Light"/>
                <a:ea typeface="Nunito Light"/>
                <a:cs typeface="Nunito Light"/>
                <a:sym typeface="Nunito Light"/>
              </a:rPr>
              <a:t> is </a:t>
            </a:r>
            <a:r>
              <a:rPr b="0" lang="en" sz="1100">
                <a:solidFill>
                  <a:srgbClr val="A31515"/>
                </a:solidFill>
                <a:highlight>
                  <a:schemeClr val="lt1"/>
                </a:highlight>
                <a:latin typeface="Nunito Light"/>
                <a:ea typeface="Nunito Light"/>
                <a:cs typeface="Nunito Light"/>
                <a:sym typeface="Nunito Light"/>
              </a:rPr>
              <a:t>consistently</a:t>
            </a:r>
            <a:r>
              <a:rPr b="0" lang="en" sz="1100">
                <a:solidFill>
                  <a:srgbClr val="A31515"/>
                </a:solidFill>
                <a:highlight>
                  <a:schemeClr val="lt1"/>
                </a:highlight>
                <a:latin typeface="Nunito Light"/>
                <a:ea typeface="Nunito Light"/>
                <a:cs typeface="Nunito Light"/>
                <a:sym typeface="Nunito Light"/>
              </a:rPr>
              <a:t> including specifics details and formatting the output as list.</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Missing summary and output truncation issues are persistent.</a:t>
            </a:r>
            <a:endParaRPr b="0" sz="1100">
              <a:solidFill>
                <a:srgbClr val="A31515"/>
              </a:solidFill>
              <a:highlight>
                <a:schemeClr val="lt1"/>
              </a:highlight>
              <a:latin typeface="Nunito Light"/>
              <a:ea typeface="Nunito Light"/>
              <a:cs typeface="Nunito Light"/>
              <a:sym typeface="Nunito Light"/>
            </a:endParaRPr>
          </a:p>
        </p:txBody>
      </p:sp>
      <p:sp>
        <p:nvSpPr>
          <p:cNvPr id="443" name="Google Shape;443;g3cdbb33ee7c_0_247"/>
          <p:cNvSpPr txBox="1"/>
          <p:nvPr>
            <p:ph type="title"/>
          </p:nvPr>
        </p:nvSpPr>
        <p:spPr>
          <a:xfrm>
            <a:off x="4409450" y="594025"/>
            <a:ext cx="4494000" cy="27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Q4)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treatments are recommended for a person who has sustained a physical injury to brain tissue, resulting in temporary or permanent impairment of brain function?"</a:t>
            </a:r>
            <a:endParaRPr b="0" sz="9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0.5</a:t>
            </a:r>
            <a:r>
              <a:rPr b="0" lang="en" sz="900">
                <a:solidFill>
                  <a:srgbClr val="A31515"/>
                </a:solidFill>
                <a:highlight>
                  <a:srgbClr val="FFFFFF"/>
                </a:highlight>
                <a:latin typeface="Courier New"/>
                <a:ea typeface="Courier New"/>
                <a:cs typeface="Courier New"/>
                <a:sym typeface="Courier New"/>
              </a:rPr>
              <a:t>   </a:t>
            </a: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0" lvl="0" marL="0" rtl="0" algn="l">
              <a:lnSpc>
                <a:spcPct val="115000"/>
              </a:lnSpc>
              <a:spcBef>
                <a:spcPts val="500"/>
              </a:spcBef>
              <a:spcAft>
                <a:spcPts val="0"/>
              </a:spcAft>
              <a:buNone/>
            </a:pPr>
            <a:r>
              <a:rPr b="0" lang="en" sz="900">
                <a:solidFill>
                  <a:srgbClr val="1F1F1F"/>
                </a:solidFill>
                <a:highlight>
                  <a:srgbClr val="FFFFFF"/>
                </a:highlight>
                <a:latin typeface="Arial"/>
                <a:ea typeface="Arial"/>
                <a:cs typeface="Arial"/>
                <a:sym typeface="Arial"/>
              </a:rPr>
              <a:t>This is a sample summary for the user query</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Supportive care: Preventing systemic complications due to immobilization, providing good nutrition, and preventing pressure ulcers are essential components of the treatment plan for a person with traumatic brain injury (TBI). There is no specific treatment for TBI, but supportive care should be provided to maintain adequate brain perfusion and oxygenation, prevent complications, and ensure rehabilitation if needed.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Initial treatment: In the first few days after the injury, maintaining adequate brain perfusion and oxygenation and preventing complications are crucial. Depending on the severity of the injury, surgery may</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500"/>
              </a:spcAft>
              <a:buNone/>
            </a:pPr>
            <a:r>
              <a:t/>
            </a:r>
            <a:endParaRPr b="0" sz="9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cdbb33ee7c_0_255"/>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Fine tuning</a:t>
            </a:r>
            <a:r>
              <a:rPr b="0" lang="en" sz="2300">
                <a:solidFill>
                  <a:srgbClr val="0E39A9"/>
                </a:solidFill>
                <a:latin typeface="Nunito Light"/>
                <a:ea typeface="Nunito Light"/>
                <a:cs typeface="Nunito Light"/>
                <a:sym typeface="Nunito Light"/>
              </a:rPr>
              <a:t> + </a:t>
            </a:r>
            <a:r>
              <a:rPr b="0" lang="en" sz="1700">
                <a:solidFill>
                  <a:schemeClr val="lt2"/>
                </a:solidFill>
                <a:latin typeface="Nunito Light"/>
                <a:ea typeface="Nunito Light"/>
                <a:cs typeface="Nunito Light"/>
                <a:sym typeface="Nunito Light"/>
              </a:rPr>
              <a:t>Question Answering using LLM </a:t>
            </a:r>
            <a:endParaRPr b="0" sz="2300">
              <a:solidFill>
                <a:srgbClr val="0E39A9"/>
              </a:solidFill>
              <a:latin typeface="Nunito Light"/>
              <a:ea typeface="Nunito Light"/>
              <a:cs typeface="Nunito Light"/>
              <a:sym typeface="Nunito Light"/>
            </a:endParaRPr>
          </a:p>
        </p:txBody>
      </p:sp>
      <p:sp>
        <p:nvSpPr>
          <p:cNvPr id="449" name="Google Shape;449;g3cdbb33ee7c_0_255"/>
          <p:cNvSpPr txBox="1"/>
          <p:nvPr>
            <p:ph type="title"/>
          </p:nvPr>
        </p:nvSpPr>
        <p:spPr>
          <a:xfrm>
            <a:off x="234300" y="525650"/>
            <a:ext cx="4287600" cy="278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Q5)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are the necessary precautions and treatment steps for a person who has fractured their leg during a hiking trip, and what should be considered for their care and recovery?"</a:t>
            </a:r>
            <a:endParaRPr b="0"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0.5</a:t>
            </a:r>
            <a:r>
              <a:rPr b="0" lang="en" sz="900">
                <a:solidFill>
                  <a:srgbClr val="A31515"/>
                </a:solidFill>
                <a:highlight>
                  <a:srgbClr val="FFFFFF"/>
                </a:highlight>
                <a:latin typeface="Courier New"/>
                <a:ea typeface="Courier New"/>
                <a:cs typeface="Courier New"/>
                <a:sym typeface="Courier New"/>
              </a:rPr>
              <a:t>   </a:t>
            </a: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1050">
              <a:solidFill>
                <a:srgbClr val="A31515"/>
              </a:solidFill>
              <a:highlight>
                <a:srgbClr val="FFFFFF"/>
              </a:highlight>
              <a:latin typeface="Courier New"/>
              <a:ea typeface="Courier New"/>
              <a:cs typeface="Courier New"/>
              <a:sym typeface="Courier New"/>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The injured limb should be elevated above heart level for first 2 days to minimize swelling and allow gravity to help drain edema fluid.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After 48 hours, periodic application of warmth (heating pad) for 15 to 20 minutes may relieve pain and speed healing.</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Immobilization is necessary to prevent further injury and facilitate healing. Joints proximal and distal to the injury should be immobilized.</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 cast or splint can be used for immobilization, depending on the severity of the injury and the</a:t>
            </a:r>
            <a:endParaRPr b="0" sz="900">
              <a:solidFill>
                <a:srgbClr val="A31515"/>
              </a:solidFill>
              <a:highlight>
                <a:srgbClr val="FFFFFF"/>
              </a:highlight>
              <a:latin typeface="Courier New"/>
              <a:ea typeface="Courier New"/>
              <a:cs typeface="Courier New"/>
              <a:sym typeface="Courier New"/>
            </a:endParaRPr>
          </a:p>
        </p:txBody>
      </p:sp>
      <p:sp>
        <p:nvSpPr>
          <p:cNvPr id="450" name="Google Shape;450;g3cdbb33ee7c_0_255"/>
          <p:cNvSpPr txBox="1"/>
          <p:nvPr>
            <p:ph type="title"/>
          </p:nvPr>
        </p:nvSpPr>
        <p:spPr>
          <a:xfrm>
            <a:off x="549300" y="3383125"/>
            <a:ext cx="8214000" cy="149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Similar to previous questions, the response included specific details and formatted as list.</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Also, missing summary and output truncation issues are persistent.</a:t>
            </a:r>
            <a:endParaRPr b="0" sz="1100">
              <a:solidFill>
                <a:srgbClr val="A31515"/>
              </a:solidFill>
              <a:highlight>
                <a:schemeClr val="lt1"/>
              </a:highlight>
              <a:latin typeface="Nunito Light"/>
              <a:ea typeface="Nunito Light"/>
              <a:cs typeface="Nunito Light"/>
              <a:sym typeface="Nunito Light"/>
            </a:endParaRPr>
          </a:p>
        </p:txBody>
      </p:sp>
      <p:sp>
        <p:nvSpPr>
          <p:cNvPr id="451" name="Google Shape;451;g3cdbb33ee7c_0_255"/>
          <p:cNvSpPr txBox="1"/>
          <p:nvPr>
            <p:ph type="title"/>
          </p:nvPr>
        </p:nvSpPr>
        <p:spPr>
          <a:xfrm>
            <a:off x="4409450" y="594025"/>
            <a:ext cx="4494000" cy="2720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Q5)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are the necessary precautions and treatment steps for a person who has fractured their leg during a hiking trip, and what should be considered for their care and recovery?"</a:t>
            </a:r>
            <a:endParaRPr b="0" sz="105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1050">
                <a:solidFill>
                  <a:srgbClr val="A31515"/>
                </a:solidFill>
                <a:highlight>
                  <a:srgbClr val="FFFFFF"/>
                </a:highlight>
                <a:latin typeface="Courier New"/>
                <a:ea typeface="Courier New"/>
                <a:cs typeface="Courier New"/>
                <a:sym typeface="Courier New"/>
              </a:rPr>
              <a:t>Temperature = 0.5</a:t>
            </a:r>
            <a:r>
              <a:rPr b="0" lang="en" sz="900">
                <a:solidFill>
                  <a:srgbClr val="A31515"/>
                </a:solidFill>
                <a:highlight>
                  <a:srgbClr val="FFFFFF"/>
                </a:highlight>
                <a:latin typeface="Courier New"/>
                <a:ea typeface="Courier New"/>
                <a:cs typeface="Courier New"/>
                <a:sym typeface="Courier New"/>
              </a:rPr>
              <a:t>   </a:t>
            </a: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1050">
              <a:solidFill>
                <a:srgbClr val="A31515"/>
              </a:solidFill>
              <a:highlight>
                <a:srgbClr val="FFFFFF"/>
              </a:highlight>
              <a:latin typeface="Courier New"/>
              <a:ea typeface="Courier New"/>
              <a:cs typeface="Courier New"/>
              <a:sym typeface="Courier New"/>
            </a:endParaRPr>
          </a:p>
          <a:p>
            <a:pPr indent="-285750" lvl="0" marL="457200" rtl="0" algn="l">
              <a:lnSpc>
                <a:spcPct val="115000"/>
              </a:lnSpc>
              <a:spcBef>
                <a:spcPts val="110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Apply ice to the injured area for 15 to 20 minutes every day after the first 48 hours to relieve pain and speed healing.</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Immobilize the limb using either a cast or a splint, depending on the severity of the injury and the length of immobilization required. Ensure that patients with casts keep them dry and inspect the edges and skin around the cast daily for any redness or soreness.</a:t>
            </a:r>
            <a:endParaRPr b="0" sz="900">
              <a:solidFill>
                <a:srgbClr val="1F1F1F"/>
              </a:solidFill>
              <a:highlight>
                <a:srgbClr val="FFFFFF"/>
              </a:highlight>
              <a:latin typeface="Arial"/>
              <a:ea typeface="Arial"/>
              <a:cs typeface="Arial"/>
              <a:sym typeface="Arial"/>
            </a:endParaRPr>
          </a:p>
          <a:p>
            <a:pPr indent="-285750" lvl="0" marL="457200" rtl="0" algn="l">
              <a:lnSpc>
                <a:spcPct val="115000"/>
              </a:lnSpc>
              <a:spcBef>
                <a:spcPts val="0"/>
              </a:spcBef>
              <a:spcAft>
                <a:spcPts val="0"/>
              </a:spcAft>
              <a:buClr>
                <a:srgbClr val="1F1F1F"/>
              </a:buClr>
              <a:buSzPts val="900"/>
              <a:buFont typeface="Arial"/>
              <a:buAutoNum type="arabicPeriod"/>
            </a:pPr>
            <a:r>
              <a:rPr b="0" lang="en" sz="900">
                <a:solidFill>
                  <a:srgbClr val="1F1F1F"/>
                </a:solidFill>
                <a:highlight>
                  <a:srgbClr val="FFFFFF"/>
                </a:highlight>
                <a:latin typeface="Arial"/>
                <a:ea typeface="Arial"/>
                <a:cs typeface="Arial"/>
                <a:sym typeface="Arial"/>
              </a:rPr>
              <a:t>Elevate the injured limb above the heart for the first 2 days to help drain edema fluid and minimize swelling.</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1100"/>
              </a:spcBef>
              <a:spcAft>
                <a:spcPts val="500"/>
              </a:spcAft>
              <a:buNone/>
            </a:pPr>
            <a:r>
              <a:t/>
            </a:r>
            <a:endParaRPr b="0" sz="9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cdbb33ee7c_0_269"/>
          <p:cNvSpPr txBox="1"/>
          <p:nvPr>
            <p:ph type="title"/>
          </p:nvPr>
        </p:nvSpPr>
        <p:spPr>
          <a:xfrm>
            <a:off x="234300" y="1665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457" name="Google Shape;457;g3cdbb33ee7c_0_269"/>
          <p:cNvSpPr txBox="1"/>
          <p:nvPr>
            <p:ph type="title"/>
          </p:nvPr>
        </p:nvSpPr>
        <p:spPr>
          <a:xfrm>
            <a:off x="234300" y="1920250"/>
            <a:ext cx="4287600" cy="2999700"/>
          </a:xfrm>
          <a:prstGeom prst="rect">
            <a:avLst/>
          </a:prstGeom>
          <a:noFill/>
          <a:ln>
            <a:noFill/>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b="0" lang="en" sz="800">
                <a:solidFill>
                  <a:srgbClr val="000000"/>
                </a:solidFill>
                <a:highlight>
                  <a:srgbClr val="FFFFFF"/>
                </a:highlight>
                <a:latin typeface="Courier New"/>
                <a:ea typeface="Courier New"/>
                <a:cs typeface="Courier New"/>
                <a:sym typeface="Courier New"/>
              </a:rPr>
              <a:t>groundedness_rater_system_message = </a:t>
            </a:r>
            <a:r>
              <a:rPr b="0" lang="en" sz="800">
                <a:solidFill>
                  <a:srgbClr val="A31515"/>
                </a:solidFill>
                <a:highlight>
                  <a:srgbClr val="FFFFFF"/>
                </a:highlight>
                <a:latin typeface="Courier New"/>
                <a:ea typeface="Courier New"/>
                <a:cs typeface="Courier New"/>
                <a:sym typeface="Courier New"/>
              </a:rPr>
              <a: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You are tasked with rating AI generated answers to questions posed by users.</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You will be presented a question, context used by the AI system to generate the answer and an AI generated answer to the question.</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In the input, the question will begin with ###Question, the context will begin with ###Context while the AI generated answer will begin with ###Answer.</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0" sz="8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Evaluation criteria:</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The task is to judge the extent to which the metric is followed by the answer.</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1 - The metric is not followed at all</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2 - The metric is followed only to a limited extent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3 - The metric is followed to a good extent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4 - The metric is followed mostly</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5 - The metric is followed completely</a:t>
            </a:r>
            <a:endParaRPr sz="800">
              <a:solidFill>
                <a:srgbClr val="000000"/>
              </a:solidFill>
              <a:highlight>
                <a:srgbClr val="FFFFFF"/>
              </a:highlight>
              <a:latin typeface="Courier New"/>
              <a:ea typeface="Courier New"/>
              <a:cs typeface="Courier New"/>
              <a:sym typeface="Courier New"/>
            </a:endParaRPr>
          </a:p>
        </p:txBody>
      </p:sp>
      <p:sp>
        <p:nvSpPr>
          <p:cNvPr id="458" name="Google Shape;458;g3cdbb33ee7c_0_269"/>
          <p:cNvSpPr txBox="1"/>
          <p:nvPr>
            <p:ph type="title"/>
          </p:nvPr>
        </p:nvSpPr>
        <p:spPr>
          <a:xfrm>
            <a:off x="4521900" y="1923975"/>
            <a:ext cx="4494000" cy="2999700"/>
          </a:xfrm>
          <a:prstGeom prst="rect">
            <a:avLst/>
          </a:prstGeom>
          <a:noFill/>
          <a:ln>
            <a:noFill/>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Metric:</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The answer should be derived only from the information presented in the context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0" sz="8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Instructions:</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1. First write down the steps that are needed to evaluate the answer as per the metric.</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2. Give a step-by-step explanation if the answer adheres to the metric considering the question and context as the input.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3. Next, evaluate the extent to which the metric is followed.</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4. Use the previous information to rate the answer using the evaluaton criteria and assign a score.</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a:t>
            </a:r>
            <a:endParaRPr sz="800">
              <a:solidFill>
                <a:srgbClr val="A31515"/>
              </a:solidFill>
              <a:highlight>
                <a:srgbClr val="FFFFFF"/>
              </a:highlight>
              <a:latin typeface="Courier New"/>
              <a:ea typeface="Courier New"/>
              <a:cs typeface="Courier New"/>
              <a:sym typeface="Courier New"/>
            </a:endParaRPr>
          </a:p>
        </p:txBody>
      </p:sp>
      <p:sp>
        <p:nvSpPr>
          <p:cNvPr id="459" name="Google Shape;459;g3cdbb33ee7c_0_269"/>
          <p:cNvSpPr txBox="1"/>
          <p:nvPr/>
        </p:nvSpPr>
        <p:spPr>
          <a:xfrm>
            <a:off x="381000" y="576575"/>
            <a:ext cx="8356500" cy="43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Nunito"/>
                <a:ea typeface="Nunito"/>
                <a:cs typeface="Nunito"/>
                <a:sym typeface="Nunito"/>
              </a:rPr>
              <a:t>Model is evaluated using </a:t>
            </a:r>
            <a:r>
              <a:rPr lang="en" sz="1200">
                <a:solidFill>
                  <a:schemeClr val="dk2"/>
                </a:solidFill>
                <a:latin typeface="Nunito Medium"/>
                <a:ea typeface="Nunito Medium"/>
                <a:cs typeface="Nunito Medium"/>
                <a:sym typeface="Nunito Medium"/>
              </a:rPr>
              <a:t>“LLM-as-a-judge” on two parameters - </a:t>
            </a:r>
            <a:r>
              <a:rPr lang="en" sz="1200">
                <a:solidFill>
                  <a:schemeClr val="dk2"/>
                </a:solidFill>
                <a:latin typeface="Nunito SemiBold"/>
                <a:ea typeface="Nunito SemiBold"/>
                <a:cs typeface="Nunito SemiBold"/>
                <a:sym typeface="Nunito SemiBold"/>
              </a:rPr>
              <a:t>Retrieval (groundedness) &amp; Generation (relevance)</a:t>
            </a:r>
            <a:endParaRPr sz="1200">
              <a:solidFill>
                <a:schemeClr val="dk2"/>
              </a:solidFill>
              <a:latin typeface="Nunito SemiBold"/>
              <a:ea typeface="Nunito SemiBold"/>
              <a:cs typeface="Nunito SemiBold"/>
              <a:sym typeface="Nunito SemiBold"/>
            </a:endParaRPr>
          </a:p>
        </p:txBody>
      </p:sp>
      <p:sp>
        <p:nvSpPr>
          <p:cNvPr id="460" name="Google Shape;460;g3cdbb33ee7c_0_269"/>
          <p:cNvSpPr txBox="1"/>
          <p:nvPr/>
        </p:nvSpPr>
        <p:spPr>
          <a:xfrm>
            <a:off x="4674300" y="1005840"/>
            <a:ext cx="4114800" cy="914400"/>
          </a:xfrm>
          <a:prstGeom prst="rect">
            <a:avLst/>
          </a:prstGeom>
          <a:solidFill>
            <a:srgbClr val="F9CB9C"/>
          </a:solidFill>
          <a:ln>
            <a:noFill/>
          </a:ln>
        </p:spPr>
        <p:txBody>
          <a:bodyPr anchorCtr="0" anchor="ctr" bIns="91425" lIns="228600" spcFirstLastPara="1" rIns="228600" wrap="square" tIns="91425">
            <a:noAutofit/>
          </a:bodyPr>
          <a:lstStyle/>
          <a:p>
            <a:pPr indent="0" lvl="0" marL="0" marR="0" rtl="0" algn="l">
              <a:lnSpc>
                <a:spcPct val="100000"/>
              </a:lnSpc>
              <a:spcBef>
                <a:spcPts val="0"/>
              </a:spcBef>
              <a:spcAft>
                <a:spcPts val="0"/>
              </a:spcAft>
              <a:buNone/>
            </a:pPr>
            <a:r>
              <a:rPr lang="en" sz="1200">
                <a:solidFill>
                  <a:schemeClr val="dk1"/>
                </a:solidFill>
                <a:latin typeface="Nunito"/>
                <a:ea typeface="Nunito"/>
                <a:cs typeface="Nunito"/>
                <a:sym typeface="Nunito"/>
              </a:rPr>
              <a:t>groundedness prompt = </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a:solidFill>
                  <a:schemeClr val="dk1"/>
                </a:solidFill>
                <a:latin typeface="Nunito"/>
                <a:ea typeface="Nunito"/>
                <a:cs typeface="Nunito"/>
                <a:sym typeface="Nunito"/>
              </a:rPr>
              <a:t>           </a:t>
            </a:r>
            <a:r>
              <a:rPr lang="en" sz="1200">
                <a:solidFill>
                  <a:schemeClr val="dk1"/>
                </a:solidFill>
                <a:latin typeface="Nunito"/>
                <a:ea typeface="Nunito"/>
                <a:cs typeface="Nunito"/>
                <a:sym typeface="Nunito"/>
              </a:rPr>
              <a:t>Task + Information </a:t>
            </a:r>
            <a:r>
              <a:rPr lang="en" sz="1200">
                <a:solidFill>
                  <a:schemeClr val="dk1"/>
                </a:solidFill>
                <a:latin typeface="Nunito"/>
                <a:ea typeface="Nunito"/>
                <a:cs typeface="Nunito"/>
                <a:sym typeface="Nunito"/>
              </a:rPr>
              <a:t> + Input format   </a:t>
            </a:r>
            <a:endParaRPr sz="1200">
              <a:solidFill>
                <a:schemeClr val="dk1"/>
              </a:solidFill>
              <a:latin typeface="Nunito"/>
              <a:ea typeface="Nunito"/>
              <a:cs typeface="Nunito"/>
              <a:sym typeface="Nunito"/>
            </a:endParaRPr>
          </a:p>
          <a:p>
            <a:pPr indent="0" lvl="0" marL="0" rtl="0" algn="l">
              <a:spcBef>
                <a:spcPts val="0"/>
              </a:spcBef>
              <a:spcAft>
                <a:spcPts val="0"/>
              </a:spcAft>
              <a:buNone/>
            </a:pPr>
            <a:r>
              <a:rPr lang="en" sz="1200">
                <a:solidFill>
                  <a:schemeClr val="dk1"/>
                </a:solidFill>
                <a:latin typeface="Nunito"/>
                <a:ea typeface="Nunito"/>
                <a:cs typeface="Nunito"/>
                <a:sym typeface="Nunito"/>
              </a:rPr>
              <a:t>        + </a:t>
            </a:r>
            <a:r>
              <a:rPr lang="en" sz="1200">
                <a:solidFill>
                  <a:schemeClr val="dk1"/>
                </a:solidFill>
                <a:latin typeface="Nunito"/>
                <a:ea typeface="Nunito"/>
                <a:cs typeface="Nunito"/>
                <a:sym typeface="Nunito"/>
              </a:rPr>
              <a:t>Evaluation</a:t>
            </a:r>
            <a:r>
              <a:rPr lang="en" sz="1200">
                <a:solidFill>
                  <a:schemeClr val="dk1"/>
                </a:solidFill>
                <a:latin typeface="Nunito"/>
                <a:ea typeface="Nunito"/>
                <a:cs typeface="Nunito"/>
                <a:sym typeface="Nunito"/>
              </a:rPr>
              <a:t> Criteria  + Metric  + Instructions</a:t>
            </a:r>
            <a:endParaRPr sz="1200">
              <a:solidFill>
                <a:schemeClr val="dk1"/>
              </a:solidFill>
              <a:latin typeface="Nunito"/>
              <a:ea typeface="Nunito"/>
              <a:cs typeface="Nunito"/>
              <a:sym typeface="Nunito"/>
            </a:endParaRPr>
          </a:p>
        </p:txBody>
      </p:sp>
      <p:sp>
        <p:nvSpPr>
          <p:cNvPr id="461" name="Google Shape;461;g3cdbb33ee7c_0_269"/>
          <p:cNvSpPr txBox="1"/>
          <p:nvPr/>
        </p:nvSpPr>
        <p:spPr>
          <a:xfrm>
            <a:off x="307350" y="1008375"/>
            <a:ext cx="4114800" cy="915600"/>
          </a:xfrm>
          <a:prstGeom prst="rect">
            <a:avLst/>
          </a:prstGeom>
          <a:solidFill>
            <a:srgbClr val="FFE599"/>
          </a:solidFill>
          <a:ln>
            <a:noFill/>
          </a:ln>
        </p:spPr>
        <p:txBody>
          <a:bodyPr anchorCtr="0" anchor="ctr" bIns="91425" lIns="228600" spcFirstLastPara="1" rIns="228600" wrap="square" tIns="91425">
            <a:noAutofit/>
          </a:bodyPr>
          <a:lstStyle/>
          <a:p>
            <a:pPr indent="0" lvl="0" marL="0" rtl="0" algn="l">
              <a:spcBef>
                <a:spcPts val="0"/>
              </a:spcBef>
              <a:spcAft>
                <a:spcPts val="0"/>
              </a:spcAft>
              <a:buNone/>
            </a:pPr>
            <a:r>
              <a:rPr lang="en" sz="1200">
                <a:latin typeface="Nunito"/>
                <a:ea typeface="Nunito"/>
                <a:cs typeface="Nunito"/>
                <a:sym typeface="Nunito"/>
              </a:rPr>
              <a:t>Retrieval (Groundedness): To check if the answer stayed within the boundaries of the medical manual. This solves the "Hallucination" problem.</a:t>
            </a:r>
            <a:endParaRPr sz="1200">
              <a:solidFill>
                <a:srgbClr val="FFFFFF"/>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3cdbb33ee7c_0_281"/>
          <p:cNvSpPr txBox="1"/>
          <p:nvPr>
            <p:ph type="title"/>
          </p:nvPr>
        </p:nvSpPr>
        <p:spPr>
          <a:xfrm>
            <a:off x="234300" y="1665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467" name="Google Shape;467;g3cdbb33ee7c_0_281"/>
          <p:cNvSpPr txBox="1"/>
          <p:nvPr>
            <p:ph type="title"/>
          </p:nvPr>
        </p:nvSpPr>
        <p:spPr>
          <a:xfrm>
            <a:off x="234300" y="1808475"/>
            <a:ext cx="4287600" cy="3111300"/>
          </a:xfrm>
          <a:prstGeom prst="rect">
            <a:avLst/>
          </a:prstGeom>
          <a:noFill/>
          <a:ln>
            <a:noFill/>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lang="en" sz="800">
                <a:solidFill>
                  <a:srgbClr val="000000"/>
                </a:solidFill>
                <a:highlight>
                  <a:srgbClr val="FFFFFF"/>
                </a:highlight>
                <a:latin typeface="Courier New"/>
                <a:ea typeface="Courier New"/>
                <a:cs typeface="Courier New"/>
                <a:sym typeface="Courier New"/>
              </a:rPr>
              <a:t>relevance_rater_system_message</a:t>
            </a:r>
            <a:r>
              <a:rPr b="0" lang="en" sz="800">
                <a:solidFill>
                  <a:srgbClr val="000000"/>
                </a:solidFill>
                <a:highlight>
                  <a:srgbClr val="FFFFFF"/>
                </a:highlight>
                <a:latin typeface="Courier New"/>
                <a:ea typeface="Courier New"/>
                <a:cs typeface="Courier New"/>
                <a:sym typeface="Courier New"/>
              </a:rPr>
              <a:t> = </a:t>
            </a:r>
            <a:r>
              <a:rPr b="0" lang="en" sz="800">
                <a:solidFill>
                  <a:srgbClr val="A31515"/>
                </a:solidFill>
                <a:highlight>
                  <a:srgbClr val="FFFFFF"/>
                </a:highlight>
                <a:latin typeface="Courier New"/>
                <a:ea typeface="Courier New"/>
                <a:cs typeface="Courier New"/>
                <a:sym typeface="Courier New"/>
              </a:rPr>
              <a: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You are tasked with rating AI generated answers to questions posed by users.</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You will be presented a question, context used by the AI system to generate the answer and an AI generated answer to the question.</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In the input, the question will begin with ###Question, the context will begin with ###Context while the AI generated answer will begin with ###Answer.</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0" sz="8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Evaluation criteria:</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The task is to judge the extent to which the metric is followed by the answer.</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1 - The metric is not followed at all</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2 - The metric is followed only to a limited extent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3 - The metric is followed to a good extent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4 - The metric is followed mostly</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5 - The metric is followed completely</a:t>
            </a:r>
            <a:endParaRPr b="0" sz="800">
              <a:solidFill>
                <a:srgbClr val="A31515"/>
              </a:solidFill>
              <a:highlight>
                <a:srgbClr val="FFFFFF"/>
              </a:highlight>
              <a:latin typeface="Courier New"/>
              <a:ea typeface="Courier New"/>
              <a:cs typeface="Courier New"/>
              <a:sym typeface="Courier New"/>
            </a:endParaRPr>
          </a:p>
        </p:txBody>
      </p:sp>
      <p:sp>
        <p:nvSpPr>
          <p:cNvPr id="468" name="Google Shape;468;g3cdbb33ee7c_0_281"/>
          <p:cNvSpPr txBox="1"/>
          <p:nvPr>
            <p:ph type="title"/>
          </p:nvPr>
        </p:nvSpPr>
        <p:spPr>
          <a:xfrm>
            <a:off x="4521900" y="1923975"/>
            <a:ext cx="4494000" cy="2898300"/>
          </a:xfrm>
          <a:prstGeom prst="rect">
            <a:avLst/>
          </a:prstGeom>
          <a:noFill/>
          <a:ln>
            <a:noFill/>
          </a:ln>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Metric:</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Relevance measures how well the answer addresses the main aspects of the question, based on the context.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Consider whether all and only the important aspects are contained in the answer when evaluating relevance.</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0" sz="800">
              <a:solidFill>
                <a:srgbClr val="000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800">
                <a:solidFill>
                  <a:srgbClr val="A31515"/>
                </a:solidFill>
                <a:highlight>
                  <a:srgbClr val="FFFFFF"/>
                </a:highlight>
                <a:latin typeface="Courier New"/>
                <a:ea typeface="Courier New"/>
                <a:cs typeface="Courier New"/>
                <a:sym typeface="Courier New"/>
              </a:rPr>
              <a:t>Instructions:</a:t>
            </a:r>
            <a:endParaRPr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1. First write down the steps that are needed to evaluate the context as per the metric.</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2. Give a step-by-step explanation if the context adheres to the metric considering the question as the input.</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3. Next, evaluate the extent to which the metric is followed.</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4. Use the previous information to rate the context using the evaluaton criteria and assign a score.</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0" lang="en" sz="800">
                <a:solidFill>
                  <a:srgbClr val="A31515"/>
                </a:solidFill>
                <a:highlight>
                  <a:srgbClr val="FFFFFF"/>
                </a:highlight>
                <a:latin typeface="Courier New"/>
                <a:ea typeface="Courier New"/>
                <a:cs typeface="Courier New"/>
                <a:sym typeface="Courier New"/>
              </a:rPr>
              <a:t>"""</a:t>
            </a:r>
            <a:endParaRPr b="0" sz="900">
              <a:solidFill>
                <a:srgbClr val="A31515"/>
              </a:solidFill>
              <a:highlight>
                <a:srgbClr val="FFFFFF"/>
              </a:highlight>
              <a:latin typeface="Courier New"/>
              <a:ea typeface="Courier New"/>
              <a:cs typeface="Courier New"/>
              <a:sym typeface="Courier New"/>
            </a:endParaRPr>
          </a:p>
        </p:txBody>
      </p:sp>
      <p:sp>
        <p:nvSpPr>
          <p:cNvPr id="469" name="Google Shape;469;g3cdbb33ee7c_0_281"/>
          <p:cNvSpPr txBox="1"/>
          <p:nvPr/>
        </p:nvSpPr>
        <p:spPr>
          <a:xfrm>
            <a:off x="381000" y="576575"/>
            <a:ext cx="8356500" cy="43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Nunito"/>
                <a:ea typeface="Nunito"/>
                <a:cs typeface="Nunito"/>
                <a:sym typeface="Nunito"/>
              </a:rPr>
              <a:t>Model is evaluated using </a:t>
            </a:r>
            <a:r>
              <a:rPr lang="en" sz="1200">
                <a:solidFill>
                  <a:schemeClr val="dk2"/>
                </a:solidFill>
                <a:latin typeface="Nunito Medium"/>
                <a:ea typeface="Nunito Medium"/>
                <a:cs typeface="Nunito Medium"/>
                <a:sym typeface="Nunito Medium"/>
              </a:rPr>
              <a:t>“LLM-as-a-judge” on two parameters - </a:t>
            </a:r>
            <a:r>
              <a:rPr lang="en" sz="1200">
                <a:solidFill>
                  <a:schemeClr val="dk2"/>
                </a:solidFill>
                <a:latin typeface="Nunito SemiBold"/>
                <a:ea typeface="Nunito SemiBold"/>
                <a:cs typeface="Nunito SemiBold"/>
                <a:sym typeface="Nunito SemiBold"/>
              </a:rPr>
              <a:t>Retrieval (groundedness) &amp; Generation (relevance)</a:t>
            </a:r>
            <a:endParaRPr sz="1200">
              <a:solidFill>
                <a:schemeClr val="dk2"/>
              </a:solidFill>
              <a:latin typeface="Nunito SemiBold"/>
              <a:ea typeface="Nunito SemiBold"/>
              <a:cs typeface="Nunito SemiBold"/>
              <a:sym typeface="Nunito SemiBold"/>
            </a:endParaRPr>
          </a:p>
        </p:txBody>
      </p:sp>
      <p:sp>
        <p:nvSpPr>
          <p:cNvPr id="470" name="Google Shape;470;g3cdbb33ee7c_0_281"/>
          <p:cNvSpPr txBox="1"/>
          <p:nvPr/>
        </p:nvSpPr>
        <p:spPr>
          <a:xfrm>
            <a:off x="4661600" y="1005840"/>
            <a:ext cx="4114800" cy="914400"/>
          </a:xfrm>
          <a:prstGeom prst="rect">
            <a:avLst/>
          </a:prstGeom>
          <a:solidFill>
            <a:srgbClr val="F9CB9C"/>
          </a:solidFill>
          <a:ln>
            <a:noFill/>
          </a:ln>
        </p:spPr>
        <p:txBody>
          <a:bodyPr anchorCtr="0" anchor="ctr" bIns="91425" lIns="228600" spcFirstLastPara="1" rIns="228600" wrap="square" tIns="91425">
            <a:noAutofit/>
          </a:bodyPr>
          <a:lstStyle/>
          <a:p>
            <a:pPr indent="0" lvl="0" marL="0" marR="0" rtl="0" algn="l">
              <a:lnSpc>
                <a:spcPct val="100000"/>
              </a:lnSpc>
              <a:spcBef>
                <a:spcPts val="0"/>
              </a:spcBef>
              <a:spcAft>
                <a:spcPts val="0"/>
              </a:spcAft>
              <a:buNone/>
            </a:pPr>
            <a:r>
              <a:rPr lang="en" sz="1200">
                <a:solidFill>
                  <a:schemeClr val="dk1"/>
                </a:solidFill>
                <a:latin typeface="Nunito"/>
                <a:ea typeface="Nunito"/>
                <a:cs typeface="Nunito"/>
                <a:sym typeface="Nunito"/>
              </a:rPr>
              <a:t>Relevance prompt = </a:t>
            </a:r>
            <a:endParaRPr sz="1200">
              <a:solidFill>
                <a:schemeClr val="dk1"/>
              </a:solidFill>
              <a:latin typeface="Nunito"/>
              <a:ea typeface="Nunito"/>
              <a:cs typeface="Nunito"/>
              <a:sym typeface="Nunito"/>
            </a:endParaRPr>
          </a:p>
          <a:p>
            <a:pPr indent="0" lvl="0" marL="0" marR="0" rtl="0" algn="l">
              <a:lnSpc>
                <a:spcPct val="100000"/>
              </a:lnSpc>
              <a:spcBef>
                <a:spcPts val="0"/>
              </a:spcBef>
              <a:spcAft>
                <a:spcPts val="0"/>
              </a:spcAft>
              <a:buNone/>
            </a:pPr>
            <a:r>
              <a:rPr lang="en" sz="1200">
                <a:solidFill>
                  <a:schemeClr val="dk1"/>
                </a:solidFill>
                <a:latin typeface="Nunito"/>
                <a:ea typeface="Nunito"/>
                <a:cs typeface="Nunito"/>
                <a:sym typeface="Nunito"/>
              </a:rPr>
              <a:t>             Task + Information   + Input format   </a:t>
            </a:r>
            <a:endParaRPr sz="1200">
              <a:solidFill>
                <a:schemeClr val="dk1"/>
              </a:solidFill>
              <a:latin typeface="Nunito"/>
              <a:ea typeface="Nunito"/>
              <a:cs typeface="Nunito"/>
              <a:sym typeface="Nunito"/>
            </a:endParaRPr>
          </a:p>
          <a:p>
            <a:pPr indent="0" lvl="0" marL="0" marR="0" rtl="0" algn="l">
              <a:lnSpc>
                <a:spcPct val="100000"/>
              </a:lnSpc>
              <a:spcBef>
                <a:spcPts val="0"/>
              </a:spcBef>
              <a:spcAft>
                <a:spcPts val="0"/>
              </a:spcAft>
              <a:buNone/>
            </a:pPr>
            <a:r>
              <a:rPr lang="en" sz="1200">
                <a:solidFill>
                  <a:schemeClr val="dk1"/>
                </a:solidFill>
                <a:latin typeface="Nunito"/>
                <a:ea typeface="Nunito"/>
                <a:cs typeface="Nunito"/>
                <a:sym typeface="Nunito"/>
              </a:rPr>
              <a:t>          + Evaluation Criteria  + Metric  + Instructions</a:t>
            </a:r>
            <a:endParaRPr sz="1200">
              <a:solidFill>
                <a:schemeClr val="dk1"/>
              </a:solidFill>
              <a:latin typeface="Nunito"/>
              <a:ea typeface="Nunito"/>
              <a:cs typeface="Nunito"/>
              <a:sym typeface="Nunito"/>
            </a:endParaRPr>
          </a:p>
        </p:txBody>
      </p:sp>
      <p:sp>
        <p:nvSpPr>
          <p:cNvPr id="471" name="Google Shape;471;g3cdbb33ee7c_0_281"/>
          <p:cNvSpPr txBox="1"/>
          <p:nvPr/>
        </p:nvSpPr>
        <p:spPr>
          <a:xfrm>
            <a:off x="294650" y="1008375"/>
            <a:ext cx="4114800" cy="915600"/>
          </a:xfrm>
          <a:prstGeom prst="rect">
            <a:avLst/>
          </a:prstGeom>
          <a:solidFill>
            <a:srgbClr val="FFE599"/>
          </a:solidFill>
          <a:ln>
            <a:noFill/>
          </a:ln>
        </p:spPr>
        <p:txBody>
          <a:bodyPr anchorCtr="0" anchor="ctr" bIns="91425" lIns="228600" spcFirstLastPara="1" rIns="228600" wrap="square" tIns="91425">
            <a:noAutofit/>
          </a:bodyPr>
          <a:lstStyle/>
          <a:p>
            <a:pPr indent="0" lvl="0" marL="0" rtl="0" algn="l">
              <a:spcBef>
                <a:spcPts val="0"/>
              </a:spcBef>
              <a:spcAft>
                <a:spcPts val="0"/>
              </a:spcAft>
              <a:buNone/>
            </a:pPr>
            <a:r>
              <a:rPr lang="en" sz="1200">
                <a:solidFill>
                  <a:schemeClr val="dk1"/>
                </a:solidFill>
                <a:latin typeface="Nunito"/>
                <a:ea typeface="Nunito"/>
                <a:cs typeface="Nunito"/>
                <a:sym typeface="Nunito"/>
              </a:rPr>
              <a:t>Generation (Relevance): This measures how well the answer actually addressed the user's specific medical worry. This solves the "Fluff" problem.</a:t>
            </a:r>
            <a:endParaRPr sz="1200">
              <a:solidFill>
                <a:srgbClr val="FFFFFF"/>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cdbb33ee7c_0_292"/>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477" name="Google Shape;477;g3cdbb33ee7c_0_292"/>
          <p:cNvSpPr txBox="1"/>
          <p:nvPr>
            <p:ph type="title"/>
          </p:nvPr>
        </p:nvSpPr>
        <p:spPr>
          <a:xfrm>
            <a:off x="234300" y="525650"/>
            <a:ext cx="3908400" cy="2789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Q1) User prompt:</a:t>
            </a:r>
            <a:r>
              <a:rPr b="0" lang="en" sz="1300">
                <a:solidFill>
                  <a:srgbClr val="CC0000"/>
                </a:solidFill>
                <a:latin typeface="Nunito Light"/>
                <a:ea typeface="Nunito Light"/>
                <a:cs typeface="Nunito Light"/>
                <a:sym typeface="Nunito Light"/>
              </a:rPr>
              <a:t>  </a:t>
            </a:r>
            <a:r>
              <a:rPr b="0" lang="en" sz="1050">
                <a:solidFill>
                  <a:srgbClr val="A31515"/>
                </a:solidFill>
                <a:highlight>
                  <a:srgbClr val="FFFFFF"/>
                </a:highlight>
                <a:latin typeface="Courier New"/>
                <a:ea typeface="Courier New"/>
                <a:cs typeface="Courier New"/>
                <a:sym typeface="Courier New"/>
              </a:rPr>
              <a:t>What is the protocol for managing sepsis in a critical care unit?</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System message - refer to prev. Slide </a:t>
            </a:r>
            <a:endParaRPr b="0"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lang="en" sz="950">
                <a:solidFill>
                  <a:srgbClr val="A31515"/>
                </a:solidFill>
                <a:highlight>
                  <a:srgbClr val="FFFFFF"/>
                </a:highlight>
                <a:latin typeface="Courier New"/>
                <a:ea typeface="Courier New"/>
                <a:cs typeface="Courier New"/>
                <a:sym typeface="Courier New"/>
              </a:rPr>
              <a:t>k=3,max_tokens=128,temperature=0,top_p=0.95,top_k=50</a:t>
            </a:r>
            <a:endParaRPr sz="105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b="0" lang="en" sz="1050">
                <a:solidFill>
                  <a:srgbClr val="A31515"/>
                </a:solidFill>
                <a:highlight>
                  <a:srgbClr val="FFFFFF"/>
                </a:highlight>
                <a:latin typeface="Courier New"/>
                <a:ea typeface="Courier New"/>
                <a:cs typeface="Courier New"/>
                <a:sym typeface="Courier New"/>
              </a:rPr>
              <a:t>Answer</a:t>
            </a:r>
            <a:r>
              <a:rPr b="0" lang="en" sz="1300">
                <a:solidFill>
                  <a:srgbClr val="CC0000"/>
                </a:solidFill>
                <a:latin typeface="Nunito Light"/>
                <a:ea typeface="Nunito Light"/>
                <a:cs typeface="Nunito Light"/>
                <a:sym typeface="Nunito Light"/>
              </a:rPr>
              <a:t>:</a:t>
            </a:r>
            <a:r>
              <a:rPr b="0" lang="en" sz="900">
                <a:solidFill>
                  <a:srgbClr val="1F1F1F"/>
                </a:solidFill>
                <a:highlight>
                  <a:srgbClr val="FFFFFF"/>
                </a:highlight>
                <a:latin typeface="Arial"/>
                <a:ea typeface="Arial"/>
                <a:cs typeface="Arial"/>
                <a:sym typeface="Arial"/>
              </a:rPr>
              <a:t> </a:t>
            </a:r>
            <a:endParaRPr b="0" sz="900">
              <a:solidFill>
                <a:srgbClr val="1F1F1F"/>
              </a:solidFill>
              <a:highlight>
                <a:srgbClr val="FFFFFF"/>
              </a:highlight>
              <a:latin typeface="Arial"/>
              <a:ea typeface="Arial"/>
              <a:cs typeface="Arial"/>
              <a:sym typeface="Arial"/>
            </a:endParaRPr>
          </a:p>
          <a:p>
            <a:pPr indent="0" lvl="0" marL="0" rtl="0" algn="l">
              <a:lnSpc>
                <a:spcPct val="115000"/>
              </a:lnSpc>
              <a:spcBef>
                <a:spcPts val="500"/>
              </a:spcBef>
              <a:spcAft>
                <a:spcPts val="500"/>
              </a:spcAft>
              <a:buNone/>
            </a:pPr>
            <a:r>
              <a:rPr b="0" lang="en" sz="900">
                <a:solidFill>
                  <a:srgbClr val="1F1F1F"/>
                </a:solidFill>
                <a:highlight>
                  <a:srgbClr val="FFFFFF"/>
                </a:highlight>
                <a:latin typeface="Arial"/>
                <a:ea typeface="Arial"/>
                <a:cs typeface="Arial"/>
                <a:sym typeface="Arial"/>
              </a:rPr>
              <a:t>"The protocol for managing sepsis in a critical care unit includes administering antibiotics as soon as possible, draining abscesses and excising necrotic tissues, normalizing blood glucose levels, and considering corticosteroid therapy. The specific antibiotic regimen depends on the suspected source and causative organisms. Gentamicin or tobramycin in combination with a 3rd-generation cephalosporin is one recommended option for septic shock of unknown cause. Vancomycin should be added if resistant staphylococci or</a:t>
            </a:r>
            <a:endParaRPr b="0" sz="900">
              <a:solidFill>
                <a:srgbClr val="1F1F1F"/>
              </a:solidFill>
              <a:highlight>
                <a:srgbClr val="FFFFFF"/>
              </a:highlight>
              <a:latin typeface="Arial"/>
              <a:ea typeface="Arial"/>
              <a:cs typeface="Arial"/>
              <a:sym typeface="Arial"/>
            </a:endParaRPr>
          </a:p>
        </p:txBody>
      </p:sp>
      <p:sp>
        <p:nvSpPr>
          <p:cNvPr id="478" name="Google Shape;478;g3cdbb33ee7c_0_292"/>
          <p:cNvSpPr txBox="1"/>
          <p:nvPr>
            <p:ph type="title"/>
          </p:nvPr>
        </p:nvSpPr>
        <p:spPr>
          <a:xfrm>
            <a:off x="358800" y="3454550"/>
            <a:ext cx="8214000" cy="1266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RAG system </a:t>
            </a:r>
            <a:r>
              <a:rPr b="0" lang="en" sz="1100">
                <a:solidFill>
                  <a:srgbClr val="A31515"/>
                </a:solidFill>
                <a:highlight>
                  <a:schemeClr val="lt1"/>
                </a:highlight>
                <a:latin typeface="Nunito Light"/>
                <a:ea typeface="Nunito Light"/>
                <a:cs typeface="Nunito Light"/>
                <a:sym typeface="Nunito Light"/>
              </a:rPr>
              <a:t>successfully</a:t>
            </a:r>
            <a:r>
              <a:rPr b="0" lang="en" sz="1100">
                <a:solidFill>
                  <a:srgbClr val="A31515"/>
                </a:solidFill>
                <a:highlight>
                  <a:schemeClr val="lt1"/>
                </a:highlight>
                <a:latin typeface="Nunito Light"/>
                <a:ea typeface="Nunito Light"/>
                <a:cs typeface="Nunito Light"/>
                <a:sym typeface="Nunito Light"/>
              </a:rPr>
              <a:t> retrieved the information directly from medical manual and included recommendations such as gentamicin or tobramycin.</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LLM-as-a-Judge followed the evaluation instructions, but failed to provide score.</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output truncation problem persists - both in LLM output and evaluation output.</a:t>
            </a:r>
            <a:endParaRPr b="0" sz="1100">
              <a:solidFill>
                <a:srgbClr val="A31515"/>
              </a:solidFill>
              <a:highlight>
                <a:schemeClr val="lt1"/>
              </a:highlight>
              <a:latin typeface="Nunito Light"/>
              <a:ea typeface="Nunito Light"/>
              <a:cs typeface="Nunito Light"/>
              <a:sym typeface="Nunito Light"/>
            </a:endParaRPr>
          </a:p>
        </p:txBody>
      </p:sp>
      <p:sp>
        <p:nvSpPr>
          <p:cNvPr id="479" name="Google Shape;479;g3cdbb33ee7c_0_292"/>
          <p:cNvSpPr txBox="1"/>
          <p:nvPr>
            <p:ph type="title"/>
          </p:nvPr>
        </p:nvSpPr>
        <p:spPr>
          <a:xfrm>
            <a:off x="4371350" y="385850"/>
            <a:ext cx="4532100" cy="3068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Steps to evaluate the answer:</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1. Identify the key information in the context related to managing sepsis in a critical care unit.</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2. Determine if the AI generated answer is derived only from the information presented in the context.</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3. Evaluate the extent to which the metric is followed.</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Explanation:</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The context provides detailed information about the management of critically ill patients, including the importance of preventing infection and the protocols for investigating alarms.</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 Steps to evaluate the context as per the relevance metric:</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1. Identify the main aspects of the question, which are managing sepsis in a critical care unit and the protocols involved.</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2. Search for information related to sepsis management in the context.</a:t>
            </a:r>
            <a:endParaRPr b="0" sz="900">
              <a:solidFill>
                <a:srgbClr val="1F1F1F"/>
              </a:solidFill>
              <a:highlight>
                <a:srgbClr val="FFFFFF"/>
              </a:highlight>
              <a:latin typeface="Arial"/>
              <a:ea typeface="Arial"/>
              <a:cs typeface="Arial"/>
              <a:sym typeface="Arial"/>
            </a:endParaRPr>
          </a:p>
          <a:p>
            <a:pPr indent="0" lvl="0" marL="0" rtl="0" algn="l">
              <a:lnSpc>
                <a:spcPct val="100000"/>
              </a:lnSpc>
              <a:spcBef>
                <a:spcPts val="500"/>
              </a:spcBef>
              <a:spcAft>
                <a:spcPts val="0"/>
              </a:spcAft>
              <a:buNone/>
            </a:pPr>
            <a:r>
              <a:rPr b="0" lang="en" sz="900">
                <a:solidFill>
                  <a:srgbClr val="1F1F1F"/>
                </a:solidFill>
                <a:highlight>
                  <a:srgbClr val="FFFFFF"/>
                </a:highlight>
                <a:latin typeface="Arial"/>
                <a:ea typeface="Arial"/>
                <a:cs typeface="Arial"/>
                <a:sym typeface="Arial"/>
              </a:rPr>
              <a:t>3. Determine if all important aspects of sepsis management are present in</a:t>
            </a:r>
            <a:endParaRPr b="0" sz="800">
              <a:solidFill>
                <a:srgbClr val="000000"/>
              </a:solidFill>
              <a:latin typeface="Courier New"/>
              <a:ea typeface="Courier New"/>
              <a:cs typeface="Courier New"/>
              <a:sym typeface="Courier New"/>
            </a:endParaRPr>
          </a:p>
          <a:p>
            <a:pPr indent="0" lvl="0" marL="0" rtl="0" algn="l">
              <a:lnSpc>
                <a:spcPct val="100000"/>
              </a:lnSpc>
              <a:spcBef>
                <a:spcPts val="500"/>
              </a:spcBef>
              <a:spcAft>
                <a:spcPts val="500"/>
              </a:spcAft>
              <a:buNone/>
            </a:pPr>
            <a:r>
              <a:t/>
            </a:r>
            <a:endParaRPr b="0" sz="800">
              <a:solidFill>
                <a:srgbClr val="A31515"/>
              </a:solidFill>
              <a:highlight>
                <a:srgbClr val="FFFFFF"/>
              </a:highlight>
              <a:latin typeface="Courier New"/>
              <a:ea typeface="Courier New"/>
              <a:cs typeface="Courier New"/>
              <a:sym typeface="Courier New"/>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3cdbb33ee7c_0_301"/>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485" name="Google Shape;485;g3cdbb33ee7c_0_301"/>
          <p:cNvSpPr txBox="1"/>
          <p:nvPr>
            <p:ph type="title"/>
          </p:nvPr>
        </p:nvSpPr>
        <p:spPr>
          <a:xfrm>
            <a:off x="234300" y="525650"/>
            <a:ext cx="2346300" cy="292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800">
                <a:solidFill>
                  <a:srgbClr val="A31515"/>
                </a:solidFill>
                <a:highlight>
                  <a:srgbClr val="FFFFFF"/>
                </a:highlight>
                <a:latin typeface="Courier New"/>
                <a:ea typeface="Courier New"/>
                <a:cs typeface="Courier New"/>
                <a:sym typeface="Courier New"/>
              </a:rPr>
              <a:t>Q2) User prompt:</a:t>
            </a:r>
            <a:r>
              <a:rPr b="0" lang="en" sz="800">
                <a:solidFill>
                  <a:srgbClr val="CC0000"/>
                </a:solidFill>
                <a:latin typeface="Nunito Light"/>
                <a:ea typeface="Nunito Light"/>
                <a:cs typeface="Nunito Light"/>
                <a:sym typeface="Nunito Light"/>
              </a:rPr>
              <a:t>  </a:t>
            </a:r>
            <a:r>
              <a:rPr b="0" lang="en" sz="800">
                <a:solidFill>
                  <a:srgbClr val="A31515"/>
                </a:solidFill>
                <a:highlight>
                  <a:srgbClr val="FFFFFF"/>
                </a:highlight>
                <a:latin typeface="Courier New"/>
                <a:ea typeface="Courier New"/>
                <a:cs typeface="Courier New"/>
                <a:sym typeface="Courier New"/>
              </a:rPr>
              <a:t>What are the common symptoms for appendicitis, and can it be cured via medicine? If not, what surgical procedure should be followed to treat it?"</a:t>
            </a:r>
            <a:endParaRPr b="0" sz="80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lang="en" sz="800">
                <a:solidFill>
                  <a:srgbClr val="A31515"/>
                </a:solidFill>
                <a:highlight>
                  <a:srgbClr val="FFFFFF"/>
                </a:highlight>
                <a:latin typeface="Courier New"/>
                <a:ea typeface="Courier New"/>
                <a:cs typeface="Courier New"/>
                <a:sym typeface="Courier New"/>
              </a:rPr>
              <a:t>k=3,max_tokens=128,temperature=0,top_p=0.95,top_k=50</a:t>
            </a:r>
            <a:endParaRPr sz="8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b="0" lang="en" sz="800">
                <a:solidFill>
                  <a:srgbClr val="1F1F1F"/>
                </a:solidFill>
                <a:highlight>
                  <a:srgbClr val="FFFFFF"/>
                </a:highlight>
                <a:latin typeface="Arial"/>
                <a:ea typeface="Arial"/>
                <a:cs typeface="Arial"/>
                <a:sym typeface="Arial"/>
              </a:rPr>
              <a:t>This is a sample summary for the user query</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110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Appendicitis is characterized by abdominal pain, anorexia, and abdominal tenderness.</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Diagnosis of appendicitis is clinical but can be supplemented by CT or ultrasound.</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Without surgery or antibiotics, mortality from appendicitis is over 50%.</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Early surgical intervention (appendectomy) results in a low mortality rate and rapid recovery.</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If the appendix ruptures or an abscess or peritonitis forms, the</a:t>
            </a:r>
            <a:endParaRPr b="0" sz="800">
              <a:solidFill>
                <a:srgbClr val="A31515"/>
              </a:solidFill>
              <a:highlight>
                <a:srgbClr val="FFFFFF"/>
              </a:highlight>
              <a:latin typeface="Courier New"/>
              <a:ea typeface="Courier New"/>
              <a:cs typeface="Courier New"/>
              <a:sym typeface="Courier New"/>
            </a:endParaRPr>
          </a:p>
        </p:txBody>
      </p:sp>
      <p:sp>
        <p:nvSpPr>
          <p:cNvPr id="486" name="Google Shape;486;g3cdbb33ee7c_0_301"/>
          <p:cNvSpPr txBox="1"/>
          <p:nvPr>
            <p:ph type="title"/>
          </p:nvPr>
        </p:nvSpPr>
        <p:spPr>
          <a:xfrm>
            <a:off x="358800" y="3454550"/>
            <a:ext cx="8214000" cy="150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Judge gave a perfect score 5 for groundedness confirming the system is retrieving all information from the given context.</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Relevance score is 4, indicating that RAG system directly answered the user question.</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Unlike </a:t>
            </a:r>
            <a:r>
              <a:rPr b="0" lang="en" sz="1100">
                <a:solidFill>
                  <a:srgbClr val="A31515"/>
                </a:solidFill>
                <a:highlight>
                  <a:schemeClr val="lt1"/>
                </a:highlight>
                <a:latin typeface="Nunito Light"/>
                <a:ea typeface="Nunito Light"/>
                <a:cs typeface="Nunito Light"/>
                <a:sym typeface="Nunito Light"/>
              </a:rPr>
              <a:t>Question 1</a:t>
            </a:r>
            <a:r>
              <a:rPr b="0" lang="en" sz="1100">
                <a:solidFill>
                  <a:srgbClr val="A31515"/>
                </a:solidFill>
                <a:highlight>
                  <a:schemeClr val="lt1"/>
                </a:highlight>
                <a:latin typeface="Nunito Light"/>
                <a:ea typeface="Nunito Light"/>
                <a:cs typeface="Nunito Light"/>
                <a:sym typeface="Nunito Light"/>
              </a:rPr>
              <a:t>, this time Judge followed all instructions and provided scores indicating the RAG system is capable of providing professional grade answers.</a:t>
            </a:r>
            <a:endParaRPr b="0" sz="1100">
              <a:solidFill>
                <a:srgbClr val="A31515"/>
              </a:solidFill>
              <a:highlight>
                <a:schemeClr val="lt1"/>
              </a:highlight>
              <a:latin typeface="Nunito Light"/>
              <a:ea typeface="Nunito Light"/>
              <a:cs typeface="Nunito Light"/>
              <a:sym typeface="Nunito Light"/>
            </a:endParaRPr>
          </a:p>
        </p:txBody>
      </p:sp>
      <p:sp>
        <p:nvSpPr>
          <p:cNvPr id="487" name="Google Shape;487;g3cdbb33ee7c_0_301"/>
          <p:cNvSpPr txBox="1"/>
          <p:nvPr>
            <p:ph type="title"/>
          </p:nvPr>
        </p:nvSpPr>
        <p:spPr>
          <a:xfrm>
            <a:off x="2745750" y="385850"/>
            <a:ext cx="6068100" cy="332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 Steps to evaluate the answer:</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1. Identify the key information in the context related to appendicitis and its treatment.</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2. Determine if the AI generated answer includes only the information derived from the context.</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3. Check if the answer mentions the symptoms of appendicitis correctly and if it states that surgery is required for treatment.</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4. Ensure that the answer does not include any additional or incorrect information.</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Explanation: The AI generated answer adheres to the metric as it only includes the information derived from the context. The answer mentions the symptoms of appendicitis (abdominal pain, anorexia, and abdominal tenderness) correctly and states that surgery is required for treatment. There is no additional or incorrect information in the answer.</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Evaluation: The metric is followed completely.</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Rating: Based on the evaluation criteria, I would rate the answer as a 5 (The metric is followed completely).</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 Steps to evaluate the context as per the relevance metric:</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1. Identify the main aspects of the question: common symptoms for appendicitis and whether it can be cured via medicine or if surgery is necessary.</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2. Determine if the context provides information on these main aspects.</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3. Check if all important aspects are contained in the context and only irrelevant information is excluded.</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The context adheres to the metric considering the question as follows:</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1. The context mentions abdominal pain, anorexia, and abdominal tenderness as common symptoms for appendicitis.</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2. It states that appendicitis cannot be cured with medicine alone and requires surgical removal (appendectomy) for treatment.</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3. The context also provides additional information about the different types of appendectomies and when antibiotics may be necessary, which is relevant to the question.</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4. There is no irrelevant information in the context that detracts from the main aspects of the question.</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The metric is followed mostly as all important aspects are contained in the context and only relevant information is provided.</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Based on the evaluation criteria:</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1 - The metric is not followed at all</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2 - The metric is followed only to a limited extent</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3 - The metric is followed to a good extent</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4 - The metric is followed mostly</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5 - The metric is followed completely</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Arial"/>
              <a:ea typeface="Arial"/>
              <a:cs typeface="Arial"/>
              <a:sym typeface="Arial"/>
            </a:endParaRPr>
          </a:p>
          <a:p>
            <a:pPr indent="0" lvl="0" marL="0" rtl="0" algn="l">
              <a:lnSpc>
                <a:spcPct val="100000"/>
              </a:lnSpc>
              <a:spcBef>
                <a:spcPts val="0"/>
              </a:spcBef>
              <a:spcAft>
                <a:spcPts val="0"/>
              </a:spcAft>
              <a:buNone/>
            </a:pPr>
            <a:r>
              <a:rPr b="0" lang="en" sz="600">
                <a:solidFill>
                  <a:srgbClr val="1F1F1F"/>
                </a:solidFill>
                <a:highlight>
                  <a:srgbClr val="FFFFFF"/>
                </a:highlight>
                <a:latin typeface="Arial"/>
                <a:ea typeface="Arial"/>
                <a:cs typeface="Arial"/>
                <a:sym typeface="Arial"/>
              </a:rPr>
              <a:t>I would rate the context as a 4, following mostly, since it provides all necessary information for answering the question and excludes irrelevant details.</a:t>
            </a:r>
            <a:endParaRPr b="0" sz="600">
              <a:solidFill>
                <a:srgbClr val="1F1F1F"/>
              </a:solidFill>
              <a:highlight>
                <a:srgbClr val="FFFFFF"/>
              </a:highlight>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cdbb33ee7c_0_309"/>
          <p:cNvSpPr txBox="1"/>
          <p:nvPr>
            <p:ph type="title"/>
          </p:nvPr>
        </p:nvSpPr>
        <p:spPr>
          <a:xfrm>
            <a:off x="2343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493" name="Google Shape;493;g3cdbb33ee7c_0_309"/>
          <p:cNvSpPr txBox="1"/>
          <p:nvPr>
            <p:ph type="title"/>
          </p:nvPr>
        </p:nvSpPr>
        <p:spPr>
          <a:xfrm>
            <a:off x="234300" y="525650"/>
            <a:ext cx="3438600" cy="292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900">
                <a:solidFill>
                  <a:srgbClr val="A31515"/>
                </a:solidFill>
                <a:highlight>
                  <a:srgbClr val="FFFFFF"/>
                </a:highlight>
                <a:latin typeface="Courier New"/>
                <a:ea typeface="Courier New"/>
                <a:cs typeface="Courier New"/>
                <a:sym typeface="Courier New"/>
              </a:rPr>
              <a:t>Q3) User prompt:</a:t>
            </a:r>
            <a:r>
              <a:rPr b="0" lang="en" sz="900">
                <a:solidFill>
                  <a:srgbClr val="CC0000"/>
                </a:solidFill>
                <a:latin typeface="Nunito Light"/>
                <a:ea typeface="Nunito Light"/>
                <a:cs typeface="Nunito Light"/>
                <a:sym typeface="Nunito Light"/>
              </a:rPr>
              <a:t>  </a:t>
            </a:r>
            <a:r>
              <a:rPr b="0" lang="en" sz="900">
                <a:solidFill>
                  <a:srgbClr val="A31515"/>
                </a:solidFill>
                <a:highlight>
                  <a:srgbClr val="FFFFFF"/>
                </a:highlight>
                <a:latin typeface="Courier New"/>
                <a:ea typeface="Courier New"/>
                <a:cs typeface="Courier New"/>
                <a:sym typeface="Courier New"/>
              </a:rPr>
              <a:t>What are the effective treatments or solutions for addressing sudden patchy hair loss, commonly seen as localized bald spots on the scalp, and what could be the possible causes behind it?"</a:t>
            </a:r>
            <a:endParaRPr b="0" sz="900">
              <a:solidFill>
                <a:srgbClr val="A31515"/>
              </a:solidFill>
              <a:highlight>
                <a:srgbClr val="FFFFFF"/>
              </a:highlight>
              <a:latin typeface="Courier New"/>
              <a:ea typeface="Courier New"/>
              <a:cs typeface="Courier New"/>
              <a:sym typeface="Courier New"/>
            </a:endParaRPr>
          </a:p>
          <a:p>
            <a:pPr indent="0" lvl="0" marL="0" marR="0" rtl="0" algn="l">
              <a:lnSpc>
                <a:spcPct val="115000"/>
              </a:lnSpc>
              <a:spcBef>
                <a:spcPts val="500"/>
              </a:spcBef>
              <a:spcAft>
                <a:spcPts val="0"/>
              </a:spcAft>
              <a:buNone/>
            </a:pPr>
            <a:r>
              <a:rPr lang="en" sz="900">
                <a:solidFill>
                  <a:srgbClr val="A31515"/>
                </a:solidFill>
                <a:highlight>
                  <a:srgbClr val="FFFFFF"/>
                </a:highlight>
                <a:latin typeface="Courier New"/>
                <a:ea typeface="Courier New"/>
                <a:cs typeface="Courier New"/>
                <a:sym typeface="Courier New"/>
              </a:rPr>
              <a:t>k=3,max_tokens=128,temperature=0,top_p=0.95,top_k=50, </a:t>
            </a:r>
            <a:r>
              <a:rPr b="0" lang="en" sz="900">
                <a:solidFill>
                  <a:srgbClr val="A31515"/>
                </a:solidFill>
                <a:highlight>
                  <a:srgbClr val="FFFFFF"/>
                </a:highlight>
                <a:latin typeface="Courier New"/>
                <a:ea typeface="Courier New"/>
                <a:cs typeface="Courier New"/>
                <a:sym typeface="Courier New"/>
              </a:rPr>
              <a:t>Answer</a:t>
            </a:r>
            <a:r>
              <a:rPr b="0" lang="en" sz="900">
                <a:solidFill>
                  <a:srgbClr val="CC0000"/>
                </a:solidFill>
                <a:latin typeface="Nunito Light"/>
                <a:ea typeface="Nunito Light"/>
                <a:cs typeface="Nunito Light"/>
                <a:sym typeface="Nunito Light"/>
              </a:rPr>
              <a:t>:</a:t>
            </a:r>
            <a:r>
              <a:rPr b="0" lang="en" sz="900">
                <a:solidFill>
                  <a:srgbClr val="1F1F1F"/>
                </a:solidFill>
                <a:highlight>
                  <a:schemeClr val="lt1"/>
                </a:highlight>
                <a:latin typeface="Arial"/>
                <a:ea typeface="Arial"/>
                <a:cs typeface="Arial"/>
                <a:sym typeface="Arial"/>
              </a:rPr>
              <a:t> </a:t>
            </a:r>
            <a:endParaRPr b="0" sz="900">
              <a:solidFill>
                <a:srgbClr val="1F1F1F"/>
              </a:solidFill>
              <a:highlight>
                <a:schemeClr val="lt1"/>
              </a:highlight>
              <a:latin typeface="Arial"/>
              <a:ea typeface="Arial"/>
              <a:cs typeface="Arial"/>
              <a:sym typeface="Arial"/>
            </a:endParaRPr>
          </a:p>
          <a:p>
            <a:pPr indent="0" lvl="0" marL="0" rtl="0" algn="l">
              <a:lnSpc>
                <a:spcPct val="115000"/>
              </a:lnSpc>
              <a:spcBef>
                <a:spcPts val="1100"/>
              </a:spcBef>
              <a:spcAft>
                <a:spcPts val="1100"/>
              </a:spcAft>
              <a:buNone/>
            </a:pPr>
            <a:r>
              <a:rPr b="0" lang="en" sz="900">
                <a:solidFill>
                  <a:srgbClr val="1F1F1F"/>
                </a:solidFill>
                <a:highlight>
                  <a:srgbClr val="FFFFFF"/>
                </a:highlight>
                <a:latin typeface="Arial"/>
                <a:ea typeface="Arial"/>
                <a:cs typeface="Arial"/>
                <a:sym typeface="Arial"/>
              </a:rPr>
              <a:t>Alopecia areata: This is a common autoimmune disorder that affects genetically susceptible individuals exposed to unclear environmental triggers. The most frequent treatments for alopecia areata include topical, intralesional, or systemic corticosteroids, topical minoxidil, topical anthralin, topical immunotherapy (diphencyprone or squaric acid dibutylester), or psoralen plus ultraviolet A (PUVA). The efficacy of these treatments varies and may take several months to show results.</a:t>
            </a:r>
            <a:endParaRPr b="0" sz="900">
              <a:solidFill>
                <a:srgbClr val="1F1F1F"/>
              </a:solidFill>
              <a:highlight>
                <a:srgbClr val="FFFFFF"/>
              </a:highlight>
              <a:latin typeface="Arial"/>
              <a:ea typeface="Arial"/>
              <a:cs typeface="Arial"/>
              <a:sym typeface="Arial"/>
            </a:endParaRPr>
          </a:p>
        </p:txBody>
      </p:sp>
      <p:sp>
        <p:nvSpPr>
          <p:cNvPr id="494" name="Google Shape;494;g3cdbb33ee7c_0_309"/>
          <p:cNvSpPr txBox="1"/>
          <p:nvPr>
            <p:ph type="title"/>
          </p:nvPr>
        </p:nvSpPr>
        <p:spPr>
          <a:xfrm>
            <a:off x="358800" y="3454550"/>
            <a:ext cx="8214000" cy="150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rgbClr val="FFFFFF"/>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rgbClr val="FFFFFF"/>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RAG system is able to retrieve correct clinical data for Alopecia areata.</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However the evaluation </a:t>
            </a:r>
            <a:r>
              <a:rPr b="0" lang="en" sz="1100">
                <a:solidFill>
                  <a:srgbClr val="A31515"/>
                </a:solidFill>
                <a:highlight>
                  <a:schemeClr val="lt1"/>
                </a:highlight>
                <a:latin typeface="Nunito Light"/>
                <a:ea typeface="Nunito Light"/>
                <a:cs typeface="Nunito Light"/>
                <a:sym typeface="Nunito Light"/>
              </a:rPr>
              <a:t>did not follow all instructions, fail to score and the response seems to be truncated.</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This inconsistency in the model performance persist and need further analysis and fine tuning.</a:t>
            </a:r>
            <a:endParaRPr b="0" sz="1100">
              <a:solidFill>
                <a:srgbClr val="A31515"/>
              </a:solidFill>
              <a:highlight>
                <a:schemeClr val="lt1"/>
              </a:highlight>
              <a:latin typeface="Nunito Light"/>
              <a:ea typeface="Nunito Light"/>
              <a:cs typeface="Nunito Light"/>
              <a:sym typeface="Nunito Light"/>
            </a:endParaRPr>
          </a:p>
        </p:txBody>
      </p:sp>
      <p:sp>
        <p:nvSpPr>
          <p:cNvPr id="495" name="Google Shape;495;g3cdbb33ee7c_0_309"/>
          <p:cNvSpPr txBox="1"/>
          <p:nvPr>
            <p:ph type="title"/>
          </p:nvPr>
        </p:nvSpPr>
        <p:spPr>
          <a:xfrm>
            <a:off x="4079250" y="385850"/>
            <a:ext cx="4734600" cy="332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 Steps to evaluate the answer:</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1. Identify the information related to treatments or solutions for sudden patchy hair loss from the context.</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2. Compare the AI generated answer with the identified information to check if the answer is derived only from the context.</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3. Evaluate the extent to which the metric is followed.</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Explanation:</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The AI generated answer mentions topical corticosteroids, immunotherapy, minoxidil, oral corticosteroids, and surgical options as effective treatments for sudden patchy hair loss</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 Steps to evaluate the context as per the relevance metric:</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1. Identify the main aspects of the question: Effective treatments or solutions for addressing sudden patchy hair loss and possible causes behind it.</a:t>
            </a:r>
            <a:endParaRPr b="0" sz="900">
              <a:solidFill>
                <a:srgbClr val="1F1F1F"/>
              </a:solidFill>
              <a:latin typeface="Courier New"/>
              <a:ea typeface="Courier New"/>
              <a:cs typeface="Courier New"/>
              <a:sym typeface="Courier New"/>
            </a:endParaRPr>
          </a:p>
          <a:p>
            <a:pPr indent="0" lvl="0" marL="0" rtl="0" algn="l">
              <a:lnSpc>
                <a:spcPct val="100000"/>
              </a:lnSpc>
              <a:spcBef>
                <a:spcPts val="0"/>
              </a:spcBef>
              <a:spcAft>
                <a:spcPts val="0"/>
              </a:spcAft>
              <a:buNone/>
            </a:pPr>
            <a:r>
              <a:rPr b="0" lang="en" sz="900">
                <a:solidFill>
                  <a:srgbClr val="1F1F1F"/>
                </a:solidFill>
                <a:latin typeface="Courier New"/>
                <a:ea typeface="Courier New"/>
                <a:cs typeface="Courier New"/>
                <a:sym typeface="Courier New"/>
              </a:rPr>
              <a:t>2. Determine if all important aspects are covered in the context: The context mentions various treatments for alopecia areata, which is a type of sudden patchy hair loss. It also discusses possible causes</a:t>
            </a:r>
            <a:endParaRPr b="0" sz="900">
              <a:solidFill>
                <a:srgbClr val="1F1F1F"/>
              </a:solidFill>
              <a:latin typeface="Courier New"/>
              <a:ea typeface="Courier New"/>
              <a:cs typeface="Courier New"/>
              <a:sym typeface="Courier New"/>
            </a:endParaRPr>
          </a:p>
          <a:p>
            <a:pPr indent="0" lvl="0" marL="50800" marR="12700" rtl="0" algn="l">
              <a:lnSpc>
                <a:spcPct val="115000"/>
              </a:lnSpc>
              <a:spcBef>
                <a:spcPts val="0"/>
              </a:spcBef>
              <a:spcAft>
                <a:spcPts val="0"/>
              </a:spcAft>
              <a:buNone/>
            </a:pPr>
            <a:r>
              <a:t/>
            </a:r>
            <a:endParaRPr b="0" sz="900">
              <a:solidFill>
                <a:srgbClr val="000000"/>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b="0" sz="900">
              <a:solidFill>
                <a:srgbClr val="000000"/>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900">
              <a:solidFill>
                <a:srgbClr val="1F1F1F"/>
              </a:solidFill>
              <a:highlight>
                <a:srgbClr val="FFFFFF"/>
              </a:highlight>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cdbb33ee7c_0_317"/>
          <p:cNvSpPr txBox="1"/>
          <p:nvPr>
            <p:ph type="title"/>
          </p:nvPr>
        </p:nvSpPr>
        <p:spPr>
          <a:xfrm>
            <a:off x="946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501" name="Google Shape;501;g3cdbb33ee7c_0_317"/>
          <p:cNvSpPr txBox="1"/>
          <p:nvPr>
            <p:ph type="title"/>
          </p:nvPr>
        </p:nvSpPr>
        <p:spPr>
          <a:xfrm>
            <a:off x="234300" y="525650"/>
            <a:ext cx="2892600" cy="292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800">
                <a:solidFill>
                  <a:srgbClr val="A31515"/>
                </a:solidFill>
                <a:highlight>
                  <a:srgbClr val="FFFFFF"/>
                </a:highlight>
                <a:latin typeface="Courier New"/>
                <a:ea typeface="Courier New"/>
                <a:cs typeface="Courier New"/>
                <a:sym typeface="Courier New"/>
              </a:rPr>
              <a:t>Q4) User prompt:</a:t>
            </a:r>
            <a:r>
              <a:rPr b="0" lang="en" sz="800">
                <a:solidFill>
                  <a:srgbClr val="CC0000"/>
                </a:solidFill>
                <a:latin typeface="Nunito Light"/>
                <a:ea typeface="Nunito Light"/>
                <a:cs typeface="Nunito Light"/>
                <a:sym typeface="Nunito Light"/>
              </a:rPr>
              <a:t>  </a:t>
            </a:r>
            <a:r>
              <a:rPr b="0" lang="en" sz="800">
                <a:solidFill>
                  <a:srgbClr val="A31515"/>
                </a:solidFill>
                <a:highlight>
                  <a:srgbClr val="FFFFFF"/>
                </a:highlight>
                <a:latin typeface="Courier New"/>
                <a:ea typeface="Courier New"/>
                <a:cs typeface="Courier New"/>
                <a:sym typeface="Courier New"/>
              </a:rPr>
              <a:t>What treatments are recommended for a person who has sustained a physical injury to brain tissue, resulting in temporary or permanent impairment of brain function?"</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800">
                <a:solidFill>
                  <a:srgbClr val="A31515"/>
                </a:solidFill>
                <a:highlight>
                  <a:srgbClr val="FFFFFF"/>
                </a:highlight>
                <a:latin typeface="Courier New"/>
                <a:ea typeface="Courier New"/>
                <a:cs typeface="Courier New"/>
                <a:sym typeface="Courier New"/>
              </a:rPr>
              <a:t>k=3,max_tokens=128,temperature=0,top_p=0.95,top_k=50, </a:t>
            </a:r>
            <a:r>
              <a:rPr b="0" lang="en" sz="800">
                <a:solidFill>
                  <a:srgbClr val="A31515"/>
                </a:solidFill>
                <a:highlight>
                  <a:srgbClr val="FFFFFF"/>
                </a:highlight>
                <a:latin typeface="Courier New"/>
                <a:ea typeface="Courier New"/>
                <a:cs typeface="Courier New"/>
                <a:sym typeface="Courier New"/>
              </a:rPr>
              <a:t>Answer</a:t>
            </a:r>
            <a:r>
              <a:rPr b="0" lang="en" sz="800">
                <a:solidFill>
                  <a:srgbClr val="CC0000"/>
                </a:solidFill>
                <a:latin typeface="Nunito Light"/>
                <a:ea typeface="Nunito Light"/>
                <a:cs typeface="Nunito Light"/>
                <a:sym typeface="Nunito Light"/>
              </a:rPr>
              <a:t>:</a:t>
            </a:r>
            <a:r>
              <a:rPr b="0" lang="en" sz="800">
                <a:solidFill>
                  <a:srgbClr val="1F1F1F"/>
                </a:solidFill>
                <a:highlight>
                  <a:schemeClr val="lt1"/>
                </a:highlight>
                <a:latin typeface="Arial"/>
                <a:ea typeface="Arial"/>
                <a:cs typeface="Arial"/>
                <a:sym typeface="Arial"/>
              </a:rPr>
              <a:t> </a:t>
            </a:r>
            <a:endParaRPr b="0" sz="800">
              <a:solidFill>
                <a:srgbClr val="1F1F1F"/>
              </a:solidFill>
              <a:highlight>
                <a:schemeClr val="lt1"/>
              </a:highlight>
              <a:latin typeface="Arial"/>
              <a:ea typeface="Arial"/>
              <a:cs typeface="Arial"/>
              <a:sym typeface="Arial"/>
            </a:endParaRPr>
          </a:p>
          <a:p>
            <a:pPr indent="0" lvl="0" marL="0" rtl="0" algn="l">
              <a:lnSpc>
                <a:spcPct val="115000"/>
              </a:lnSpc>
              <a:spcBef>
                <a:spcPts val="500"/>
              </a:spcBef>
              <a:spcAft>
                <a:spcPts val="0"/>
              </a:spcAft>
              <a:buNone/>
            </a:pPr>
            <a:r>
              <a:rPr b="0" lang="en" sz="800">
                <a:solidFill>
                  <a:srgbClr val="1F1F1F"/>
                </a:solidFill>
                <a:highlight>
                  <a:srgbClr val="FFFFFF"/>
                </a:highlight>
                <a:latin typeface="Arial"/>
                <a:ea typeface="Arial"/>
                <a:cs typeface="Arial"/>
                <a:sym typeface="Arial"/>
              </a:rPr>
              <a:t>This is a sample summary for the user query</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110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Supportive care: Preventing systemic complications due to immobilization, providing good nutrition, and preventing pressure ulcers.</a:t>
            </a:r>
            <a:endParaRPr b="0" sz="800">
              <a:solidFill>
                <a:srgbClr val="1F1F1F"/>
              </a:solidFill>
              <a:highlight>
                <a:srgbClr val="FFFFFF"/>
              </a:highlight>
              <a:latin typeface="Arial"/>
              <a:ea typeface="Arial"/>
              <a:cs typeface="Arial"/>
              <a:sym typeface="Arial"/>
            </a:endParaRPr>
          </a:p>
          <a:p>
            <a:pPr indent="-96520" lvl="0" marL="9144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Treatment for seizures: If the person has significant structural injury (large contusions or hematomas, brain laceration, depressed skull fracture) or a Glasgow Coma Scale score of &lt; 10, drugs are given to prevent seizures during the first week after injury. These drugs reduce the risk of seizures but do not prevent permanent posttraumatic epilepsy months or years later. They should be stopped after one week unless seizures</a:t>
            </a:r>
            <a:endParaRPr b="0" sz="800">
              <a:solidFill>
                <a:srgbClr val="A31515"/>
              </a:solidFill>
              <a:highlight>
                <a:srgbClr val="FFFFFF"/>
              </a:highlight>
              <a:latin typeface="Courier New"/>
              <a:ea typeface="Courier New"/>
              <a:cs typeface="Courier New"/>
              <a:sym typeface="Courier New"/>
            </a:endParaRPr>
          </a:p>
        </p:txBody>
      </p:sp>
      <p:sp>
        <p:nvSpPr>
          <p:cNvPr id="502" name="Google Shape;502;g3cdbb33ee7c_0_317"/>
          <p:cNvSpPr txBox="1"/>
          <p:nvPr>
            <p:ph type="title"/>
          </p:nvPr>
        </p:nvSpPr>
        <p:spPr>
          <a:xfrm>
            <a:off x="358800" y="3454550"/>
            <a:ext cx="8214000" cy="15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chemeClr val="lt1"/>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chemeClr val="lt1"/>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system followed all instructions and Judge gave a perfect score 5 for groundedness confirming the system is retrieving all information from the given context. </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Relevance score is 4, indicating that RAG system directly answered the user question.</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results are promising, shows the RAG system’s potential and capable of providing professional answers with fine tuning.</a:t>
            </a:r>
            <a:endParaRPr b="0" sz="1300">
              <a:solidFill>
                <a:srgbClr val="CC0000"/>
              </a:solidFill>
              <a:latin typeface="Nunito Light"/>
              <a:ea typeface="Nunito Light"/>
              <a:cs typeface="Nunito Light"/>
              <a:sym typeface="Nunito Light"/>
            </a:endParaRPr>
          </a:p>
        </p:txBody>
      </p:sp>
      <p:sp>
        <p:nvSpPr>
          <p:cNvPr id="503" name="Google Shape;503;g3cdbb33ee7c_0_317"/>
          <p:cNvSpPr txBox="1"/>
          <p:nvPr>
            <p:ph type="title"/>
          </p:nvPr>
        </p:nvSpPr>
        <p:spPr>
          <a:xfrm>
            <a:off x="3126900" y="385850"/>
            <a:ext cx="5814000" cy="332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Steps to evaluate the answer:</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1. Identify the information in the context related to treatments for traumatic brain injury (TBI).</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2. Determine if the AI generated answer includes only the treatments mentioned in the context.</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3. Evaluate the extent to which the answer adheres to the metric of being derived solely from the context.</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Explanation:</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The AI generated answer includes several treatments for TBI, such as supportive care, initial treatment, and medications for seizure prevention and long-term treatment. These treatments are all mentioned in the context provided. Therefore, the answer is derived entirely from the information presented in the context.</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Rating:</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Based on the evaluation criteria, I would rate this answer as a 5 because it follows the metric completely by deriving all of its information solely from the context.</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 Steps to evaluate context as per relevance metric:</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1. Identify the main aspects of the question: treatments for a person with brain injury.</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2. Determine if the context discusses these aspects: supportive care, initial treatment, and long-term treatment.</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3. Check if all important aspects are contained in the answer: yes, as the context covers preventive measures, initial medical intervention, and long-term management of seizures and complications.</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The context adheres to the relevance metric considering the question as the input because it discusses all the main aspects of the question (treatments for a person with brain injury) in detail. The context covers supportive care, initial treatment, and long-term treatment options, ensuring that all important aspects are addressed.</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Rating:</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1 - Not followed at all: 0</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2 - Followed only to a limited extent: 0</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3 - Followed to a good extent: 1</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4 - Followed mostly: 1</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5 - Followed completely: 1</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6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600">
                <a:solidFill>
                  <a:srgbClr val="1F1F1F"/>
                </a:solidFill>
                <a:highlight>
                  <a:srgbClr val="FFFFFF"/>
                </a:highlight>
                <a:latin typeface="Courier New"/>
                <a:ea typeface="Courier New"/>
                <a:cs typeface="Courier New"/>
                <a:sym typeface="Courier New"/>
              </a:rPr>
              <a:t>Based on the evaluation criteria, I would rate the context as a 4 (followed mostly</a:t>
            </a:r>
            <a:endParaRPr b="0" sz="600">
              <a:solidFill>
                <a:srgbClr val="1F1F1F"/>
              </a:solidFill>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cdbb33ee7c_0_325"/>
          <p:cNvSpPr txBox="1"/>
          <p:nvPr>
            <p:ph type="title"/>
          </p:nvPr>
        </p:nvSpPr>
        <p:spPr>
          <a:xfrm>
            <a:off x="946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a:t>
            </a:r>
            <a:endParaRPr b="0" sz="2300">
              <a:solidFill>
                <a:srgbClr val="0E39A9"/>
              </a:solidFill>
              <a:latin typeface="Nunito Light"/>
              <a:ea typeface="Nunito Light"/>
              <a:cs typeface="Nunito Light"/>
              <a:sym typeface="Nunito Light"/>
            </a:endParaRPr>
          </a:p>
        </p:txBody>
      </p:sp>
      <p:sp>
        <p:nvSpPr>
          <p:cNvPr id="509" name="Google Shape;509;g3cdbb33ee7c_0_325"/>
          <p:cNvSpPr txBox="1"/>
          <p:nvPr>
            <p:ph type="title"/>
          </p:nvPr>
        </p:nvSpPr>
        <p:spPr>
          <a:xfrm>
            <a:off x="234300" y="525650"/>
            <a:ext cx="2740200" cy="2928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500"/>
              </a:spcBef>
              <a:spcAft>
                <a:spcPts val="0"/>
              </a:spcAft>
              <a:buNone/>
            </a:pPr>
            <a:r>
              <a:rPr b="0" lang="en" sz="800">
                <a:solidFill>
                  <a:srgbClr val="A31515"/>
                </a:solidFill>
                <a:highlight>
                  <a:srgbClr val="FFFFFF"/>
                </a:highlight>
                <a:latin typeface="Courier New"/>
                <a:ea typeface="Courier New"/>
                <a:cs typeface="Courier New"/>
                <a:sym typeface="Courier New"/>
              </a:rPr>
              <a:t>Q5) User prompt:</a:t>
            </a:r>
            <a:r>
              <a:rPr b="0" lang="en" sz="800">
                <a:solidFill>
                  <a:srgbClr val="CC0000"/>
                </a:solidFill>
                <a:latin typeface="Nunito Light"/>
                <a:ea typeface="Nunito Light"/>
                <a:cs typeface="Nunito Light"/>
                <a:sym typeface="Nunito Light"/>
              </a:rPr>
              <a:t>  </a:t>
            </a:r>
            <a:r>
              <a:rPr b="0" lang="en" sz="800">
                <a:solidFill>
                  <a:srgbClr val="A31515"/>
                </a:solidFill>
                <a:highlight>
                  <a:srgbClr val="FFFFFF"/>
                </a:highlight>
                <a:latin typeface="Courier New"/>
                <a:ea typeface="Courier New"/>
                <a:cs typeface="Courier New"/>
                <a:sym typeface="Courier New"/>
              </a:rPr>
              <a:t>What are the necessary precautions and treatment steps for a person who has fractured their leg during a hiking trip, and what should be considered for their care and recovery?"</a:t>
            </a:r>
            <a:endParaRPr b="0" sz="800">
              <a:solidFill>
                <a:srgbClr val="A31515"/>
              </a:solidFill>
              <a:highlight>
                <a:srgbClr val="FFFFFF"/>
              </a:highlight>
              <a:latin typeface="Courier New"/>
              <a:ea typeface="Courier New"/>
              <a:cs typeface="Courier New"/>
              <a:sym typeface="Courier New"/>
            </a:endParaRPr>
          </a:p>
          <a:p>
            <a:pPr indent="0" lvl="0" marL="0" rtl="0" algn="l">
              <a:lnSpc>
                <a:spcPct val="115000"/>
              </a:lnSpc>
              <a:spcBef>
                <a:spcPts val="500"/>
              </a:spcBef>
              <a:spcAft>
                <a:spcPts val="0"/>
              </a:spcAft>
              <a:buNone/>
            </a:pPr>
            <a:r>
              <a:rPr lang="en" sz="800">
                <a:solidFill>
                  <a:srgbClr val="A31515"/>
                </a:solidFill>
                <a:highlight>
                  <a:srgbClr val="FFFFFF"/>
                </a:highlight>
                <a:latin typeface="Courier New"/>
                <a:ea typeface="Courier New"/>
                <a:cs typeface="Courier New"/>
                <a:sym typeface="Courier New"/>
              </a:rPr>
              <a:t>k=3,max_tokens=128,temperature=0,top_p=0.95,top_k=50, </a:t>
            </a:r>
            <a:r>
              <a:rPr b="0" lang="en" sz="800">
                <a:solidFill>
                  <a:srgbClr val="A31515"/>
                </a:solidFill>
                <a:highlight>
                  <a:srgbClr val="FFFFFF"/>
                </a:highlight>
                <a:latin typeface="Courier New"/>
                <a:ea typeface="Courier New"/>
                <a:cs typeface="Courier New"/>
                <a:sym typeface="Courier New"/>
              </a:rPr>
              <a:t>Answer</a:t>
            </a:r>
            <a:r>
              <a:rPr b="0" lang="en" sz="800">
                <a:solidFill>
                  <a:srgbClr val="CC0000"/>
                </a:solidFill>
                <a:latin typeface="Nunito Light"/>
                <a:ea typeface="Nunito Light"/>
                <a:cs typeface="Nunito Light"/>
                <a:sym typeface="Nunito Light"/>
              </a:rPr>
              <a:t>:</a:t>
            </a:r>
            <a:r>
              <a:rPr b="0" lang="en" sz="800">
                <a:solidFill>
                  <a:srgbClr val="1F1F1F"/>
                </a:solidFill>
                <a:highlight>
                  <a:schemeClr val="lt1"/>
                </a:highlight>
                <a:latin typeface="Arial"/>
                <a:ea typeface="Arial"/>
                <a:cs typeface="Arial"/>
                <a:sym typeface="Arial"/>
              </a:rPr>
              <a:t> </a:t>
            </a:r>
            <a:endParaRPr b="0" sz="800">
              <a:solidFill>
                <a:srgbClr val="A31515"/>
              </a:solidFill>
              <a:highlight>
                <a:srgbClr val="FFFFFF"/>
              </a:highlight>
              <a:latin typeface="Courier New"/>
              <a:ea typeface="Courier New"/>
              <a:cs typeface="Courier New"/>
              <a:sym typeface="Courier New"/>
            </a:endParaRPr>
          </a:p>
          <a:p>
            <a:pPr indent="-279400" lvl="0" marL="457200" rtl="0" algn="l">
              <a:lnSpc>
                <a:spcPct val="115000"/>
              </a:lnSpc>
              <a:spcBef>
                <a:spcPts val="110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The injured limb should be elevated above heart level for first 2 days to minimize swelling and allow gravity to help drain edema fluid.</a:t>
            </a:r>
            <a:endParaRPr b="0" sz="800">
              <a:solidFill>
                <a:srgbClr val="1F1F1F"/>
              </a:solidFill>
              <a:highlight>
                <a:srgbClr val="FFFFFF"/>
              </a:highlight>
              <a:latin typeface="Arial"/>
              <a:ea typeface="Arial"/>
              <a:cs typeface="Arial"/>
              <a:sym typeface="Arial"/>
            </a:endParaRPr>
          </a:p>
          <a:p>
            <a:pPr indent="-279400" lvl="0" marL="45720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After 48 hours, periodic application of warmth (heating pad) for 15 to 20 minutes may relieve pain and speed healing.</a:t>
            </a:r>
            <a:endParaRPr b="0" sz="800">
              <a:solidFill>
                <a:srgbClr val="1F1F1F"/>
              </a:solidFill>
              <a:highlight>
                <a:srgbClr val="FFFFFF"/>
              </a:highlight>
              <a:latin typeface="Arial"/>
              <a:ea typeface="Arial"/>
              <a:cs typeface="Arial"/>
              <a:sym typeface="Arial"/>
            </a:endParaRPr>
          </a:p>
          <a:p>
            <a:pPr indent="-279400" lvl="0" marL="45720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Immobilization is necessary to prevent further injury and facilitate healing. Joints proximal and distal to the injury should be immobilized.</a:t>
            </a:r>
            <a:endParaRPr b="0" sz="800">
              <a:solidFill>
                <a:srgbClr val="1F1F1F"/>
              </a:solidFill>
              <a:highlight>
                <a:srgbClr val="FFFFFF"/>
              </a:highlight>
              <a:latin typeface="Arial"/>
              <a:ea typeface="Arial"/>
              <a:cs typeface="Arial"/>
              <a:sym typeface="Arial"/>
            </a:endParaRPr>
          </a:p>
          <a:p>
            <a:pPr indent="-279400" lvl="0" marL="457200" rtl="0" algn="l">
              <a:lnSpc>
                <a:spcPct val="115000"/>
              </a:lnSpc>
              <a:spcBef>
                <a:spcPts val="0"/>
              </a:spcBef>
              <a:spcAft>
                <a:spcPts val="0"/>
              </a:spcAft>
              <a:buClr>
                <a:srgbClr val="1F1F1F"/>
              </a:buClr>
              <a:buSzPts val="800"/>
              <a:buFont typeface="Arial"/>
              <a:buAutoNum type="arabicPeriod"/>
            </a:pPr>
            <a:r>
              <a:rPr b="0" lang="en" sz="800">
                <a:solidFill>
                  <a:srgbClr val="1F1F1F"/>
                </a:solidFill>
                <a:highlight>
                  <a:srgbClr val="FFFFFF"/>
                </a:highlight>
                <a:latin typeface="Arial"/>
                <a:ea typeface="Arial"/>
                <a:cs typeface="Arial"/>
                <a:sym typeface="Arial"/>
              </a:rPr>
              <a:t>A cast or splint can be used for immobilization, depending on the severity of the injury and the</a:t>
            </a:r>
            <a:endParaRPr b="0" sz="800">
              <a:solidFill>
                <a:srgbClr val="A31515"/>
              </a:solidFill>
              <a:highlight>
                <a:srgbClr val="FFFFFF"/>
              </a:highlight>
              <a:latin typeface="Courier New"/>
              <a:ea typeface="Courier New"/>
              <a:cs typeface="Courier New"/>
              <a:sym typeface="Courier New"/>
            </a:endParaRPr>
          </a:p>
        </p:txBody>
      </p:sp>
      <p:sp>
        <p:nvSpPr>
          <p:cNvPr id="510" name="Google Shape;510;g3cdbb33ee7c_0_325"/>
          <p:cNvSpPr txBox="1"/>
          <p:nvPr>
            <p:ph type="title"/>
          </p:nvPr>
        </p:nvSpPr>
        <p:spPr>
          <a:xfrm>
            <a:off x="358800" y="3454550"/>
            <a:ext cx="8214000" cy="150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0" lang="en" sz="1300">
                <a:solidFill>
                  <a:srgbClr val="CC0000"/>
                </a:solidFill>
                <a:latin typeface="Nunito Light"/>
                <a:ea typeface="Nunito Light"/>
                <a:cs typeface="Nunito Light"/>
                <a:sym typeface="Nunito Light"/>
              </a:rPr>
              <a:t>Observation:</a:t>
            </a:r>
            <a:r>
              <a:rPr b="0" lang="en" sz="700">
                <a:solidFill>
                  <a:srgbClr val="CC0000"/>
                </a:solidFill>
                <a:latin typeface="Nunito Light"/>
                <a:ea typeface="Nunito Light"/>
                <a:cs typeface="Nunito Light"/>
                <a:sym typeface="Nunito Light"/>
              </a:rPr>
              <a:t> </a:t>
            </a:r>
            <a:endParaRPr b="0" sz="700">
              <a:solidFill>
                <a:srgbClr val="A31515"/>
              </a:solidFill>
              <a:highlight>
                <a:schemeClr val="lt1"/>
              </a:highlight>
              <a:latin typeface="Nunito Light"/>
              <a:ea typeface="Nunito Light"/>
              <a:cs typeface="Nunito Light"/>
              <a:sym typeface="Nunito Light"/>
            </a:endParaRPr>
          </a:p>
          <a:p>
            <a:pPr indent="0" lvl="0" marL="0" rtl="0" algn="l">
              <a:spcBef>
                <a:spcPts val="0"/>
              </a:spcBef>
              <a:spcAft>
                <a:spcPts val="0"/>
              </a:spcAft>
              <a:buNone/>
            </a:pPr>
            <a:r>
              <a:t/>
            </a:r>
            <a:endParaRPr b="0" sz="700">
              <a:solidFill>
                <a:srgbClr val="A31515"/>
              </a:solidFill>
              <a:highlight>
                <a:schemeClr val="lt1"/>
              </a:highlight>
              <a:latin typeface="Courier New"/>
              <a:ea typeface="Courier New"/>
              <a:cs typeface="Courier New"/>
              <a:sym typeface="Courier New"/>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a:t>
            </a:r>
            <a:r>
              <a:rPr b="0" lang="en" sz="1100">
                <a:solidFill>
                  <a:srgbClr val="A31515"/>
                </a:solidFill>
                <a:highlight>
                  <a:schemeClr val="lt1"/>
                </a:highlight>
                <a:latin typeface="Nunito Light"/>
                <a:ea typeface="Nunito Light"/>
                <a:cs typeface="Nunito Light"/>
                <a:sym typeface="Nunito Light"/>
              </a:rPr>
              <a:t>he system followed all instructions and Judge gave a perfect score 5 for groundedness confirming the system is retrieving all information from the given context. </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judge has correctly identified the steps and provided a good explanation for relevance metric, but failed to provide score and the response seems to be truncated.</a:t>
            </a:r>
            <a:endParaRPr b="0" sz="1100">
              <a:solidFill>
                <a:srgbClr val="A31515"/>
              </a:solidFill>
              <a:highlight>
                <a:schemeClr val="lt1"/>
              </a:highlight>
              <a:latin typeface="Nunito Light"/>
              <a:ea typeface="Nunito Light"/>
              <a:cs typeface="Nunito Light"/>
              <a:sym typeface="Nunito Light"/>
            </a:endParaRPr>
          </a:p>
          <a:p>
            <a:pPr indent="-298450" lvl="0" marL="457200" rtl="0" algn="l">
              <a:lnSpc>
                <a:spcPct val="115000"/>
              </a:lnSpc>
              <a:spcBef>
                <a:spcPts val="0"/>
              </a:spcBef>
              <a:spcAft>
                <a:spcPts val="0"/>
              </a:spcAft>
              <a:buClr>
                <a:srgbClr val="A31515"/>
              </a:buClr>
              <a:buSzPts val="1100"/>
              <a:buFont typeface="Nunito Light"/>
              <a:buChar char="●"/>
            </a:pPr>
            <a:r>
              <a:rPr b="0" lang="en" sz="1100">
                <a:solidFill>
                  <a:srgbClr val="A31515"/>
                </a:solidFill>
                <a:highlight>
                  <a:schemeClr val="lt1"/>
                </a:highlight>
                <a:latin typeface="Nunito Light"/>
                <a:ea typeface="Nunito Light"/>
                <a:cs typeface="Nunito Light"/>
                <a:sym typeface="Nunito Light"/>
              </a:rPr>
              <a:t>The RAG system is capable of providing context based answers, may require additional fine tuning to </a:t>
            </a:r>
            <a:r>
              <a:rPr b="0" lang="en" sz="1100">
                <a:solidFill>
                  <a:srgbClr val="A31515"/>
                </a:solidFill>
                <a:highlight>
                  <a:schemeClr val="lt1"/>
                </a:highlight>
                <a:latin typeface="Nunito Light"/>
                <a:ea typeface="Nunito Light"/>
                <a:cs typeface="Nunito Light"/>
                <a:sym typeface="Nunito Light"/>
              </a:rPr>
              <a:t>address</a:t>
            </a:r>
            <a:r>
              <a:rPr b="0" lang="en" sz="1100">
                <a:solidFill>
                  <a:srgbClr val="A31515"/>
                </a:solidFill>
                <a:highlight>
                  <a:schemeClr val="lt1"/>
                </a:highlight>
                <a:latin typeface="Nunito Light"/>
                <a:ea typeface="Nunito Light"/>
                <a:cs typeface="Nunito Light"/>
                <a:sym typeface="Nunito Light"/>
              </a:rPr>
              <a:t> some of the issues.</a:t>
            </a:r>
            <a:endParaRPr b="0" sz="1100">
              <a:solidFill>
                <a:srgbClr val="A31515"/>
              </a:solidFill>
              <a:highlight>
                <a:schemeClr val="lt1"/>
              </a:highlight>
              <a:latin typeface="Nunito Light"/>
              <a:ea typeface="Nunito Light"/>
              <a:cs typeface="Nunito Light"/>
              <a:sym typeface="Nunito Light"/>
            </a:endParaRPr>
          </a:p>
        </p:txBody>
      </p:sp>
      <p:sp>
        <p:nvSpPr>
          <p:cNvPr id="511" name="Google Shape;511;g3cdbb33ee7c_0_325"/>
          <p:cNvSpPr txBox="1"/>
          <p:nvPr>
            <p:ph type="title"/>
          </p:nvPr>
        </p:nvSpPr>
        <p:spPr>
          <a:xfrm>
            <a:off x="2974500" y="385850"/>
            <a:ext cx="5966400" cy="3327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Steps to evaluate the answer:</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1. Identify the information in the context related to precautions and treatment steps for a person who has fractured their leg during a hiking trip.</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2. Check if each point in the AI generated answer is derived directly from the information presented in the context.</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Explanation:</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The AI generated answer adheres to the metric as it provides steps that are directly derived from the context. The context discusses various precautions and treatment steps for a person with a fractured leg, such as applying ice after 48 hours, immobilizing the limb using a cast or splint, keeping the cast dry, inspecting the edges and skin around the cast daily, seeking medical care if an odor emanates from within the cast or a fever develops, maintaining good hygiene, and considering early mobilization for fractures that require prolonged immobilization. The AI generated answer includes each of these steps, ensuring that the information is derived solely from the context.</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Rating:</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Based on the evaluation criteria, I would rate the answer as a 5 since it follows</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 Steps to evaluate context as per relevance metric:</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1. Identify the main aspects of the question: necessary precautions, treatment steps, care, and recovery for a person with a fractured leg during hiking.</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2. Read through the context to find information related to the identified aspects.</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3. Evaluate if all important aspects are contained in the answer and if any irrelevant information is present.</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The context adheres to the relevance metric considering the question as follows:</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1. The context provides necessary precautions such as elevating the injured limb, applying warmth after 48 hours, immobilization using a cast or splint, keeping the cast dry, and seeking medical care for signs of infection.</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2. It also mentions treatment steps like periodic application of warmth, immobilization with a cast or splint, and early mobilization for some fractures.</a:t>
            </a:r>
            <a:endParaRPr b="0" sz="700">
              <a:solidFill>
                <a:srgbClr val="1F1F1F"/>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0" lang="en" sz="700">
                <a:solidFill>
                  <a:srgbClr val="1F1F1F"/>
                </a:solidFill>
                <a:highlight>
                  <a:srgbClr val="FFFFFF"/>
                </a:highlight>
                <a:latin typeface="Courier New"/>
                <a:ea typeface="Courier New"/>
                <a:cs typeface="Courier New"/>
                <a:sym typeface="Courier New"/>
              </a:rPr>
              <a:t>3. The context discusses care and recovery aspects such as good hygiene, instructions for patients, complic</a:t>
            </a:r>
            <a:endParaRPr b="0" sz="700">
              <a:solidFill>
                <a:srgbClr val="1F1F1F"/>
              </a:solidFill>
              <a:highlight>
                <a:srgbClr val="FFFFFF"/>
              </a:highlight>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cdbb33ee7c_0_333"/>
          <p:cNvSpPr txBox="1"/>
          <p:nvPr>
            <p:ph type="title"/>
          </p:nvPr>
        </p:nvSpPr>
        <p:spPr>
          <a:xfrm>
            <a:off x="94600" y="90350"/>
            <a:ext cx="7286700" cy="43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200"/>
              <a:buNone/>
            </a:pPr>
            <a:r>
              <a:rPr b="0" lang="en" sz="1700">
                <a:solidFill>
                  <a:srgbClr val="0E39A9"/>
                </a:solidFill>
                <a:latin typeface="Nunito Light"/>
                <a:ea typeface="Nunito Light"/>
                <a:cs typeface="Nunito Light"/>
                <a:sym typeface="Nunito Light"/>
              </a:rPr>
              <a:t>RAG</a:t>
            </a:r>
            <a:r>
              <a:rPr b="0" lang="en" sz="2300">
                <a:solidFill>
                  <a:srgbClr val="0E39A9"/>
                </a:solidFill>
                <a:latin typeface="Nunito Light"/>
                <a:ea typeface="Nunito Light"/>
                <a:cs typeface="Nunito Light"/>
                <a:sym typeface="Nunito Light"/>
              </a:rPr>
              <a:t>: </a:t>
            </a:r>
            <a:r>
              <a:rPr b="0" lang="en" sz="1700">
                <a:solidFill>
                  <a:schemeClr val="lt2"/>
                </a:solidFill>
                <a:latin typeface="Nunito Light"/>
                <a:ea typeface="Nunito Light"/>
                <a:cs typeface="Nunito Light"/>
                <a:sym typeface="Nunito Light"/>
              </a:rPr>
              <a:t>Output Evaluation - Summary</a:t>
            </a:r>
            <a:endParaRPr b="0" sz="2300">
              <a:solidFill>
                <a:srgbClr val="0E39A9"/>
              </a:solidFill>
              <a:latin typeface="Nunito Light"/>
              <a:ea typeface="Nunito Light"/>
              <a:cs typeface="Nunito Light"/>
              <a:sym typeface="Nunito Light"/>
            </a:endParaRPr>
          </a:p>
        </p:txBody>
      </p:sp>
      <p:graphicFrame>
        <p:nvGraphicFramePr>
          <p:cNvPr id="517" name="Google Shape;517;g3cdbb33ee7c_0_333"/>
          <p:cNvGraphicFramePr/>
          <p:nvPr/>
        </p:nvGraphicFramePr>
        <p:xfrm>
          <a:off x="723900" y="755650"/>
          <a:ext cx="3000000" cy="3000000"/>
        </p:xfrm>
        <a:graphic>
          <a:graphicData uri="http://schemas.openxmlformats.org/drawingml/2006/table">
            <a:tbl>
              <a:tblPr>
                <a:noFill/>
                <a:tableStyleId>{A000612D-44B3-4F30-82A5-970832106E2A}</a:tableStyleId>
              </a:tblPr>
              <a:tblGrid>
                <a:gridCol w="1912350"/>
                <a:gridCol w="1630400"/>
                <a:gridCol w="4216950"/>
              </a:tblGrid>
              <a:tr h="381000">
                <a:tc>
                  <a:txBody>
                    <a:bodyPr/>
                    <a:lstStyle/>
                    <a:p>
                      <a:pPr indent="0" lvl="0" marL="0" rtl="0" algn="l">
                        <a:spcBef>
                          <a:spcPts val="0"/>
                        </a:spcBef>
                        <a:spcAft>
                          <a:spcPts val="0"/>
                        </a:spcAft>
                        <a:buNone/>
                      </a:pPr>
                      <a:r>
                        <a:rPr lang="en" sz="1200"/>
                        <a:t>Metric</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Status</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Observation</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200"/>
                        <a:t>Groundedness</a:t>
                      </a:r>
                      <a:endParaRPr b="1"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Excellent </a:t>
                      </a:r>
                      <a:endParaRPr sz="1200"/>
                    </a:p>
                    <a:p>
                      <a:pPr indent="0" lvl="0" marL="0" rtl="0" algn="l">
                        <a:spcBef>
                          <a:spcPts val="0"/>
                        </a:spcBef>
                        <a:spcAft>
                          <a:spcPts val="0"/>
                        </a:spcAft>
                        <a:buNone/>
                      </a:pPr>
                      <a:r>
                        <a:rPr lang="en" sz="1200"/>
                        <a:t>(Avg 4.5/5)*</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The system strictly follows the Merc Manual and doesn’t hallucinate.</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200"/>
                        <a:t>Relevance</a:t>
                      </a:r>
                      <a:endParaRPr b="1"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High </a:t>
                      </a:r>
                      <a:endParaRPr sz="1200"/>
                    </a:p>
                    <a:p>
                      <a:pPr indent="0" lvl="0" marL="0" rtl="0" algn="l">
                        <a:spcBef>
                          <a:spcPts val="0"/>
                        </a:spcBef>
                        <a:spcAft>
                          <a:spcPts val="0"/>
                        </a:spcAft>
                        <a:buNone/>
                      </a:pPr>
                      <a:r>
                        <a:rPr lang="en" sz="1200"/>
                        <a:t>(Avg </a:t>
                      </a:r>
                      <a:r>
                        <a:rPr lang="en" sz="1200"/>
                        <a:t>4/5 )**</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Model provides direct and relevant answers to the user queries indicating the semantic search finds the right medical information.</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200"/>
                        <a:t>Formatting</a:t>
                      </a:r>
                      <a:endParaRPr b="1"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Inconsistent</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Model often ignored the summary instruction, changing the temperature from 0 to 0.5 helped a bit.</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b="1" lang="en" sz="1200"/>
                        <a:t>Completeness</a:t>
                      </a:r>
                      <a:endParaRPr b="1"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Low (Truncation)</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t>Both Model and Judge answers are incomplete and cutoff by the max tokens limit of 128.</a:t>
                      </a:r>
                      <a:endParaRPr sz="1200"/>
                    </a:p>
                  </a:txBody>
                  <a:tcPr marT="91425" marB="91425" marR="182875" marL="18287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18" name="Google Shape;518;g3cdbb33ee7c_0_333"/>
          <p:cNvSpPr txBox="1"/>
          <p:nvPr/>
        </p:nvSpPr>
        <p:spPr>
          <a:xfrm>
            <a:off x="586750" y="3606725"/>
            <a:ext cx="7391400" cy="6654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 Although judge failed to provide a score, the explanation suggests that the information is provided from the context.</a:t>
            </a:r>
            <a:endParaRPr sz="1000">
              <a:solidFill>
                <a:schemeClr val="dk2"/>
              </a:solidFill>
              <a:latin typeface="Nunito"/>
              <a:ea typeface="Nunito"/>
              <a:cs typeface="Nunito"/>
              <a:sym typeface="Nunito"/>
            </a:endParaRPr>
          </a:p>
          <a:p>
            <a:pPr indent="-292100" lvl="0" marL="457200" rtl="0" algn="l">
              <a:spcBef>
                <a:spcPts val="0"/>
              </a:spcBef>
              <a:spcAft>
                <a:spcPts val="0"/>
              </a:spcAft>
              <a:buClr>
                <a:schemeClr val="dk2"/>
              </a:buClr>
              <a:buSzPts val="1000"/>
              <a:buFont typeface="Nunito"/>
              <a:buChar char="●"/>
            </a:pPr>
            <a:r>
              <a:rPr lang="en" sz="1000">
                <a:solidFill>
                  <a:schemeClr val="dk2"/>
                </a:solidFill>
                <a:latin typeface="Nunito"/>
                <a:ea typeface="Nunito"/>
                <a:cs typeface="Nunito"/>
                <a:sym typeface="Nunito"/>
              </a:rPr>
              <a:t>** </a:t>
            </a:r>
            <a:r>
              <a:rPr lang="en" sz="1000">
                <a:solidFill>
                  <a:schemeClr val="dk2"/>
                </a:solidFill>
                <a:latin typeface="Nunito"/>
                <a:ea typeface="Nunito"/>
                <a:cs typeface="Nunito"/>
                <a:sym typeface="Nunito"/>
              </a:rPr>
              <a:t>Similarly</a:t>
            </a:r>
            <a:r>
              <a:rPr lang="en" sz="1000">
                <a:solidFill>
                  <a:schemeClr val="dk2"/>
                </a:solidFill>
                <a:latin typeface="Nunito"/>
                <a:ea typeface="Nunito"/>
                <a:cs typeface="Nunito"/>
                <a:sym typeface="Nunito"/>
              </a:rPr>
              <a:t> for relevance, Judge was able to provide the scores for 2 questions and for remaining the response got truncated possibly indicating the max_tokens limitation. </a:t>
            </a:r>
            <a:endParaRPr sz="1000">
              <a:solidFill>
                <a:schemeClr val="dk2"/>
              </a:solidFill>
              <a:latin typeface="Nunito"/>
              <a:ea typeface="Nunito"/>
              <a:cs typeface="Nunito"/>
              <a:sym typeface="Nuni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0"/>
          <p:cNvSpPr/>
          <p:nvPr/>
        </p:nvSpPr>
        <p:spPr>
          <a:xfrm>
            <a:off x="0" y="3442950"/>
            <a:ext cx="9162600" cy="780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10"/>
          <p:cNvSpPr txBox="1"/>
          <p:nvPr/>
        </p:nvSpPr>
        <p:spPr>
          <a:xfrm>
            <a:off x="32525" y="3526575"/>
            <a:ext cx="4418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chemeClr val="lt1"/>
                </a:solidFill>
                <a:latin typeface="Nunito"/>
                <a:ea typeface="Nunito"/>
                <a:cs typeface="Nunito"/>
                <a:sym typeface="Nunito"/>
              </a:rPr>
              <a:t>APPENDIX</a:t>
            </a:r>
            <a:endParaRPr b="1" i="0" sz="2800" u="none" cap="none" strike="noStrike">
              <a:solidFill>
                <a:schemeClr val="lt1"/>
              </a:solidFill>
              <a:latin typeface="Nunito"/>
              <a:ea typeface="Nunito"/>
              <a:cs typeface="Nunito"/>
              <a:sym typeface="Nuni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1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530" name="Google Shape;530;p11"/>
          <p:cNvSpPr txBox="1"/>
          <p:nvPr/>
        </p:nvSpPr>
        <p:spPr>
          <a:xfrm>
            <a:off x="401950" y="937250"/>
            <a:ext cx="6322800" cy="20319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SzPts val="1200"/>
              <a:buFont typeface="Nunito"/>
              <a:buChar char="●"/>
            </a:pPr>
            <a:r>
              <a:rPr lang="en" sz="1200">
                <a:latin typeface="Nunito"/>
                <a:ea typeface="Nunito"/>
                <a:cs typeface="Nunito"/>
                <a:sym typeface="Nunito"/>
              </a:rPr>
              <a:t>Data comes from </a:t>
            </a:r>
            <a:r>
              <a:rPr lang="en" sz="1200">
                <a:solidFill>
                  <a:srgbClr val="1F1F1F"/>
                </a:solidFill>
                <a:highlight>
                  <a:srgbClr val="FFFFFF"/>
                </a:highlight>
                <a:latin typeface="Nunito"/>
                <a:ea typeface="Nunito"/>
                <a:cs typeface="Nunito"/>
                <a:sym typeface="Nunito"/>
              </a:rPr>
              <a:t>The Merck Manuals, which are medical references published by the American pharmaceutical company Merck &amp; Co., that cover a wide range of medical topics, including disorders, tests, diagnoses, and drugs. The manuals have been published since 1899, when Merck &amp; Co. was still a subsidiary of the German company Merck.</a:t>
            </a:r>
            <a:endParaRPr sz="1200">
              <a:solidFill>
                <a:srgbClr val="1F1F1F"/>
              </a:solidFill>
              <a:highlight>
                <a:srgbClr val="FFFFFF"/>
              </a:highlight>
              <a:latin typeface="Nunito"/>
              <a:ea typeface="Nunito"/>
              <a:cs typeface="Nunito"/>
              <a:sym typeface="Nunito"/>
            </a:endParaRPr>
          </a:p>
          <a:p>
            <a:pPr indent="-304800" lvl="0" marL="457200" marR="0" rtl="0" algn="l">
              <a:lnSpc>
                <a:spcPct val="150000"/>
              </a:lnSpc>
              <a:spcBef>
                <a:spcPts val="0"/>
              </a:spcBef>
              <a:spcAft>
                <a:spcPts val="0"/>
              </a:spcAft>
              <a:buSzPts val="1200"/>
              <a:buFont typeface="Nunito"/>
              <a:buChar char="●"/>
            </a:pPr>
            <a:r>
              <a:rPr lang="en" sz="1200">
                <a:solidFill>
                  <a:srgbClr val="1F1F1F"/>
                </a:solidFill>
                <a:highlight>
                  <a:srgbClr val="FFFFFF"/>
                </a:highlight>
                <a:latin typeface="Nunito"/>
                <a:ea typeface="Nunito"/>
                <a:cs typeface="Nunito"/>
                <a:sym typeface="Nunito"/>
              </a:rPr>
              <a:t>The manual is provided as a PDF with over 4,000 pages divided into 23 sections.</a:t>
            </a:r>
            <a:endParaRPr sz="1200">
              <a:solidFill>
                <a:srgbClr val="1F1F1F"/>
              </a:solidFill>
              <a:highlight>
                <a:srgbClr val="FFFFFF"/>
              </a:highlight>
              <a:latin typeface="Nunito"/>
              <a:ea typeface="Nunito"/>
              <a:cs typeface="Nunito"/>
              <a:sym typeface="Nunito"/>
            </a:endParaRPr>
          </a:p>
          <a:p>
            <a:pPr indent="0" lvl="0" marL="0" marR="0" rtl="0" algn="l">
              <a:lnSpc>
                <a:spcPct val="150000"/>
              </a:lnSpc>
              <a:spcBef>
                <a:spcPts val="0"/>
              </a:spcBef>
              <a:spcAft>
                <a:spcPts val="0"/>
              </a:spcAft>
              <a:buClr>
                <a:srgbClr val="000000"/>
              </a:buClr>
              <a:buSzPts val="1400"/>
              <a:buFont typeface="Arial"/>
              <a:buNone/>
            </a:pPr>
            <a:r>
              <a:t/>
            </a:r>
            <a:endParaRPr sz="1200">
              <a:latin typeface="Nunito"/>
              <a:ea typeface="Nunito"/>
              <a:cs typeface="Nunito"/>
              <a:sym typeface="Nuni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3cdee866afb_0_21"/>
          <p:cNvSpPr txBox="1"/>
          <p:nvPr>
            <p:ph type="title"/>
          </p:nvPr>
        </p:nvSpPr>
        <p:spPr>
          <a:xfrm>
            <a:off x="202550" y="289279"/>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536" name="Google Shape;536;g3cdee866afb_0_21"/>
          <p:cNvSpPr txBox="1"/>
          <p:nvPr/>
        </p:nvSpPr>
        <p:spPr>
          <a:xfrm>
            <a:off x="401950" y="937250"/>
            <a:ext cx="63228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1" lang="en" sz="600">
                <a:solidFill>
                  <a:srgbClr val="1F1F1F"/>
                </a:solidFill>
                <a:highlight>
                  <a:srgbClr val="FFFFFF"/>
                </a:highlight>
                <a:latin typeface="Courier New"/>
                <a:ea typeface="Courier New"/>
                <a:cs typeface="Courier New"/>
                <a:sym typeface="Courier New"/>
              </a:rPr>
              <a:t>Page Number : 3</a:t>
            </a:r>
            <a:endParaRPr b="1"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Table of Contents</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1</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Front    ................................................................................................................................................................................................................</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1</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Cover    .......................................................................................................................................................................................................</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2</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Front Matter    ...........................................................................................................................................................................................</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53</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1 - Nutritional Disorders    ................................................................................................................................................</a:t>
            </a:r>
            <a:r>
              <a:rPr lang="en" sz="600">
                <a:solidFill>
                  <a:srgbClr val="1F1F1F"/>
                </a:solidFill>
                <a:highlight>
                  <a:srgbClr val="FFFFFF"/>
                </a:highlight>
                <a:latin typeface="Courier New"/>
                <a:ea typeface="Courier New"/>
                <a:cs typeface="Courier New"/>
                <a:sym typeface="Courier New"/>
              </a:rPr>
              <a:t>...............</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53</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Chapter 1. Nutrition: General Considerations    .....................................................................................................................</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59</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Chapter 2. Undernutrition    .............................................................................................................................................................</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69</a:t>
            </a:r>
            <a:endParaRPr sz="600">
              <a:solidFill>
                <a:srgbClr val="1F1F1F"/>
              </a:solidFill>
              <a:highlight>
                <a:srgbClr val="FFFFFF"/>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400"/>
              <a:buFont typeface="Arial"/>
              <a:buNone/>
            </a:pPr>
            <a:r>
              <a:rPr lang="en" sz="600">
                <a:solidFill>
                  <a:srgbClr val="1F1F1F"/>
                </a:solidFill>
                <a:highlight>
                  <a:srgbClr val="FFFFFF"/>
                </a:highlight>
                <a:latin typeface="Courier New"/>
                <a:ea typeface="Courier New"/>
                <a:cs typeface="Courier New"/>
                <a:sym typeface="Courier New"/>
              </a:rPr>
              <a:t>Chapter 3. Nutritional Support    </a:t>
            </a:r>
            <a:endParaRPr sz="600">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3cdee866afb_0_27"/>
          <p:cNvSpPr txBox="1"/>
          <p:nvPr>
            <p:ph idx="1" type="body"/>
          </p:nvPr>
        </p:nvSpPr>
        <p:spPr>
          <a:xfrm>
            <a:off x="202550" y="260975"/>
            <a:ext cx="8629800" cy="430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t>Thank you!</a:t>
            </a:r>
            <a:endParaRPr sz="3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3"/>
          <p:cNvSpPr txBox="1"/>
          <p:nvPr>
            <p:ph type="title"/>
          </p:nvPr>
        </p:nvSpPr>
        <p:spPr>
          <a:xfrm>
            <a:off x="70129" y="6703219"/>
            <a:ext cx="15008700" cy="697800"/>
          </a:xfrm>
          <a:prstGeom prst="rect">
            <a:avLst/>
          </a:prstGeom>
          <a:noFill/>
          <a:ln>
            <a:noFill/>
          </a:ln>
        </p:spPr>
        <p:txBody>
          <a:bodyPr anchorCtr="0" anchor="t" bIns="0" lIns="0" spcFirstLastPara="1" rIns="0" wrap="square" tIns="12850">
            <a:noAutofit/>
          </a:bodyPr>
          <a:lstStyle/>
          <a:p>
            <a:pPr indent="0" lvl="0" marL="0" rtl="0" algn="l">
              <a:lnSpc>
                <a:spcPct val="100000"/>
              </a:lnSpc>
              <a:spcBef>
                <a:spcPts val="0"/>
              </a:spcBef>
              <a:spcAft>
                <a:spcPts val="0"/>
              </a:spcAft>
              <a:buSzPts val="2200"/>
              <a:buNone/>
            </a:pPr>
            <a:r>
              <a:t/>
            </a:r>
            <a:endParaRPr/>
          </a:p>
        </p:txBody>
      </p:sp>
      <p:sp>
        <p:nvSpPr>
          <p:cNvPr id="549" name="Google Shape;549;p13"/>
          <p:cNvSpPr txBox="1"/>
          <p:nvPr>
            <p:ph idx="4294967295"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8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